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Hagrid Ultra-Bold" panose="020B0604020202020204" charset="0"/>
      <p:regular r:id="rId23"/>
    </p:embeddedFont>
    <p:embeddedFont>
      <p:font typeface="Roboto Bold" panose="02000000000000000000" pitchFamily="2" charset="0"/>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51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im Islam" userId="89164cc5d5435470" providerId="LiveId" clId="{FC81E373-86B7-4D24-AEBF-F4344180F894}"/>
    <pc:docChg chg="undo custSel addSld delSld modSld modMainMaster">
      <pc:chgData name="Tamim Islam" userId="89164cc5d5435470" providerId="LiveId" clId="{FC81E373-86B7-4D24-AEBF-F4344180F894}" dt="2025-11-23T19:17:46.022" v="27"/>
      <pc:docMkLst>
        <pc:docMk/>
      </pc:docMkLst>
      <pc:sldChg chg="modTransition">
        <pc:chgData name="Tamim Islam" userId="89164cc5d5435470" providerId="LiveId" clId="{FC81E373-86B7-4D24-AEBF-F4344180F894}" dt="2025-11-23T19:17:46.022" v="27"/>
        <pc:sldMkLst>
          <pc:docMk/>
          <pc:sldMk cId="0" sldId="256"/>
        </pc:sldMkLst>
      </pc:sldChg>
      <pc:sldChg chg="modTransition">
        <pc:chgData name="Tamim Islam" userId="89164cc5d5435470" providerId="LiveId" clId="{FC81E373-86B7-4D24-AEBF-F4344180F894}" dt="2025-11-23T19:17:46.022" v="27"/>
        <pc:sldMkLst>
          <pc:docMk/>
          <pc:sldMk cId="0" sldId="257"/>
        </pc:sldMkLst>
      </pc:sldChg>
      <pc:sldChg chg="modTransition">
        <pc:chgData name="Tamim Islam" userId="89164cc5d5435470" providerId="LiveId" clId="{FC81E373-86B7-4D24-AEBF-F4344180F894}" dt="2025-11-23T19:17:46.022" v="27"/>
        <pc:sldMkLst>
          <pc:docMk/>
          <pc:sldMk cId="0" sldId="258"/>
        </pc:sldMkLst>
      </pc:sldChg>
      <pc:sldChg chg="modTransition">
        <pc:chgData name="Tamim Islam" userId="89164cc5d5435470" providerId="LiveId" clId="{FC81E373-86B7-4D24-AEBF-F4344180F894}" dt="2025-11-23T19:17:46.022" v="27"/>
        <pc:sldMkLst>
          <pc:docMk/>
          <pc:sldMk cId="0" sldId="259"/>
        </pc:sldMkLst>
      </pc:sldChg>
      <pc:sldChg chg="modTransition">
        <pc:chgData name="Tamim Islam" userId="89164cc5d5435470" providerId="LiveId" clId="{FC81E373-86B7-4D24-AEBF-F4344180F894}" dt="2025-11-23T19:17:46.022" v="27"/>
        <pc:sldMkLst>
          <pc:docMk/>
          <pc:sldMk cId="0" sldId="260"/>
        </pc:sldMkLst>
      </pc:sldChg>
      <pc:sldChg chg="modTransition">
        <pc:chgData name="Tamim Islam" userId="89164cc5d5435470" providerId="LiveId" clId="{FC81E373-86B7-4D24-AEBF-F4344180F894}" dt="2025-11-23T19:17:46.022" v="27"/>
        <pc:sldMkLst>
          <pc:docMk/>
          <pc:sldMk cId="0" sldId="261"/>
        </pc:sldMkLst>
      </pc:sldChg>
      <pc:sldChg chg="modTransition">
        <pc:chgData name="Tamim Islam" userId="89164cc5d5435470" providerId="LiveId" clId="{FC81E373-86B7-4D24-AEBF-F4344180F894}" dt="2025-11-23T19:17:46.022" v="27"/>
        <pc:sldMkLst>
          <pc:docMk/>
          <pc:sldMk cId="0" sldId="262"/>
        </pc:sldMkLst>
      </pc:sldChg>
      <pc:sldChg chg="modTransition">
        <pc:chgData name="Tamim Islam" userId="89164cc5d5435470" providerId="LiveId" clId="{FC81E373-86B7-4D24-AEBF-F4344180F894}" dt="2025-11-23T19:17:46.022" v="27"/>
        <pc:sldMkLst>
          <pc:docMk/>
          <pc:sldMk cId="0" sldId="263"/>
        </pc:sldMkLst>
      </pc:sldChg>
      <pc:sldChg chg="modSp mod modTransition">
        <pc:chgData name="Tamim Islam" userId="89164cc5d5435470" providerId="LiveId" clId="{FC81E373-86B7-4D24-AEBF-F4344180F894}" dt="2025-11-23T19:17:46.022" v="27"/>
        <pc:sldMkLst>
          <pc:docMk/>
          <pc:sldMk cId="0" sldId="264"/>
        </pc:sldMkLst>
        <pc:spChg chg="mod">
          <ac:chgData name="Tamim Islam" userId="89164cc5d5435470" providerId="LiveId" clId="{FC81E373-86B7-4D24-AEBF-F4344180F894}" dt="2025-11-23T19:12:28.204" v="15" actId="1076"/>
          <ac:spMkLst>
            <pc:docMk/>
            <pc:sldMk cId="0" sldId="264"/>
            <ac:spMk id="3" creationId="{00000000-0000-0000-0000-000000000000}"/>
          </ac:spMkLst>
        </pc:spChg>
        <pc:spChg chg="mod">
          <ac:chgData name="Tamim Islam" userId="89164cc5d5435470" providerId="LiveId" clId="{FC81E373-86B7-4D24-AEBF-F4344180F894}" dt="2025-11-23T19:12:18.317" v="13"/>
          <ac:spMkLst>
            <pc:docMk/>
            <pc:sldMk cId="0" sldId="264"/>
            <ac:spMk id="12" creationId="{00000000-0000-0000-0000-000000000000}"/>
          </ac:spMkLst>
        </pc:spChg>
      </pc:sldChg>
      <pc:sldChg chg="modSp mod modTransition">
        <pc:chgData name="Tamim Islam" userId="89164cc5d5435470" providerId="LiveId" clId="{FC81E373-86B7-4D24-AEBF-F4344180F894}" dt="2025-11-23T19:17:46.022" v="27"/>
        <pc:sldMkLst>
          <pc:docMk/>
          <pc:sldMk cId="0" sldId="265"/>
        </pc:sldMkLst>
        <pc:spChg chg="mod">
          <ac:chgData name="Tamim Islam" userId="89164cc5d5435470" providerId="LiveId" clId="{FC81E373-86B7-4D24-AEBF-F4344180F894}" dt="2025-11-23T18:24:55.975" v="12"/>
          <ac:spMkLst>
            <pc:docMk/>
            <pc:sldMk cId="0" sldId="265"/>
            <ac:spMk id="4" creationId="{00000000-0000-0000-0000-000000000000}"/>
          </ac:spMkLst>
        </pc:spChg>
      </pc:sldChg>
      <pc:sldChg chg="modTransition">
        <pc:chgData name="Tamim Islam" userId="89164cc5d5435470" providerId="LiveId" clId="{FC81E373-86B7-4D24-AEBF-F4344180F894}" dt="2025-11-23T19:17:46.022" v="27"/>
        <pc:sldMkLst>
          <pc:docMk/>
          <pc:sldMk cId="0" sldId="266"/>
        </pc:sldMkLst>
      </pc:sldChg>
      <pc:sldChg chg="modSp mod modTransition">
        <pc:chgData name="Tamim Islam" userId="89164cc5d5435470" providerId="LiveId" clId="{FC81E373-86B7-4D24-AEBF-F4344180F894}" dt="2025-11-23T19:17:46.022" v="27"/>
        <pc:sldMkLst>
          <pc:docMk/>
          <pc:sldMk cId="0" sldId="267"/>
        </pc:sldMkLst>
        <pc:grpChg chg="mod">
          <ac:chgData name="Tamim Islam" userId="89164cc5d5435470" providerId="LiveId" clId="{FC81E373-86B7-4D24-AEBF-F4344180F894}" dt="2025-11-23T19:13:40.762" v="17" actId="1076"/>
          <ac:grpSpMkLst>
            <pc:docMk/>
            <pc:sldMk cId="0" sldId="267"/>
            <ac:grpSpMk id="7" creationId="{00000000-0000-0000-0000-000000000000}"/>
          </ac:grpSpMkLst>
        </pc:grpChg>
      </pc:sldChg>
      <pc:sldChg chg="modTransition">
        <pc:chgData name="Tamim Islam" userId="89164cc5d5435470" providerId="LiveId" clId="{FC81E373-86B7-4D24-AEBF-F4344180F894}" dt="2025-11-23T19:17:46.022" v="27"/>
        <pc:sldMkLst>
          <pc:docMk/>
          <pc:sldMk cId="0" sldId="268"/>
        </pc:sldMkLst>
      </pc:sldChg>
      <pc:sldChg chg="modTransition">
        <pc:chgData name="Tamim Islam" userId="89164cc5d5435470" providerId="LiveId" clId="{FC81E373-86B7-4D24-AEBF-F4344180F894}" dt="2025-11-23T19:17:46.022" v="27"/>
        <pc:sldMkLst>
          <pc:docMk/>
          <pc:sldMk cId="0" sldId="269"/>
        </pc:sldMkLst>
      </pc:sldChg>
      <pc:sldChg chg="modTransition">
        <pc:chgData name="Tamim Islam" userId="89164cc5d5435470" providerId="LiveId" clId="{FC81E373-86B7-4D24-AEBF-F4344180F894}" dt="2025-11-23T19:17:46.022" v="27"/>
        <pc:sldMkLst>
          <pc:docMk/>
          <pc:sldMk cId="0" sldId="270"/>
        </pc:sldMkLst>
      </pc:sldChg>
      <pc:sldChg chg="modSp mod modTransition">
        <pc:chgData name="Tamim Islam" userId="89164cc5d5435470" providerId="LiveId" clId="{FC81E373-86B7-4D24-AEBF-F4344180F894}" dt="2025-11-23T19:17:46.022" v="27"/>
        <pc:sldMkLst>
          <pc:docMk/>
          <pc:sldMk cId="0" sldId="271"/>
        </pc:sldMkLst>
        <pc:spChg chg="mod">
          <ac:chgData name="Tamim Islam" userId="89164cc5d5435470" providerId="LiveId" clId="{FC81E373-86B7-4D24-AEBF-F4344180F894}" dt="2025-11-23T19:16:58.975" v="26" actId="1076"/>
          <ac:spMkLst>
            <pc:docMk/>
            <pc:sldMk cId="0" sldId="271"/>
            <ac:spMk id="4" creationId="{00000000-0000-0000-0000-000000000000}"/>
          </ac:spMkLst>
        </pc:spChg>
        <pc:spChg chg="mod">
          <ac:chgData name="Tamim Islam" userId="89164cc5d5435470" providerId="LiveId" clId="{FC81E373-86B7-4D24-AEBF-F4344180F894}" dt="2025-11-23T19:16:47.379" v="25" actId="1076"/>
          <ac:spMkLst>
            <pc:docMk/>
            <pc:sldMk cId="0" sldId="271"/>
            <ac:spMk id="5" creationId="{00000000-0000-0000-0000-000000000000}"/>
          </ac:spMkLst>
        </pc:spChg>
      </pc:sldChg>
      <pc:sldChg chg="add del setBg">
        <pc:chgData name="Tamim Islam" userId="89164cc5d5435470" providerId="LiveId" clId="{FC81E373-86B7-4D24-AEBF-F4344180F894}" dt="2025-11-23T19:14:49.850" v="20" actId="47"/>
        <pc:sldMkLst>
          <pc:docMk/>
          <pc:sldMk cId="1186491861" sldId="272"/>
        </pc:sldMkLst>
      </pc:sldChg>
      <pc:sldChg chg="add modTransition">
        <pc:chgData name="Tamim Islam" userId="89164cc5d5435470" providerId="LiveId" clId="{FC81E373-86B7-4D24-AEBF-F4344180F894}" dt="2025-11-23T19:17:46.022" v="27"/>
        <pc:sldMkLst>
          <pc:docMk/>
          <pc:sldMk cId="54695947" sldId="273"/>
        </pc:sldMkLst>
      </pc:sldChg>
      <pc:sldMasterChg chg="modTransition modSldLayout">
        <pc:chgData name="Tamim Islam" userId="89164cc5d5435470" providerId="LiveId" clId="{FC81E373-86B7-4D24-AEBF-F4344180F894}" dt="2025-11-23T19:17:46.022" v="27"/>
        <pc:sldMasterMkLst>
          <pc:docMk/>
          <pc:sldMasterMk cId="0" sldId="2147483648"/>
        </pc:sldMasterMkLst>
        <pc:sldLayoutChg chg="modTransition">
          <pc:chgData name="Tamim Islam" userId="89164cc5d5435470" providerId="LiveId" clId="{FC81E373-86B7-4D24-AEBF-F4344180F894}" dt="2025-11-23T19:17:46.022" v="27"/>
          <pc:sldLayoutMkLst>
            <pc:docMk/>
            <pc:sldMasterMk cId="0" sldId="2147483648"/>
            <pc:sldLayoutMk cId="0" sldId="2147483649"/>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0"/>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1"/>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2"/>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3"/>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4"/>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5"/>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6"/>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7"/>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8"/>
          </pc:sldLayoutMkLst>
        </pc:sldLayoutChg>
        <pc:sldLayoutChg chg="modTransition">
          <pc:chgData name="Tamim Islam" userId="89164cc5d5435470" providerId="LiveId" clId="{FC81E373-86B7-4D24-AEBF-F4344180F894}" dt="2025-11-23T19:17:46.022" v="27"/>
          <pc:sldLayoutMkLst>
            <pc:docMk/>
            <pc:sldMasterMk cId="0" sldId="2147483648"/>
            <pc:sldLayoutMk cId="0"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svg"/><Relationship Id="rId7" Type="http://schemas.openxmlformats.org/officeDocument/2006/relationships/image" Target="../media/image22.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svg"/><Relationship Id="rId7" Type="http://schemas.openxmlformats.org/officeDocument/2006/relationships/image" Target="../media/image26.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6.svg"/><Relationship Id="rId10" Type="http://schemas.openxmlformats.org/officeDocument/2006/relationships/image" Target="../media/image29.png"/><Relationship Id="rId4" Type="http://schemas.openxmlformats.org/officeDocument/2006/relationships/image" Target="../media/image5.png"/><Relationship Id="rId9" Type="http://schemas.openxmlformats.org/officeDocument/2006/relationships/image" Target="../media/image28.sv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sv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34.svg"/><Relationship Id="rId15" Type="http://schemas.openxmlformats.org/officeDocument/2006/relationships/image" Target="../media/image2.sv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16.svg"/><Relationship Id="rId3" Type="http://schemas.openxmlformats.org/officeDocument/2006/relationships/image" Target="../media/image6.svg"/><Relationship Id="rId7" Type="http://schemas.openxmlformats.org/officeDocument/2006/relationships/image" Target="../media/image42.sv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28.svg"/><Relationship Id="rId5" Type="http://schemas.openxmlformats.org/officeDocument/2006/relationships/image" Target="../media/image2.svg"/><Relationship Id="rId15" Type="http://schemas.openxmlformats.org/officeDocument/2006/relationships/image" Target="../media/image46.svg"/><Relationship Id="rId10" Type="http://schemas.openxmlformats.org/officeDocument/2006/relationships/image" Target="../media/image27.png"/><Relationship Id="rId4" Type="http://schemas.openxmlformats.org/officeDocument/2006/relationships/image" Target="../media/image1.png"/><Relationship Id="rId9" Type="http://schemas.openxmlformats.org/officeDocument/2006/relationships/image" Target="../media/image44.svg"/><Relationship Id="rId14" Type="http://schemas.openxmlformats.org/officeDocument/2006/relationships/image" Target="../media/image45.png"/></Relationships>
</file>

<file path=ppt/slides/_rels/slide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8.svg"/><Relationship Id="rId3" Type="http://schemas.openxmlformats.org/officeDocument/2006/relationships/image" Target="../media/image6.svg"/><Relationship Id="rId7" Type="http://schemas.openxmlformats.org/officeDocument/2006/relationships/image" Target="../media/image2.svg"/><Relationship Id="rId12"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44.svg"/><Relationship Id="rId5" Type="http://schemas.openxmlformats.org/officeDocument/2006/relationships/image" Target="../media/image48.svg"/><Relationship Id="rId15" Type="http://schemas.openxmlformats.org/officeDocument/2006/relationships/image" Target="../media/image16.svg"/><Relationship Id="rId10" Type="http://schemas.openxmlformats.org/officeDocument/2006/relationships/image" Target="../media/image43.png"/><Relationship Id="rId4" Type="http://schemas.openxmlformats.org/officeDocument/2006/relationships/image" Target="../media/image47.png"/><Relationship Id="rId9" Type="http://schemas.openxmlformats.org/officeDocument/2006/relationships/image" Target="../media/image42.sv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0.svg"/><Relationship Id="rId7" Type="http://schemas.openxmlformats.org/officeDocument/2006/relationships/image" Target="../media/image6.sv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4.svg"/><Relationship Id="rId5" Type="http://schemas.openxmlformats.org/officeDocument/2006/relationships/image" Target="../media/image52.svg"/><Relationship Id="rId10" Type="http://schemas.openxmlformats.org/officeDocument/2006/relationships/image" Target="../media/image3.png"/><Relationship Id="rId4" Type="http://schemas.openxmlformats.org/officeDocument/2006/relationships/image" Target="../media/image51.png"/><Relationship Id="rId9" Type="http://schemas.openxmlformats.org/officeDocument/2006/relationships/image" Target="../media/image20.sv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svg"/><Relationship Id="rId7" Type="http://schemas.openxmlformats.org/officeDocument/2006/relationships/image" Target="../media/image4.sv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56.svg"/></Relationships>
</file>

<file path=ppt/slides/_rels/slide9.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jpeg"/><Relationship Id="rId3" Type="http://schemas.openxmlformats.org/officeDocument/2006/relationships/image" Target="../media/image4.svg"/><Relationship Id="rId7" Type="http://schemas.openxmlformats.org/officeDocument/2006/relationships/image" Target="../media/image22.svg"/><Relationship Id="rId12" Type="http://schemas.openxmlformats.org/officeDocument/2006/relationships/image" Target="../media/image6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60.svg"/><Relationship Id="rId5" Type="http://schemas.openxmlformats.org/officeDocument/2006/relationships/image" Target="../media/image6.svg"/><Relationship Id="rId15" Type="http://schemas.openxmlformats.org/officeDocument/2006/relationships/image" Target="../media/image64.png"/><Relationship Id="rId10" Type="http://schemas.openxmlformats.org/officeDocument/2006/relationships/image" Target="../media/image59.png"/><Relationship Id="rId4" Type="http://schemas.openxmlformats.org/officeDocument/2006/relationships/image" Target="../media/image5.png"/><Relationship Id="rId9" Type="http://schemas.openxmlformats.org/officeDocument/2006/relationships/image" Target="../media/image58.svg"/><Relationship Id="rId14" Type="http://schemas.openxmlformats.org/officeDocument/2006/relationships/image" Target="../media/image63.png"/></Relationships>
</file>

<file path=ppt/slides/_rels/slide1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svg"/><Relationship Id="rId7" Type="http://schemas.openxmlformats.org/officeDocument/2006/relationships/image" Target="../media/image4.sv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56.sv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6.svg"/><Relationship Id="rId7" Type="http://schemas.openxmlformats.org/officeDocument/2006/relationships/image" Target="../media/image6.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s>
</file>

<file path=ppt/slides/_rels/slide1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6.svg"/><Relationship Id="rId7" Type="http://schemas.openxmlformats.org/officeDocument/2006/relationships/image" Target="../media/image6.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6.svg"/><Relationship Id="rId7" Type="http://schemas.openxmlformats.org/officeDocument/2006/relationships/image" Target="../media/image6.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hyperlink" Target="https://medium.com/@santiagobedoa/coding-a-shell-using-c-1ea939f10e7e" TargetMode="External"/><Relationship Id="rId3" Type="http://schemas.openxmlformats.org/officeDocument/2006/relationships/image" Target="../media/image56.svg"/><Relationship Id="rId7" Type="http://schemas.openxmlformats.org/officeDocument/2006/relationships/image" Target="../media/image6.svg"/><Relationship Id="rId12" Type="http://schemas.openxmlformats.org/officeDocument/2006/relationships/hyperlink" Target="https://www.geeksforgeeks.org/linux-unix/how-to-create-a-shell-script-in-linux/" TargetMode="External"/><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 Id="rId14" Type="http://schemas.openxmlformats.org/officeDocument/2006/relationships/hyperlink" Target="https://stackoverflow.com/questions/4772847/creating-a-cli-shell-in-python"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6.svg"/><Relationship Id="rId7" Type="http://schemas.openxmlformats.org/officeDocument/2006/relationships/image" Target="../media/image68.sv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10.svg"/><Relationship Id="rId5" Type="http://schemas.openxmlformats.org/officeDocument/2006/relationships/image" Target="../media/image22.svg"/><Relationship Id="rId10" Type="http://schemas.openxmlformats.org/officeDocument/2006/relationships/image" Target="../media/image9.png"/><Relationship Id="rId4" Type="http://schemas.openxmlformats.org/officeDocument/2006/relationships/image" Target="../media/image21.png"/><Relationship Id="rId9"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s>
</file>

<file path=ppt/slides/_rels/slide17.xml.rels><?xml version="1.0" encoding="UTF-8" standalone="yes"?>
<Relationships xmlns="http://schemas.openxmlformats.org/package/2006/relationships"><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1248111">
            <a:off x="-1117002" y="5894383"/>
            <a:ext cx="8481745" cy="8785235"/>
          </a:xfrm>
          <a:custGeom>
            <a:avLst/>
            <a:gdLst/>
            <a:ahLst/>
            <a:cxnLst/>
            <a:rect l="l" t="t" r="r" b="b"/>
            <a:pathLst>
              <a:path w="8481745" h="8785235">
                <a:moveTo>
                  <a:pt x="0" y="0"/>
                </a:moveTo>
                <a:lnTo>
                  <a:pt x="8481744" y="0"/>
                </a:lnTo>
                <a:lnTo>
                  <a:pt x="8481744" y="8785234"/>
                </a:lnTo>
                <a:lnTo>
                  <a:pt x="0" y="87852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882929" y="8551572"/>
            <a:ext cx="7230479" cy="4114800"/>
          </a:xfrm>
          <a:custGeom>
            <a:avLst/>
            <a:gdLst/>
            <a:ahLst/>
            <a:cxnLst/>
            <a:rect l="l" t="t" r="r" b="b"/>
            <a:pathLst>
              <a:path w="7230479" h="4114800">
                <a:moveTo>
                  <a:pt x="0" y="0"/>
                </a:moveTo>
                <a:lnTo>
                  <a:pt x="7230480" y="0"/>
                </a:lnTo>
                <a:lnTo>
                  <a:pt x="723048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144975" y="6993561"/>
            <a:ext cx="6939310" cy="4529477"/>
          </a:xfrm>
          <a:custGeom>
            <a:avLst/>
            <a:gdLst/>
            <a:ahLst/>
            <a:cxnLst/>
            <a:rect l="l" t="t" r="r" b="b"/>
            <a:pathLst>
              <a:path w="6939310" h="4529477">
                <a:moveTo>
                  <a:pt x="0" y="0"/>
                </a:moveTo>
                <a:lnTo>
                  <a:pt x="6939310" y="0"/>
                </a:lnTo>
                <a:lnTo>
                  <a:pt x="6939310" y="4529478"/>
                </a:lnTo>
                <a:lnTo>
                  <a:pt x="0" y="45294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175192" flipV="1">
            <a:off x="-1241155" y="-2455238"/>
            <a:ext cx="7276977" cy="4114800"/>
          </a:xfrm>
          <a:custGeom>
            <a:avLst/>
            <a:gdLst/>
            <a:ahLst/>
            <a:cxnLst/>
            <a:rect l="l" t="t" r="r" b="b"/>
            <a:pathLst>
              <a:path w="7276977" h="4114800">
                <a:moveTo>
                  <a:pt x="0" y="4114800"/>
                </a:moveTo>
                <a:lnTo>
                  <a:pt x="7276977" y="4114800"/>
                </a:lnTo>
                <a:lnTo>
                  <a:pt x="7276977"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388152" y="878921"/>
            <a:ext cx="2009181" cy="1881324"/>
          </a:xfrm>
          <a:custGeom>
            <a:avLst/>
            <a:gdLst/>
            <a:ahLst/>
            <a:cxnLst/>
            <a:rect l="l" t="t" r="r" b="b"/>
            <a:pathLst>
              <a:path w="2009181" h="1881324">
                <a:moveTo>
                  <a:pt x="0" y="0"/>
                </a:moveTo>
                <a:lnTo>
                  <a:pt x="2009182" y="0"/>
                </a:lnTo>
                <a:lnTo>
                  <a:pt x="2009182"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5021943">
            <a:off x="13211895" y="-3241631"/>
            <a:ext cx="5927725" cy="5507395"/>
          </a:xfrm>
          <a:custGeom>
            <a:avLst/>
            <a:gdLst/>
            <a:ahLst/>
            <a:cxnLst/>
            <a:rect l="l" t="t" r="r" b="b"/>
            <a:pathLst>
              <a:path w="5927725" h="5507395">
                <a:moveTo>
                  <a:pt x="0" y="0"/>
                </a:moveTo>
                <a:lnTo>
                  <a:pt x="5927725" y="0"/>
                </a:lnTo>
                <a:lnTo>
                  <a:pt x="5927725" y="5507395"/>
                </a:lnTo>
                <a:lnTo>
                  <a:pt x="0" y="550739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16175757" y="3357452"/>
            <a:ext cx="2714395" cy="2795725"/>
          </a:xfrm>
          <a:custGeom>
            <a:avLst/>
            <a:gdLst/>
            <a:ahLst/>
            <a:cxnLst/>
            <a:rect l="l" t="t" r="r" b="b"/>
            <a:pathLst>
              <a:path w="2714395" h="2795725">
                <a:moveTo>
                  <a:pt x="0" y="0"/>
                </a:moveTo>
                <a:lnTo>
                  <a:pt x="2714395" y="0"/>
                </a:lnTo>
                <a:lnTo>
                  <a:pt x="2714395" y="2795725"/>
                </a:lnTo>
                <a:lnTo>
                  <a:pt x="0" y="27957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9" name="Freeform 9"/>
          <p:cNvSpPr/>
          <p:nvPr/>
        </p:nvSpPr>
        <p:spPr>
          <a:xfrm rot="10638666">
            <a:off x="3491994" y="-876290"/>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0" name="Freeform 10"/>
          <p:cNvSpPr/>
          <p:nvPr/>
        </p:nvSpPr>
        <p:spPr>
          <a:xfrm>
            <a:off x="9949190" y="556446"/>
            <a:ext cx="2195785" cy="2203799"/>
          </a:xfrm>
          <a:custGeom>
            <a:avLst/>
            <a:gdLst/>
            <a:ahLst/>
            <a:cxnLst/>
            <a:rect l="l" t="t" r="r" b="b"/>
            <a:pathLst>
              <a:path w="2195785" h="2203799">
                <a:moveTo>
                  <a:pt x="0" y="0"/>
                </a:moveTo>
                <a:lnTo>
                  <a:pt x="2195785" y="0"/>
                </a:lnTo>
                <a:lnTo>
                  <a:pt x="2195785" y="2203799"/>
                </a:lnTo>
                <a:lnTo>
                  <a:pt x="0" y="2203799"/>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sp>
      <p:sp>
        <p:nvSpPr>
          <p:cNvPr id="11" name="TextBox 11"/>
          <p:cNvSpPr txBox="1"/>
          <p:nvPr/>
        </p:nvSpPr>
        <p:spPr>
          <a:xfrm>
            <a:off x="800288" y="3724007"/>
            <a:ext cx="16687424" cy="3501390"/>
          </a:xfrm>
          <a:prstGeom prst="rect">
            <a:avLst/>
          </a:prstGeom>
        </p:spPr>
        <p:txBody>
          <a:bodyPr lIns="0" tIns="0" rIns="0" bIns="0" rtlCol="0" anchor="t">
            <a:spAutoFit/>
          </a:bodyPr>
          <a:lstStyle/>
          <a:p>
            <a:pPr marL="0" lvl="0" indent="0" algn="ctr">
              <a:lnSpc>
                <a:spcPts val="8730"/>
              </a:lnSpc>
              <a:spcBef>
                <a:spcPct val="0"/>
              </a:spcBef>
            </a:pPr>
            <a:r>
              <a:rPr lang="en-US" sz="9000" b="1">
                <a:solidFill>
                  <a:srgbClr val="303030"/>
                </a:solidFill>
                <a:latin typeface="Hagrid Ultra-Bold"/>
                <a:ea typeface="Hagrid Ultra-Bold"/>
                <a:cs typeface="Hagrid Ultra-Bold"/>
                <a:sym typeface="Hagrid Ultra-Bold"/>
              </a:rPr>
              <a:t>DEVELOPING A SHELL OR COMMAND LINE INTERFACE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8042325" y="7428997"/>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3191215" y="8485839"/>
            <a:ext cx="5927725" cy="5507395"/>
          </a:xfrm>
          <a:custGeom>
            <a:avLst/>
            <a:gdLst/>
            <a:ahLst/>
            <a:cxnLst/>
            <a:rect l="l" t="t" r="r" b="b"/>
            <a:pathLst>
              <a:path w="5927725" h="5507395">
                <a:moveTo>
                  <a:pt x="0" y="0"/>
                </a:moveTo>
                <a:lnTo>
                  <a:pt x="5927724" y="0"/>
                </a:lnTo>
                <a:lnTo>
                  <a:pt x="5927724" y="5507395"/>
                </a:lnTo>
                <a:lnTo>
                  <a:pt x="0" y="5507395"/>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612005" y="8809689"/>
            <a:ext cx="6985000" cy="4114800"/>
          </a:xfrm>
          <a:custGeom>
            <a:avLst/>
            <a:gdLst/>
            <a:ahLst/>
            <a:cxnLst/>
            <a:rect l="l" t="t" r="r" b="b"/>
            <a:pathLst>
              <a:path w="6985000" h="4114800">
                <a:moveTo>
                  <a:pt x="0" y="0"/>
                </a:moveTo>
                <a:lnTo>
                  <a:pt x="6985000" y="0"/>
                </a:lnTo>
                <a:lnTo>
                  <a:pt x="69850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8892533">
            <a:off x="12527722" y="-3137132"/>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TextBox 6"/>
          <p:cNvSpPr txBox="1"/>
          <p:nvPr/>
        </p:nvSpPr>
        <p:spPr>
          <a:xfrm>
            <a:off x="1028700" y="2796985"/>
            <a:ext cx="9158319" cy="1116330"/>
          </a:xfrm>
          <a:prstGeom prst="rect">
            <a:avLst/>
          </a:prstGeom>
        </p:spPr>
        <p:txBody>
          <a:bodyPr lIns="0" tIns="0" rIns="0" bIns="0" rtlCol="0" anchor="t">
            <a:spAutoFit/>
          </a:bodyPr>
          <a:lstStyle/>
          <a:p>
            <a:pPr algn="just">
              <a:lnSpc>
                <a:spcPts val="4410"/>
              </a:lnSpc>
            </a:pPr>
            <a:r>
              <a:rPr lang="en-US" sz="3500" b="1" spc="-175">
                <a:solidFill>
                  <a:srgbClr val="303030"/>
                </a:solidFill>
                <a:latin typeface="Roboto Bold"/>
                <a:ea typeface="Roboto Bold"/>
                <a:cs typeface="Roboto Bold"/>
                <a:sym typeface="Roboto Bold"/>
              </a:rPr>
              <a:t>Course Code  :    CSE 324</a:t>
            </a:r>
          </a:p>
          <a:p>
            <a:pPr algn="just">
              <a:lnSpc>
                <a:spcPts val="4410"/>
              </a:lnSpc>
            </a:pPr>
            <a:r>
              <a:rPr lang="en-US" sz="3500" b="1" spc="-175">
                <a:solidFill>
                  <a:srgbClr val="303030"/>
                </a:solidFill>
                <a:latin typeface="Roboto Bold"/>
                <a:ea typeface="Roboto Bold"/>
                <a:cs typeface="Roboto Bold"/>
                <a:sym typeface="Roboto Bold"/>
              </a:rPr>
              <a:t>Course Title     :   Operating Systems Lab</a:t>
            </a:r>
          </a:p>
        </p:txBody>
      </p:sp>
      <p:sp>
        <p:nvSpPr>
          <p:cNvPr id="7" name="TextBox 7"/>
          <p:cNvSpPr txBox="1"/>
          <p:nvPr/>
        </p:nvSpPr>
        <p:spPr>
          <a:xfrm>
            <a:off x="10150305" y="4680472"/>
            <a:ext cx="7633845" cy="2334311"/>
          </a:xfrm>
          <a:prstGeom prst="rect">
            <a:avLst/>
          </a:prstGeom>
        </p:spPr>
        <p:txBody>
          <a:bodyPr lIns="0" tIns="0" rIns="0" bIns="0" rtlCol="0" anchor="t">
            <a:spAutoFit/>
          </a:bodyPr>
          <a:lstStyle/>
          <a:p>
            <a:pPr algn="just">
              <a:lnSpc>
                <a:spcPts val="4611"/>
              </a:lnSpc>
              <a:spcBef>
                <a:spcPct val="0"/>
              </a:spcBef>
            </a:pPr>
            <a:r>
              <a:rPr lang="en-US" sz="3660" b="1" spc="-183">
                <a:solidFill>
                  <a:srgbClr val="303030"/>
                </a:solidFill>
                <a:latin typeface="Roboto Bold"/>
                <a:ea typeface="Roboto Bold"/>
                <a:cs typeface="Roboto Bold"/>
                <a:sym typeface="Roboto Bold"/>
              </a:rPr>
              <a:t>Nushrat Jahan Oyshi</a:t>
            </a:r>
          </a:p>
          <a:p>
            <a:pPr algn="just">
              <a:lnSpc>
                <a:spcPts val="4611"/>
              </a:lnSpc>
              <a:spcBef>
                <a:spcPct val="0"/>
              </a:spcBef>
            </a:pPr>
            <a:r>
              <a:rPr lang="en-US" sz="3660" b="1" spc="-183">
                <a:solidFill>
                  <a:srgbClr val="303030"/>
                </a:solidFill>
                <a:latin typeface="Roboto Bold"/>
                <a:ea typeface="Roboto Bold"/>
                <a:cs typeface="Roboto Bold"/>
                <a:sym typeface="Roboto Bold"/>
              </a:rPr>
              <a:t>Lecturer</a:t>
            </a:r>
          </a:p>
          <a:p>
            <a:pPr algn="just">
              <a:lnSpc>
                <a:spcPts val="4611"/>
              </a:lnSpc>
              <a:spcBef>
                <a:spcPct val="0"/>
              </a:spcBef>
            </a:pPr>
            <a:r>
              <a:rPr lang="en-US" sz="3660" b="1" spc="-183">
                <a:solidFill>
                  <a:srgbClr val="303030"/>
                </a:solidFill>
                <a:latin typeface="Roboto Bold"/>
                <a:ea typeface="Roboto Bold"/>
                <a:cs typeface="Roboto Bold"/>
                <a:sym typeface="Roboto Bold"/>
              </a:rPr>
              <a:t>Department of CSE</a:t>
            </a:r>
          </a:p>
          <a:p>
            <a:pPr algn="just">
              <a:lnSpc>
                <a:spcPts val="4611"/>
              </a:lnSpc>
              <a:spcBef>
                <a:spcPct val="0"/>
              </a:spcBef>
            </a:pPr>
            <a:r>
              <a:rPr lang="en-US" sz="3660" b="1" spc="-183">
                <a:solidFill>
                  <a:srgbClr val="303030"/>
                </a:solidFill>
                <a:latin typeface="Roboto Bold"/>
                <a:ea typeface="Roboto Bold"/>
                <a:cs typeface="Roboto Bold"/>
                <a:sym typeface="Roboto Bold"/>
              </a:rPr>
              <a:t>Daffodil International University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1396343">
            <a:off x="12220740" y="8142660"/>
            <a:ext cx="7536020" cy="4288681"/>
          </a:xfrm>
          <a:custGeom>
            <a:avLst/>
            <a:gdLst/>
            <a:ahLst/>
            <a:cxnLst/>
            <a:rect l="l" t="t" r="r" b="b"/>
            <a:pathLst>
              <a:path w="7536020" h="4288681">
                <a:moveTo>
                  <a:pt x="0" y="0"/>
                </a:moveTo>
                <a:lnTo>
                  <a:pt x="7536020" y="0"/>
                </a:lnTo>
                <a:lnTo>
                  <a:pt x="7536020" y="4288680"/>
                </a:lnTo>
                <a:lnTo>
                  <a:pt x="0" y="42886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133450" y="8042877"/>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5639941" y="-613414"/>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781748">
            <a:off x="-747735" y="-4307272"/>
            <a:ext cx="6531599" cy="6484096"/>
          </a:xfrm>
          <a:custGeom>
            <a:avLst/>
            <a:gdLst/>
            <a:ahLst/>
            <a:cxnLst/>
            <a:rect l="l" t="t" r="r" b="b"/>
            <a:pathLst>
              <a:path w="6531599" h="6484096">
                <a:moveTo>
                  <a:pt x="0" y="0"/>
                </a:moveTo>
                <a:lnTo>
                  <a:pt x="6531599" y="0"/>
                </a:lnTo>
                <a:lnTo>
                  <a:pt x="6531599" y="6484096"/>
                </a:lnTo>
                <a:lnTo>
                  <a:pt x="0" y="648409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Freeform 6"/>
          <p:cNvSpPr/>
          <p:nvPr/>
        </p:nvSpPr>
        <p:spPr>
          <a:xfrm>
            <a:off x="12360806" y="2373013"/>
            <a:ext cx="5927194" cy="5853104"/>
          </a:xfrm>
          <a:custGeom>
            <a:avLst/>
            <a:gdLst/>
            <a:ahLst/>
            <a:cxnLst/>
            <a:rect l="l" t="t" r="r" b="b"/>
            <a:pathLst>
              <a:path w="5927194" h="5853104">
                <a:moveTo>
                  <a:pt x="0" y="0"/>
                </a:moveTo>
                <a:lnTo>
                  <a:pt x="5927194" y="0"/>
                </a:lnTo>
                <a:lnTo>
                  <a:pt x="5927194" y="5853104"/>
                </a:lnTo>
                <a:lnTo>
                  <a:pt x="0" y="58531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1148666" y="3219911"/>
            <a:ext cx="9267073"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TEAM INFO</a:t>
            </a:r>
          </a:p>
        </p:txBody>
      </p:sp>
      <p:sp>
        <p:nvSpPr>
          <p:cNvPr id="8" name="TextBox 8"/>
          <p:cNvSpPr txBox="1"/>
          <p:nvPr/>
        </p:nvSpPr>
        <p:spPr>
          <a:xfrm>
            <a:off x="1148666" y="6996082"/>
            <a:ext cx="311359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Md. Tamim Islam</a:t>
            </a:r>
          </a:p>
          <a:p>
            <a:pPr algn="just">
              <a:lnSpc>
                <a:spcPts val="2973"/>
              </a:lnSpc>
            </a:pPr>
            <a:r>
              <a:rPr lang="en-US" sz="2360" b="1" spc="-118">
                <a:solidFill>
                  <a:srgbClr val="303030"/>
                </a:solidFill>
                <a:latin typeface="Roboto Bold"/>
                <a:ea typeface="Roboto Bold"/>
                <a:cs typeface="Roboto Bold"/>
                <a:sym typeface="Roboto Bold"/>
              </a:rPr>
              <a:t>0242310005101285</a:t>
            </a:r>
          </a:p>
        </p:txBody>
      </p:sp>
      <p:sp>
        <p:nvSpPr>
          <p:cNvPr id="9" name="TextBox 9"/>
          <p:cNvSpPr txBox="1"/>
          <p:nvPr/>
        </p:nvSpPr>
        <p:spPr>
          <a:xfrm>
            <a:off x="4900438" y="6996082"/>
            <a:ext cx="2823029"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Md. Mahidul Islam </a:t>
            </a:r>
          </a:p>
          <a:p>
            <a:pPr algn="just">
              <a:lnSpc>
                <a:spcPts val="2973"/>
              </a:lnSpc>
            </a:pPr>
            <a:r>
              <a:rPr lang="en-US" sz="2360" b="1" spc="-118">
                <a:solidFill>
                  <a:srgbClr val="303030"/>
                </a:solidFill>
                <a:latin typeface="Roboto Bold"/>
                <a:ea typeface="Roboto Bold"/>
                <a:cs typeface="Roboto Bold"/>
                <a:sym typeface="Roboto Bold"/>
              </a:rPr>
              <a:t>0242310005101289</a:t>
            </a:r>
          </a:p>
        </p:txBody>
      </p:sp>
      <p:sp>
        <p:nvSpPr>
          <p:cNvPr id="10" name="TextBox 10"/>
          <p:cNvSpPr txBox="1"/>
          <p:nvPr/>
        </p:nvSpPr>
        <p:spPr>
          <a:xfrm>
            <a:off x="8652210" y="6996082"/>
            <a:ext cx="3068245" cy="753541"/>
          </a:xfrm>
          <a:prstGeom prst="rect">
            <a:avLst/>
          </a:prstGeom>
        </p:spPr>
        <p:txBody>
          <a:bodyPr lIns="0" tIns="0" rIns="0" bIns="0" rtlCol="0" anchor="t">
            <a:spAutoFit/>
          </a:bodyPr>
          <a:lstStyle/>
          <a:p>
            <a:pPr algn="just">
              <a:lnSpc>
                <a:spcPts val="2973"/>
              </a:lnSpc>
            </a:pPr>
            <a:r>
              <a:rPr lang="en-US" sz="2360" b="1" spc="-118" dirty="0">
                <a:solidFill>
                  <a:srgbClr val="303030"/>
                </a:solidFill>
                <a:latin typeface="Roboto Bold"/>
                <a:ea typeface="Roboto Bold"/>
                <a:cs typeface="Roboto Bold"/>
                <a:sym typeface="Roboto Bold"/>
              </a:rPr>
              <a:t>Ibrahim Walid Khan</a:t>
            </a:r>
          </a:p>
          <a:p>
            <a:pPr algn="just">
              <a:lnSpc>
                <a:spcPts val="2973"/>
              </a:lnSpc>
            </a:pPr>
            <a:r>
              <a:rPr lang="en-US" sz="2360" b="1" spc="-118" dirty="0">
                <a:solidFill>
                  <a:srgbClr val="303030"/>
                </a:solidFill>
                <a:latin typeface="Roboto Bold"/>
                <a:ea typeface="Roboto Bold"/>
                <a:cs typeface="Roboto Bold"/>
                <a:sym typeface="Roboto Bold"/>
              </a:rPr>
              <a:t>0242310005101242</a:t>
            </a:r>
          </a:p>
        </p:txBody>
      </p:sp>
      <p:sp>
        <p:nvSpPr>
          <p:cNvPr id="11" name="TextBox 11"/>
          <p:cNvSpPr txBox="1"/>
          <p:nvPr/>
        </p:nvSpPr>
        <p:spPr>
          <a:xfrm>
            <a:off x="6311953" y="5254215"/>
            <a:ext cx="360280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Mosabbir Hossen Maruf</a:t>
            </a:r>
          </a:p>
          <a:p>
            <a:pPr algn="just">
              <a:lnSpc>
                <a:spcPts val="2973"/>
              </a:lnSpc>
            </a:pPr>
            <a:r>
              <a:rPr lang="en-US" sz="2360" b="1" spc="-118">
                <a:solidFill>
                  <a:srgbClr val="303030"/>
                </a:solidFill>
                <a:latin typeface="Roboto Bold"/>
                <a:ea typeface="Roboto Bold"/>
                <a:cs typeface="Roboto Bold"/>
                <a:sym typeface="Roboto Bold"/>
              </a:rPr>
              <a:t>0242310005101182</a:t>
            </a:r>
          </a:p>
        </p:txBody>
      </p:sp>
      <p:sp>
        <p:nvSpPr>
          <p:cNvPr id="12" name="TextBox 12"/>
          <p:cNvSpPr txBox="1"/>
          <p:nvPr/>
        </p:nvSpPr>
        <p:spPr>
          <a:xfrm>
            <a:off x="1148666" y="5270990"/>
            <a:ext cx="360280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Shahriar Imtiaz Limon</a:t>
            </a:r>
          </a:p>
          <a:p>
            <a:pPr algn="just">
              <a:lnSpc>
                <a:spcPts val="2973"/>
              </a:lnSpc>
            </a:pPr>
            <a:r>
              <a:rPr lang="en-US" sz="2360" b="1" spc="-118">
                <a:solidFill>
                  <a:srgbClr val="303030"/>
                </a:solidFill>
                <a:latin typeface="Roboto Bold"/>
                <a:ea typeface="Roboto Bold"/>
                <a:cs typeface="Roboto Bold"/>
                <a:sym typeface="Roboto Bold"/>
              </a:rPr>
              <a:t>0242310005101283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465841" y="841664"/>
            <a:ext cx="2703667" cy="2703667"/>
          </a:xfrm>
          <a:custGeom>
            <a:avLst/>
            <a:gdLst/>
            <a:ahLst/>
            <a:cxnLst/>
            <a:rect l="l" t="t" r="r" b="b"/>
            <a:pathLst>
              <a:path w="2703667" h="2703667">
                <a:moveTo>
                  <a:pt x="0" y="0"/>
                </a:moveTo>
                <a:lnTo>
                  <a:pt x="2703667" y="0"/>
                </a:lnTo>
                <a:lnTo>
                  <a:pt x="2703667" y="2703666"/>
                </a:lnTo>
                <a:lnTo>
                  <a:pt x="0" y="27036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65841" y="3897869"/>
            <a:ext cx="2703667" cy="2703667"/>
          </a:xfrm>
          <a:custGeom>
            <a:avLst/>
            <a:gdLst/>
            <a:ahLst/>
            <a:cxnLst/>
            <a:rect l="l" t="t" r="r" b="b"/>
            <a:pathLst>
              <a:path w="2703667" h="2703667">
                <a:moveTo>
                  <a:pt x="0" y="0"/>
                </a:moveTo>
                <a:lnTo>
                  <a:pt x="2703667" y="0"/>
                </a:lnTo>
                <a:lnTo>
                  <a:pt x="2703667" y="2703666"/>
                </a:lnTo>
                <a:lnTo>
                  <a:pt x="0" y="27036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568464" y="6953960"/>
            <a:ext cx="2703667" cy="2703667"/>
          </a:xfrm>
          <a:custGeom>
            <a:avLst/>
            <a:gdLst/>
            <a:ahLst/>
            <a:cxnLst/>
            <a:rect l="l" t="t" r="r" b="b"/>
            <a:pathLst>
              <a:path w="2703667" h="2703667">
                <a:moveTo>
                  <a:pt x="0" y="0"/>
                </a:moveTo>
                <a:lnTo>
                  <a:pt x="2703667" y="0"/>
                </a:lnTo>
                <a:lnTo>
                  <a:pt x="2703667" y="2703667"/>
                </a:lnTo>
                <a:lnTo>
                  <a:pt x="0" y="270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09341" y="1293111"/>
            <a:ext cx="1816667" cy="1800771"/>
          </a:xfrm>
          <a:custGeom>
            <a:avLst/>
            <a:gdLst/>
            <a:ahLst/>
            <a:cxnLst/>
            <a:rect l="l" t="t" r="r" b="b"/>
            <a:pathLst>
              <a:path w="1816667" h="1800771">
                <a:moveTo>
                  <a:pt x="0" y="0"/>
                </a:moveTo>
                <a:lnTo>
                  <a:pt x="1816667" y="0"/>
                </a:lnTo>
                <a:lnTo>
                  <a:pt x="1816667" y="1800771"/>
                </a:lnTo>
                <a:lnTo>
                  <a:pt x="0" y="18007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015388" y="7405408"/>
            <a:ext cx="1809820" cy="1800771"/>
          </a:xfrm>
          <a:custGeom>
            <a:avLst/>
            <a:gdLst/>
            <a:ahLst/>
            <a:cxnLst/>
            <a:rect l="l" t="t" r="r" b="b"/>
            <a:pathLst>
              <a:path w="1809820" h="1800771">
                <a:moveTo>
                  <a:pt x="0" y="0"/>
                </a:moveTo>
                <a:lnTo>
                  <a:pt x="1809820" y="0"/>
                </a:lnTo>
                <a:lnTo>
                  <a:pt x="1809820" y="1800771"/>
                </a:lnTo>
                <a:lnTo>
                  <a:pt x="0" y="18007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912764" y="4387731"/>
            <a:ext cx="1809820" cy="1800771"/>
          </a:xfrm>
          <a:custGeom>
            <a:avLst/>
            <a:gdLst/>
            <a:ahLst/>
            <a:cxnLst/>
            <a:rect l="l" t="t" r="r" b="b"/>
            <a:pathLst>
              <a:path w="1809820" h="1800771">
                <a:moveTo>
                  <a:pt x="0" y="0"/>
                </a:moveTo>
                <a:lnTo>
                  <a:pt x="1809820" y="0"/>
                </a:lnTo>
                <a:lnTo>
                  <a:pt x="1809820" y="1800772"/>
                </a:lnTo>
                <a:lnTo>
                  <a:pt x="0" y="1800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TextBox 8"/>
          <p:cNvSpPr txBox="1"/>
          <p:nvPr/>
        </p:nvSpPr>
        <p:spPr>
          <a:xfrm>
            <a:off x="4674904" y="681289"/>
            <a:ext cx="8820447" cy="1080770"/>
          </a:xfrm>
          <a:prstGeom prst="rect">
            <a:avLst/>
          </a:prstGeom>
        </p:spPr>
        <p:txBody>
          <a:bodyPr lIns="0" tIns="0" rIns="0" bIns="0" rtlCol="0" anchor="t">
            <a:spAutoFit/>
          </a:bodyPr>
          <a:lstStyle/>
          <a:p>
            <a:pPr algn="ctr">
              <a:lnSpc>
                <a:spcPts val="8679"/>
              </a:lnSpc>
            </a:pPr>
            <a:r>
              <a:rPr lang="en-US" sz="6199" b="1">
                <a:solidFill>
                  <a:srgbClr val="000000"/>
                </a:solidFill>
                <a:latin typeface="Hagrid Ultra-Bold"/>
                <a:ea typeface="Hagrid Ultra-Bold"/>
                <a:cs typeface="Hagrid Ultra-Bold"/>
                <a:sym typeface="Hagrid Ultra-Bold"/>
              </a:rPr>
              <a:t>TABLE OF CONTENT</a:t>
            </a:r>
          </a:p>
        </p:txBody>
      </p:sp>
      <p:sp>
        <p:nvSpPr>
          <p:cNvPr id="9" name="Freeform 9"/>
          <p:cNvSpPr/>
          <p:nvPr/>
        </p:nvSpPr>
        <p:spPr>
          <a:xfrm>
            <a:off x="5348556" y="2431622"/>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5776766" y="2401450"/>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Introduction</a:t>
            </a:r>
          </a:p>
        </p:txBody>
      </p:sp>
      <p:sp>
        <p:nvSpPr>
          <p:cNvPr id="11" name="Freeform 11"/>
          <p:cNvSpPr/>
          <p:nvPr/>
        </p:nvSpPr>
        <p:spPr>
          <a:xfrm>
            <a:off x="5348556" y="3036758"/>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5776766" y="3006586"/>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Objective</a:t>
            </a:r>
          </a:p>
        </p:txBody>
      </p:sp>
      <p:sp>
        <p:nvSpPr>
          <p:cNvPr id="13" name="Freeform 13"/>
          <p:cNvSpPr/>
          <p:nvPr/>
        </p:nvSpPr>
        <p:spPr>
          <a:xfrm>
            <a:off x="5348556" y="3641894"/>
            <a:ext cx="306579" cy="395586"/>
          </a:xfrm>
          <a:custGeom>
            <a:avLst/>
            <a:gdLst/>
            <a:ahLst/>
            <a:cxnLst/>
            <a:rect l="l" t="t" r="r" b="b"/>
            <a:pathLst>
              <a:path w="306579" h="395586">
                <a:moveTo>
                  <a:pt x="0" y="0"/>
                </a:moveTo>
                <a:lnTo>
                  <a:pt x="306579" y="0"/>
                </a:lnTo>
                <a:lnTo>
                  <a:pt x="306579" y="395587"/>
                </a:lnTo>
                <a:lnTo>
                  <a:pt x="0" y="39558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5776766" y="3611723"/>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Methodology</a:t>
            </a:r>
          </a:p>
        </p:txBody>
      </p:sp>
      <p:sp>
        <p:nvSpPr>
          <p:cNvPr id="15" name="Freeform 15"/>
          <p:cNvSpPr/>
          <p:nvPr/>
        </p:nvSpPr>
        <p:spPr>
          <a:xfrm>
            <a:off x="5348556" y="4247031"/>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TextBox 16"/>
          <p:cNvSpPr txBox="1"/>
          <p:nvPr/>
        </p:nvSpPr>
        <p:spPr>
          <a:xfrm>
            <a:off x="5776766" y="4216859"/>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Project Timeline</a:t>
            </a:r>
          </a:p>
        </p:txBody>
      </p:sp>
      <p:sp>
        <p:nvSpPr>
          <p:cNvPr id="17" name="Freeform 17"/>
          <p:cNvSpPr/>
          <p:nvPr/>
        </p:nvSpPr>
        <p:spPr>
          <a:xfrm>
            <a:off x="5348556" y="4852167"/>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8" name="TextBox 18"/>
          <p:cNvSpPr txBox="1"/>
          <p:nvPr/>
        </p:nvSpPr>
        <p:spPr>
          <a:xfrm>
            <a:off x="5776766" y="4821995"/>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Flowchart &amp; Tools</a:t>
            </a:r>
          </a:p>
        </p:txBody>
      </p:sp>
      <p:sp>
        <p:nvSpPr>
          <p:cNvPr id="19" name="Freeform 19"/>
          <p:cNvSpPr/>
          <p:nvPr/>
        </p:nvSpPr>
        <p:spPr>
          <a:xfrm>
            <a:off x="5348556" y="5485878"/>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0" name="TextBox 20"/>
          <p:cNvSpPr txBox="1"/>
          <p:nvPr/>
        </p:nvSpPr>
        <p:spPr>
          <a:xfrm>
            <a:off x="5776766" y="5455706"/>
            <a:ext cx="5534829"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Team member and responsibilites</a:t>
            </a:r>
          </a:p>
        </p:txBody>
      </p:sp>
      <p:sp>
        <p:nvSpPr>
          <p:cNvPr id="21" name="Freeform 21"/>
          <p:cNvSpPr/>
          <p:nvPr/>
        </p:nvSpPr>
        <p:spPr>
          <a:xfrm>
            <a:off x="5348556" y="617673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2" name="TextBox 22"/>
          <p:cNvSpPr txBox="1"/>
          <p:nvPr/>
        </p:nvSpPr>
        <p:spPr>
          <a:xfrm>
            <a:off x="5776766" y="6127518"/>
            <a:ext cx="460509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Expected Project Outcomes</a:t>
            </a:r>
          </a:p>
        </p:txBody>
      </p:sp>
      <p:sp>
        <p:nvSpPr>
          <p:cNvPr id="23" name="Freeform 23"/>
          <p:cNvSpPr/>
          <p:nvPr/>
        </p:nvSpPr>
        <p:spPr>
          <a:xfrm>
            <a:off x="5348556" y="6791253"/>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4" name="TextBox 24"/>
          <p:cNvSpPr txBox="1"/>
          <p:nvPr/>
        </p:nvSpPr>
        <p:spPr>
          <a:xfrm>
            <a:off x="5776766" y="6742031"/>
            <a:ext cx="541486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Benefits</a:t>
            </a:r>
          </a:p>
        </p:txBody>
      </p:sp>
      <p:sp>
        <p:nvSpPr>
          <p:cNvPr id="25" name="Freeform 25"/>
          <p:cNvSpPr/>
          <p:nvPr/>
        </p:nvSpPr>
        <p:spPr>
          <a:xfrm>
            <a:off x="5348556" y="739638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6" name="TextBox 26"/>
          <p:cNvSpPr txBox="1"/>
          <p:nvPr/>
        </p:nvSpPr>
        <p:spPr>
          <a:xfrm>
            <a:off x="5776766" y="7347167"/>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Future Plan</a:t>
            </a:r>
          </a:p>
        </p:txBody>
      </p:sp>
      <p:sp>
        <p:nvSpPr>
          <p:cNvPr id="27" name="Freeform 27"/>
          <p:cNvSpPr/>
          <p:nvPr/>
        </p:nvSpPr>
        <p:spPr>
          <a:xfrm>
            <a:off x="5348556" y="799350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8" name="TextBox 28"/>
          <p:cNvSpPr txBox="1"/>
          <p:nvPr/>
        </p:nvSpPr>
        <p:spPr>
          <a:xfrm>
            <a:off x="5776766" y="7944287"/>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Reference</a:t>
            </a:r>
          </a:p>
        </p:txBody>
      </p:sp>
      <p:sp>
        <p:nvSpPr>
          <p:cNvPr id="29" name="Freeform 29"/>
          <p:cNvSpPr/>
          <p:nvPr/>
        </p:nvSpPr>
        <p:spPr>
          <a:xfrm rot="-1396343">
            <a:off x="12220740" y="8142660"/>
            <a:ext cx="7536020" cy="4288681"/>
          </a:xfrm>
          <a:custGeom>
            <a:avLst/>
            <a:gdLst/>
            <a:ahLst/>
            <a:cxnLst/>
            <a:rect l="l" t="t" r="r" b="b"/>
            <a:pathLst>
              <a:path w="7536020" h="4288681">
                <a:moveTo>
                  <a:pt x="0" y="0"/>
                </a:moveTo>
                <a:lnTo>
                  <a:pt x="7536020" y="0"/>
                </a:lnTo>
                <a:lnTo>
                  <a:pt x="7536020" y="4288680"/>
                </a:lnTo>
                <a:lnTo>
                  <a:pt x="0" y="42886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0" name="Freeform 30"/>
          <p:cNvSpPr/>
          <p:nvPr/>
        </p:nvSpPr>
        <p:spPr>
          <a:xfrm>
            <a:off x="1500074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1" name="Freeform 31"/>
          <p:cNvSpPr/>
          <p:nvPr/>
        </p:nvSpPr>
        <p:spPr>
          <a:xfrm>
            <a:off x="5348556" y="8589120"/>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TextBox 32"/>
          <p:cNvSpPr txBox="1"/>
          <p:nvPr/>
        </p:nvSpPr>
        <p:spPr>
          <a:xfrm>
            <a:off x="5776766" y="8539898"/>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Conclusion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5901716" y="7572103"/>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8883284">
            <a:off x="12058233" y="6722138"/>
            <a:ext cx="8481745" cy="8785235"/>
          </a:xfrm>
          <a:custGeom>
            <a:avLst/>
            <a:gdLst/>
            <a:ahLst/>
            <a:cxnLst/>
            <a:rect l="l" t="t" r="r" b="b"/>
            <a:pathLst>
              <a:path w="8481745" h="8785235">
                <a:moveTo>
                  <a:pt x="0" y="0"/>
                </a:moveTo>
                <a:lnTo>
                  <a:pt x="8481745" y="0"/>
                </a:lnTo>
                <a:lnTo>
                  <a:pt x="8481745" y="8785235"/>
                </a:lnTo>
                <a:lnTo>
                  <a:pt x="0" y="878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98202" y="8786001"/>
            <a:ext cx="7276977" cy="4114800"/>
          </a:xfrm>
          <a:custGeom>
            <a:avLst/>
            <a:gdLst/>
            <a:ahLst/>
            <a:cxnLst/>
            <a:rect l="l" t="t" r="r" b="b"/>
            <a:pathLst>
              <a:path w="7276977" h="4114800">
                <a:moveTo>
                  <a:pt x="0" y="0"/>
                </a:moveTo>
                <a:lnTo>
                  <a:pt x="7276977" y="0"/>
                </a:lnTo>
                <a:lnTo>
                  <a:pt x="727697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3068603" y="8962077"/>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1749075">
            <a:off x="13725665" y="-4062449"/>
            <a:ext cx="6531599" cy="6484096"/>
          </a:xfrm>
          <a:custGeom>
            <a:avLst/>
            <a:gdLst/>
            <a:ahLst/>
            <a:cxnLst/>
            <a:rect l="l" t="t" r="r" b="b"/>
            <a:pathLst>
              <a:path w="6531599" h="6484096">
                <a:moveTo>
                  <a:pt x="0" y="0"/>
                </a:moveTo>
                <a:lnTo>
                  <a:pt x="6531598" y="0"/>
                </a:lnTo>
                <a:lnTo>
                  <a:pt x="6531598" y="6484096"/>
                </a:lnTo>
                <a:lnTo>
                  <a:pt x="0" y="648409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sp>
        <p:nvSpPr>
          <p:cNvPr id="7" name="TextBox 7"/>
          <p:cNvSpPr txBox="1"/>
          <p:nvPr/>
        </p:nvSpPr>
        <p:spPr>
          <a:xfrm>
            <a:off x="1011568" y="2374054"/>
            <a:ext cx="8222406" cy="1025016"/>
          </a:xfrm>
          <a:prstGeom prst="rect">
            <a:avLst/>
          </a:prstGeom>
        </p:spPr>
        <p:txBody>
          <a:bodyPr lIns="0" tIns="0" rIns="0" bIns="0" rtlCol="0" anchor="t">
            <a:spAutoFit/>
          </a:bodyPr>
          <a:lstStyle/>
          <a:p>
            <a:pPr marL="0" lvl="0" indent="0" algn="l">
              <a:lnSpc>
                <a:spcPts val="7468"/>
              </a:lnSpc>
              <a:spcBef>
                <a:spcPct val="0"/>
              </a:spcBef>
            </a:pPr>
            <a:r>
              <a:rPr lang="en-US" sz="7699" b="1">
                <a:solidFill>
                  <a:srgbClr val="303030"/>
                </a:solidFill>
                <a:latin typeface="Hagrid Ultra-Bold"/>
                <a:ea typeface="Hagrid Ultra-Bold"/>
                <a:cs typeface="Hagrid Ultra-Bold"/>
                <a:sym typeface="Hagrid Ultra-Bold"/>
              </a:rPr>
              <a:t>I</a:t>
            </a:r>
            <a:r>
              <a:rPr lang="en-US" sz="7699" b="1" u="none" strike="noStrike">
                <a:solidFill>
                  <a:srgbClr val="303030"/>
                </a:solidFill>
                <a:latin typeface="Hagrid Ultra-Bold"/>
                <a:ea typeface="Hagrid Ultra-Bold"/>
                <a:cs typeface="Hagrid Ultra-Bold"/>
                <a:sym typeface="Hagrid Ultra-Bold"/>
              </a:rPr>
              <a:t>NTRODUCTION</a:t>
            </a:r>
          </a:p>
        </p:txBody>
      </p:sp>
      <p:sp>
        <p:nvSpPr>
          <p:cNvPr id="8" name="TextBox 8"/>
          <p:cNvSpPr txBox="1"/>
          <p:nvPr/>
        </p:nvSpPr>
        <p:spPr>
          <a:xfrm>
            <a:off x="1028700" y="3876860"/>
            <a:ext cx="8927373" cy="2466518"/>
          </a:xfrm>
          <a:prstGeom prst="rect">
            <a:avLst/>
          </a:prstGeom>
        </p:spPr>
        <p:txBody>
          <a:bodyPr lIns="0" tIns="0" rIns="0" bIns="0" rtlCol="0" anchor="t">
            <a:spAutoFit/>
          </a:bodyPr>
          <a:lstStyle/>
          <a:p>
            <a:pPr algn="just">
              <a:lnSpc>
                <a:spcPts val="3225"/>
              </a:lnSpc>
            </a:pPr>
            <a:r>
              <a:rPr lang="en-US" sz="2560" b="1" spc="-128">
                <a:solidFill>
                  <a:srgbClr val="303030"/>
                </a:solidFill>
                <a:latin typeface="Roboto Bold"/>
                <a:ea typeface="Roboto Bold"/>
                <a:cs typeface="Roboto Bold"/>
                <a:sym typeface="Roboto Bold"/>
              </a:rPr>
              <a:t>A Shell, or Command Line Interface (CLI), is a program that allows users to interact with the operating system using text commands. Examples of popular shells include Bash, PowerShell, and Zsh. The CLI is crucial for tasks such as automation, scripting, and system administration. Its importance lies in providing a lightweight, efficient, and flexible way for users to control and manage a system.</a:t>
            </a:r>
          </a:p>
        </p:txBody>
      </p:sp>
      <p:sp>
        <p:nvSpPr>
          <p:cNvPr id="9" name="Freeform 9"/>
          <p:cNvSpPr/>
          <p:nvPr/>
        </p:nvSpPr>
        <p:spPr>
          <a:xfrm rot="10638666">
            <a:off x="10050808" y="-1976392"/>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0" name="Freeform 10"/>
          <p:cNvSpPr/>
          <p:nvPr/>
        </p:nvSpPr>
        <p:spPr>
          <a:xfrm>
            <a:off x="10639808" y="2057400"/>
            <a:ext cx="6183382" cy="6172200"/>
          </a:xfrm>
          <a:custGeom>
            <a:avLst/>
            <a:gdLst/>
            <a:ahLst/>
            <a:cxnLst/>
            <a:rect l="l" t="t" r="r" b="b"/>
            <a:pathLst>
              <a:path w="6183382" h="6172200">
                <a:moveTo>
                  <a:pt x="0" y="0"/>
                </a:moveTo>
                <a:lnTo>
                  <a:pt x="6183381" y="0"/>
                </a:lnTo>
                <a:lnTo>
                  <a:pt x="6183381" y="6172200"/>
                </a:lnTo>
                <a:lnTo>
                  <a:pt x="0" y="6172200"/>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5901716" y="7572103"/>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376324" y="2057400"/>
            <a:ext cx="6017379" cy="6172200"/>
          </a:xfrm>
          <a:custGeom>
            <a:avLst/>
            <a:gdLst/>
            <a:ahLst/>
            <a:cxnLst/>
            <a:rect l="l" t="t" r="r" b="b"/>
            <a:pathLst>
              <a:path w="6017379" h="6172200">
                <a:moveTo>
                  <a:pt x="0" y="0"/>
                </a:moveTo>
                <a:lnTo>
                  <a:pt x="6017379" y="0"/>
                </a:lnTo>
                <a:lnTo>
                  <a:pt x="6017379"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rot="-8883284">
            <a:off x="12058233" y="6722138"/>
            <a:ext cx="8481745" cy="8785235"/>
          </a:xfrm>
          <a:custGeom>
            <a:avLst/>
            <a:gdLst/>
            <a:ahLst/>
            <a:cxnLst/>
            <a:rect l="l" t="t" r="r" b="b"/>
            <a:pathLst>
              <a:path w="8481745" h="8785235">
                <a:moveTo>
                  <a:pt x="0" y="0"/>
                </a:moveTo>
                <a:lnTo>
                  <a:pt x="8481745" y="0"/>
                </a:lnTo>
                <a:lnTo>
                  <a:pt x="8481745" y="8785235"/>
                </a:lnTo>
                <a:lnTo>
                  <a:pt x="0" y="87852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698202" y="8786001"/>
            <a:ext cx="7276977" cy="4114800"/>
          </a:xfrm>
          <a:custGeom>
            <a:avLst/>
            <a:gdLst/>
            <a:ahLst/>
            <a:cxnLst/>
            <a:rect l="l" t="t" r="r" b="b"/>
            <a:pathLst>
              <a:path w="7276977" h="4114800">
                <a:moveTo>
                  <a:pt x="0" y="0"/>
                </a:moveTo>
                <a:lnTo>
                  <a:pt x="7276977" y="0"/>
                </a:lnTo>
                <a:lnTo>
                  <a:pt x="727697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Freeform 6"/>
          <p:cNvSpPr/>
          <p:nvPr/>
        </p:nvSpPr>
        <p:spPr>
          <a:xfrm>
            <a:off x="3068603" y="8962077"/>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1749075">
            <a:off x="13725665" y="-4062449"/>
            <a:ext cx="6531599" cy="6484096"/>
          </a:xfrm>
          <a:custGeom>
            <a:avLst/>
            <a:gdLst/>
            <a:ahLst/>
            <a:cxnLst/>
            <a:rect l="l" t="t" r="r" b="b"/>
            <a:pathLst>
              <a:path w="6531599" h="6484096">
                <a:moveTo>
                  <a:pt x="0" y="0"/>
                </a:moveTo>
                <a:lnTo>
                  <a:pt x="6531598" y="0"/>
                </a:lnTo>
                <a:lnTo>
                  <a:pt x="6531598" y="6484096"/>
                </a:lnTo>
                <a:lnTo>
                  <a:pt x="0" y="6484096"/>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sp>
      <p:sp>
        <p:nvSpPr>
          <p:cNvPr id="8" name="TextBox 8"/>
          <p:cNvSpPr txBox="1"/>
          <p:nvPr/>
        </p:nvSpPr>
        <p:spPr>
          <a:xfrm>
            <a:off x="1011568" y="2374054"/>
            <a:ext cx="8222406" cy="1025016"/>
          </a:xfrm>
          <a:prstGeom prst="rect">
            <a:avLst/>
          </a:prstGeom>
        </p:spPr>
        <p:txBody>
          <a:bodyPr lIns="0" tIns="0" rIns="0" bIns="0" rtlCol="0" anchor="t">
            <a:spAutoFit/>
          </a:bodyPr>
          <a:lstStyle/>
          <a:p>
            <a:pPr marL="0" lvl="0" indent="0" algn="l">
              <a:lnSpc>
                <a:spcPts val="7468"/>
              </a:lnSpc>
              <a:spcBef>
                <a:spcPct val="0"/>
              </a:spcBef>
            </a:pPr>
            <a:r>
              <a:rPr lang="en-US" sz="7699" b="1">
                <a:solidFill>
                  <a:srgbClr val="303030"/>
                </a:solidFill>
                <a:latin typeface="Hagrid Ultra-Bold"/>
                <a:ea typeface="Hagrid Ultra-Bold"/>
                <a:cs typeface="Hagrid Ultra-Bold"/>
                <a:sym typeface="Hagrid Ultra-Bold"/>
              </a:rPr>
              <a:t>OBJE</a:t>
            </a:r>
            <a:r>
              <a:rPr lang="en-US" sz="7699" b="1" u="none" strike="noStrike">
                <a:solidFill>
                  <a:srgbClr val="303030"/>
                </a:solidFill>
                <a:latin typeface="Hagrid Ultra-Bold"/>
                <a:ea typeface="Hagrid Ultra-Bold"/>
                <a:cs typeface="Hagrid Ultra-Bold"/>
                <a:sym typeface="Hagrid Ultra-Bold"/>
              </a:rPr>
              <a:t>CTIVE</a:t>
            </a:r>
          </a:p>
        </p:txBody>
      </p:sp>
      <p:sp>
        <p:nvSpPr>
          <p:cNvPr id="9" name="TextBox 9"/>
          <p:cNvSpPr txBox="1"/>
          <p:nvPr/>
        </p:nvSpPr>
        <p:spPr>
          <a:xfrm>
            <a:off x="831619" y="3876860"/>
            <a:ext cx="8927373" cy="3695243"/>
          </a:xfrm>
          <a:prstGeom prst="rect">
            <a:avLst/>
          </a:prstGeom>
        </p:spPr>
        <p:txBody>
          <a:bodyPr lIns="0" tIns="0" rIns="0" bIns="0" rtlCol="0" anchor="t">
            <a:spAutoFit/>
          </a:bodyPr>
          <a:lstStyle/>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design and develop a basic shell that can interpret and execute commands.</a:t>
            </a:r>
          </a:p>
          <a:p>
            <a:pPr algn="just">
              <a:lnSpc>
                <a:spcPts val="3225"/>
              </a:lnSpc>
            </a:pPr>
            <a:endParaRPr lang="en-US" sz="2560" b="1" spc="-128">
              <a:solidFill>
                <a:srgbClr val="303030"/>
              </a:solidFill>
              <a:latin typeface="Roboto Bold"/>
              <a:ea typeface="Roboto Bold"/>
              <a:cs typeface="Roboto Bold"/>
              <a:sym typeface="Roboto Bold"/>
            </a:endParaRPr>
          </a:p>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provide custom features such as command history, simple scripting, and piping.</a:t>
            </a:r>
          </a:p>
          <a:p>
            <a:pPr algn="just">
              <a:lnSpc>
                <a:spcPts val="3225"/>
              </a:lnSpc>
            </a:pPr>
            <a:endParaRPr lang="en-US" sz="2560" b="1" spc="-128">
              <a:solidFill>
                <a:srgbClr val="303030"/>
              </a:solidFill>
              <a:latin typeface="Roboto Bold"/>
              <a:ea typeface="Roboto Bold"/>
              <a:cs typeface="Roboto Bold"/>
              <a:sym typeface="Roboto Bold"/>
            </a:endParaRPr>
          </a:p>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help users understand how shells process user input and manage system processes.</a:t>
            </a:r>
          </a:p>
          <a:p>
            <a:pPr algn="just">
              <a:lnSpc>
                <a:spcPts val="3225"/>
              </a:lnSpc>
            </a:pPr>
            <a:endParaRPr lang="en-US" sz="2560" b="1" spc="-128">
              <a:solidFill>
                <a:srgbClr val="303030"/>
              </a:solidFill>
              <a:latin typeface="Roboto Bold"/>
              <a:ea typeface="Roboto Bold"/>
              <a:cs typeface="Roboto Bold"/>
              <a:sym typeface="Roboto Bold"/>
            </a:endParaRPr>
          </a:p>
        </p:txBody>
      </p:sp>
      <p:sp>
        <p:nvSpPr>
          <p:cNvPr id="10" name="Freeform 10"/>
          <p:cNvSpPr/>
          <p:nvPr/>
        </p:nvSpPr>
        <p:spPr>
          <a:xfrm rot="10638666">
            <a:off x="10050808" y="-1976392"/>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grpSp>
        <p:nvGrpSpPr>
          <p:cNvPr id="2" name="Group 2"/>
          <p:cNvGrpSpPr/>
          <p:nvPr/>
        </p:nvGrpSpPr>
        <p:grpSpPr>
          <a:xfrm>
            <a:off x="1442364" y="4638555"/>
            <a:ext cx="4863014" cy="1386211"/>
            <a:chOff x="0" y="0"/>
            <a:chExt cx="1280794" cy="365093"/>
          </a:xfrm>
        </p:grpSpPr>
        <p:sp>
          <p:nvSpPr>
            <p:cNvPr id="3" name="Freeform 3"/>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4" name="TextBox 4"/>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1982621" y="4638555"/>
            <a:ext cx="4863014" cy="1386211"/>
            <a:chOff x="0" y="0"/>
            <a:chExt cx="1280794" cy="365093"/>
          </a:xfrm>
        </p:grpSpPr>
        <p:sp>
          <p:nvSpPr>
            <p:cNvPr id="6" name="Freeform 6"/>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7" name="TextBox 7"/>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982621" y="6668803"/>
            <a:ext cx="4863014" cy="1386211"/>
            <a:chOff x="0" y="0"/>
            <a:chExt cx="1280794" cy="365093"/>
          </a:xfrm>
        </p:grpSpPr>
        <p:sp>
          <p:nvSpPr>
            <p:cNvPr id="9" name="Freeform 9"/>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0" name="TextBox 10"/>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708265" y="4638555"/>
            <a:ext cx="4863014" cy="1386211"/>
            <a:chOff x="0" y="0"/>
            <a:chExt cx="1280794" cy="365093"/>
          </a:xfrm>
        </p:grpSpPr>
        <p:sp>
          <p:nvSpPr>
            <p:cNvPr id="12" name="Freeform 12"/>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3" name="TextBox 13"/>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6708265" y="6668803"/>
            <a:ext cx="4863014" cy="1386211"/>
            <a:chOff x="0" y="0"/>
            <a:chExt cx="1280794" cy="365093"/>
          </a:xfrm>
        </p:grpSpPr>
        <p:sp>
          <p:nvSpPr>
            <p:cNvPr id="15" name="Freeform 15"/>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16" name="TextBox 16"/>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442364" y="6668803"/>
            <a:ext cx="4863014" cy="1386211"/>
            <a:chOff x="0" y="0"/>
            <a:chExt cx="1280794" cy="365093"/>
          </a:xfrm>
        </p:grpSpPr>
        <p:sp>
          <p:nvSpPr>
            <p:cNvPr id="18" name="Freeform 18"/>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9" name="TextBox 19"/>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3578984" y="668233"/>
            <a:ext cx="2849365" cy="2771655"/>
          </a:xfrm>
          <a:custGeom>
            <a:avLst/>
            <a:gdLst/>
            <a:ahLst/>
            <a:cxnLst/>
            <a:rect l="l" t="t" r="r" b="b"/>
            <a:pathLst>
              <a:path w="2849365" h="2771655">
                <a:moveTo>
                  <a:pt x="0" y="0"/>
                </a:moveTo>
                <a:lnTo>
                  <a:pt x="2849365" y="0"/>
                </a:lnTo>
                <a:lnTo>
                  <a:pt x="2849365" y="2771655"/>
                </a:lnTo>
                <a:lnTo>
                  <a:pt x="0" y="27716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1855424" y="1291323"/>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7125552" y="7857209"/>
            <a:ext cx="5489215" cy="3582960"/>
          </a:xfrm>
          <a:custGeom>
            <a:avLst/>
            <a:gdLst/>
            <a:ahLst/>
            <a:cxnLst/>
            <a:rect l="l" t="t" r="r" b="b"/>
            <a:pathLst>
              <a:path w="5489215" h="3582960">
                <a:moveTo>
                  <a:pt x="0" y="0"/>
                </a:moveTo>
                <a:lnTo>
                  <a:pt x="5489215" y="0"/>
                </a:lnTo>
                <a:lnTo>
                  <a:pt x="5489215" y="3582960"/>
                </a:lnTo>
                <a:lnTo>
                  <a:pt x="0" y="358296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23" name="Freeform 23"/>
          <p:cNvSpPr/>
          <p:nvPr/>
        </p:nvSpPr>
        <p:spPr>
          <a:xfrm rot="2700000">
            <a:off x="12235346" y="820186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24" name="TextBox 24"/>
          <p:cNvSpPr txBox="1"/>
          <p:nvPr/>
        </p:nvSpPr>
        <p:spPr>
          <a:xfrm>
            <a:off x="4337389" y="2393910"/>
            <a:ext cx="9611108" cy="1045978"/>
          </a:xfrm>
          <a:prstGeom prst="rect">
            <a:avLst/>
          </a:prstGeom>
        </p:spPr>
        <p:txBody>
          <a:bodyPr lIns="0" tIns="0" rIns="0" bIns="0" rtlCol="0" anchor="t">
            <a:spAutoFit/>
          </a:bodyPr>
          <a:lstStyle/>
          <a:p>
            <a:pPr marL="0" lvl="0" indent="0" algn="ctr">
              <a:lnSpc>
                <a:spcPts val="7532"/>
              </a:lnSpc>
              <a:spcBef>
                <a:spcPct val="0"/>
              </a:spcBef>
            </a:pPr>
            <a:r>
              <a:rPr lang="en-US" sz="7765" b="1">
                <a:solidFill>
                  <a:srgbClr val="303030"/>
                </a:solidFill>
                <a:latin typeface="Hagrid Ultra-Bold"/>
                <a:ea typeface="Hagrid Ultra-Bold"/>
                <a:cs typeface="Hagrid Ultra-Bold"/>
                <a:sym typeface="Hagrid Ultra-Bold"/>
              </a:rPr>
              <a:t>METHODOLOGY</a:t>
            </a:r>
          </a:p>
        </p:txBody>
      </p:sp>
      <p:sp>
        <p:nvSpPr>
          <p:cNvPr id="25" name="TextBox 25"/>
          <p:cNvSpPr txBox="1"/>
          <p:nvPr/>
        </p:nvSpPr>
        <p:spPr>
          <a:xfrm>
            <a:off x="12397794" y="4788736"/>
            <a:ext cx="4032668" cy="43180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Impl</a:t>
            </a:r>
            <a:r>
              <a:rPr lang="en-US" sz="2500" b="1" u="none" strike="noStrike">
                <a:solidFill>
                  <a:srgbClr val="303030"/>
                </a:solidFill>
                <a:latin typeface="Roboto Bold"/>
                <a:ea typeface="Roboto Bold"/>
                <a:cs typeface="Roboto Bold"/>
                <a:sym typeface="Roboto Bold"/>
              </a:rPr>
              <a:t>ement using Python.</a:t>
            </a:r>
          </a:p>
        </p:txBody>
      </p:sp>
      <p:sp>
        <p:nvSpPr>
          <p:cNvPr id="26" name="TextBox 26"/>
          <p:cNvSpPr txBox="1"/>
          <p:nvPr/>
        </p:nvSpPr>
        <p:spPr>
          <a:xfrm>
            <a:off x="12395681"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Debug</a:t>
            </a:r>
            <a:r>
              <a:rPr lang="en-US" sz="2500" b="1" u="none" strike="noStrike">
                <a:solidFill>
                  <a:srgbClr val="303030"/>
                </a:solidFill>
                <a:latin typeface="Roboto Bold"/>
                <a:ea typeface="Roboto Bold"/>
                <a:cs typeface="Roboto Bold"/>
                <a:sym typeface="Roboto Bold"/>
              </a:rPr>
              <a:t> and improve based on results.</a:t>
            </a:r>
          </a:p>
        </p:txBody>
      </p:sp>
      <p:sp>
        <p:nvSpPr>
          <p:cNvPr id="27" name="TextBox 27"/>
          <p:cNvSpPr txBox="1"/>
          <p:nvPr/>
        </p:nvSpPr>
        <p:spPr>
          <a:xfrm>
            <a:off x="7125552" y="4788736"/>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D</a:t>
            </a:r>
            <a:r>
              <a:rPr lang="en-US" sz="2500" b="1" u="none" strike="noStrike">
                <a:solidFill>
                  <a:srgbClr val="303030"/>
                </a:solidFill>
                <a:latin typeface="Roboto Bold"/>
                <a:ea typeface="Roboto Bold"/>
                <a:cs typeface="Roboto Bold"/>
                <a:sym typeface="Roboto Bold"/>
              </a:rPr>
              <a:t>esign the shell architecture.</a:t>
            </a:r>
          </a:p>
        </p:txBody>
      </p:sp>
      <p:sp>
        <p:nvSpPr>
          <p:cNvPr id="28" name="TextBox 28"/>
          <p:cNvSpPr txBox="1"/>
          <p:nvPr/>
        </p:nvSpPr>
        <p:spPr>
          <a:xfrm>
            <a:off x="1640684" y="4788736"/>
            <a:ext cx="4447841"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An</a:t>
            </a:r>
            <a:r>
              <a:rPr lang="en-US" sz="2500" b="1" u="none" strike="noStrike">
                <a:solidFill>
                  <a:srgbClr val="303030"/>
                </a:solidFill>
                <a:latin typeface="Roboto Bold"/>
                <a:ea typeface="Roboto Bold"/>
                <a:cs typeface="Roboto Bold"/>
                <a:sym typeface="Roboto Bold"/>
              </a:rPr>
              <a:t>alyze requirements to identify core features.</a:t>
            </a:r>
          </a:p>
        </p:txBody>
      </p:sp>
      <p:sp>
        <p:nvSpPr>
          <p:cNvPr id="29" name="TextBox 29"/>
          <p:cNvSpPr txBox="1"/>
          <p:nvPr/>
        </p:nvSpPr>
        <p:spPr>
          <a:xfrm>
            <a:off x="7123438"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T</a:t>
            </a:r>
            <a:r>
              <a:rPr lang="en-US" sz="2500" b="1" u="none" strike="noStrike">
                <a:solidFill>
                  <a:srgbClr val="303030"/>
                </a:solidFill>
                <a:latin typeface="Roboto Bold"/>
                <a:ea typeface="Roboto Bold"/>
                <a:cs typeface="Roboto Bold"/>
                <a:sym typeface="Roboto Bold"/>
              </a:rPr>
              <a:t>est with sample commands and scripts.</a:t>
            </a:r>
          </a:p>
        </p:txBody>
      </p:sp>
      <p:sp>
        <p:nvSpPr>
          <p:cNvPr id="30" name="TextBox 30"/>
          <p:cNvSpPr txBox="1"/>
          <p:nvPr/>
        </p:nvSpPr>
        <p:spPr>
          <a:xfrm>
            <a:off x="1855424"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Par</a:t>
            </a:r>
            <a:r>
              <a:rPr lang="en-US" sz="2500" b="1" u="none" strike="noStrike">
                <a:solidFill>
                  <a:srgbClr val="303030"/>
                </a:solidFill>
                <a:latin typeface="Roboto Bold"/>
                <a:ea typeface="Roboto Bold"/>
                <a:cs typeface="Roboto Bold"/>
                <a:sym typeface="Roboto Bold"/>
              </a:rPr>
              <a:t>se and execute commands.</a:t>
            </a:r>
          </a:p>
        </p:txBody>
      </p:sp>
      <p:sp>
        <p:nvSpPr>
          <p:cNvPr id="31" name="Freeform 31"/>
          <p:cNvSpPr/>
          <p:nvPr/>
        </p:nvSpPr>
        <p:spPr>
          <a:xfrm>
            <a:off x="-522214" y="8620628"/>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1296533" y="3380422"/>
            <a:ext cx="6191367" cy="5189492"/>
          </a:xfrm>
          <a:custGeom>
            <a:avLst/>
            <a:gdLst/>
            <a:ahLst/>
            <a:cxnLst/>
            <a:rect l="l" t="t" r="r" b="b"/>
            <a:pathLst>
              <a:path w="6191367" h="5189492">
                <a:moveTo>
                  <a:pt x="0" y="0"/>
                </a:moveTo>
                <a:lnTo>
                  <a:pt x="6191367" y="0"/>
                </a:lnTo>
                <a:lnTo>
                  <a:pt x="6191367" y="5189492"/>
                </a:lnTo>
                <a:lnTo>
                  <a:pt x="0" y="51894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1028700" y="2261480"/>
            <a:ext cx="11037608"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PROJECT TIMELINE</a:t>
            </a:r>
          </a:p>
        </p:txBody>
      </p:sp>
      <p:sp>
        <p:nvSpPr>
          <p:cNvPr id="4" name="TextBox 4"/>
          <p:cNvSpPr txBox="1"/>
          <p:nvPr/>
        </p:nvSpPr>
        <p:spPr>
          <a:xfrm>
            <a:off x="1028700" y="3932284"/>
            <a:ext cx="9895316" cy="4480103"/>
          </a:xfrm>
          <a:prstGeom prst="rect">
            <a:avLst/>
          </a:prstGeom>
        </p:spPr>
        <p:txBody>
          <a:bodyPr lIns="0" tIns="0" rIns="0" bIns="0" rtlCol="0" anchor="t">
            <a:spAutoFit/>
          </a:bodyPr>
          <a:lstStyle/>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Start with basic research and understanding what the shell needs to do.</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Then design how the shell will work and plan its structure.</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After that, build the main features like command parsing and running commands.</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Add extra features such as command history and piping.</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Finally, test everything, fix issues, and prepare the documentation and presentation.</a:t>
            </a:r>
          </a:p>
        </p:txBody>
      </p:sp>
      <p:sp>
        <p:nvSpPr>
          <p:cNvPr id="5" name="Freeform 5"/>
          <p:cNvSpPr/>
          <p:nvPr/>
        </p:nvSpPr>
        <p:spPr>
          <a:xfrm>
            <a:off x="1320965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978608">
            <a:off x="11557508" y="8342216"/>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2700000">
            <a:off x="8109390" y="857309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463958">
            <a:off x="13136596" y="7365613"/>
            <a:ext cx="7536020" cy="4288681"/>
          </a:xfrm>
          <a:custGeom>
            <a:avLst/>
            <a:gdLst/>
            <a:ahLst/>
            <a:cxnLst/>
            <a:rect l="l" t="t" r="r" b="b"/>
            <a:pathLst>
              <a:path w="7536020" h="4288681">
                <a:moveTo>
                  <a:pt x="0" y="0"/>
                </a:moveTo>
                <a:lnTo>
                  <a:pt x="7536021" y="0"/>
                </a:lnTo>
                <a:lnTo>
                  <a:pt x="7536021" y="4288681"/>
                </a:lnTo>
                <a:lnTo>
                  <a:pt x="0" y="4288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748601" y="7823739"/>
            <a:ext cx="8021099" cy="5235590"/>
          </a:xfrm>
          <a:custGeom>
            <a:avLst/>
            <a:gdLst/>
            <a:ahLst/>
            <a:cxnLst/>
            <a:rect l="l" t="t" r="r" b="b"/>
            <a:pathLst>
              <a:path w="8021099" h="5235590">
                <a:moveTo>
                  <a:pt x="0" y="0"/>
                </a:moveTo>
                <a:lnTo>
                  <a:pt x="8021099" y="0"/>
                </a:lnTo>
                <a:lnTo>
                  <a:pt x="8021099" y="5235590"/>
                </a:lnTo>
                <a:lnTo>
                  <a:pt x="0" y="52355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5559" y="9133709"/>
            <a:ext cx="6985000" cy="4114800"/>
          </a:xfrm>
          <a:custGeom>
            <a:avLst/>
            <a:gdLst/>
            <a:ahLst/>
            <a:cxnLst/>
            <a:rect l="l" t="t" r="r" b="b"/>
            <a:pathLst>
              <a:path w="6985000" h="4114800">
                <a:moveTo>
                  <a:pt x="0" y="0"/>
                </a:moveTo>
                <a:lnTo>
                  <a:pt x="6985000" y="0"/>
                </a:lnTo>
                <a:lnTo>
                  <a:pt x="69850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047747" y="8560210"/>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6090050" y="319598"/>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2870045" y="538673"/>
            <a:ext cx="12547910" cy="2686209"/>
          </a:xfrm>
          <a:prstGeom prst="rect">
            <a:avLst/>
          </a:prstGeom>
        </p:spPr>
        <p:txBody>
          <a:bodyPr lIns="0" tIns="0" rIns="0" bIns="0" rtlCol="0" anchor="t">
            <a:spAutoFit/>
          </a:bodyPr>
          <a:lstStyle/>
          <a:p>
            <a:pPr marL="0" lvl="0" indent="0" algn="ctr">
              <a:lnSpc>
                <a:spcPts val="9997"/>
              </a:lnSpc>
              <a:spcBef>
                <a:spcPct val="0"/>
              </a:spcBef>
            </a:pPr>
            <a:r>
              <a:rPr lang="en-US" sz="10306" b="1">
                <a:solidFill>
                  <a:srgbClr val="303030"/>
                </a:solidFill>
                <a:latin typeface="Hagrid Ultra-Bold"/>
                <a:ea typeface="Hagrid Ultra-Bold"/>
                <a:cs typeface="Hagrid Ultra-Bold"/>
                <a:sym typeface="Hagrid Ultra-Bold"/>
              </a:rPr>
              <a:t>FLOWCHART &amp; TOOLS</a:t>
            </a:r>
          </a:p>
        </p:txBody>
      </p:sp>
      <p:sp>
        <p:nvSpPr>
          <p:cNvPr id="8" name="TextBox 8"/>
          <p:cNvSpPr txBox="1"/>
          <p:nvPr/>
        </p:nvSpPr>
        <p:spPr>
          <a:xfrm>
            <a:off x="2307261" y="5459629"/>
            <a:ext cx="9191011" cy="273444"/>
          </a:xfrm>
          <a:prstGeom prst="rect">
            <a:avLst/>
          </a:prstGeom>
        </p:spPr>
        <p:txBody>
          <a:bodyPr lIns="0" tIns="0" rIns="0" bIns="0" rtlCol="0" anchor="t">
            <a:spAutoFit/>
          </a:bodyPr>
          <a:lstStyle/>
          <a:p>
            <a:pPr algn="ctr">
              <a:lnSpc>
                <a:spcPts val="2034"/>
              </a:lnSpc>
            </a:pPr>
            <a:r>
              <a:rPr lang="en-US" sz="1614" b="1" spc="-80">
                <a:solidFill>
                  <a:srgbClr val="303030"/>
                </a:solidFill>
                <a:latin typeface="Roboto Bold"/>
                <a:ea typeface="Roboto Bold"/>
                <a:cs typeface="Roboto Bold"/>
                <a:sym typeface="Roboto Bold"/>
              </a:rPr>
              <a:t>Programming Language: Python</a:t>
            </a:r>
          </a:p>
        </p:txBody>
      </p:sp>
      <p:grpSp>
        <p:nvGrpSpPr>
          <p:cNvPr id="9" name="Group 9"/>
          <p:cNvGrpSpPr/>
          <p:nvPr/>
        </p:nvGrpSpPr>
        <p:grpSpPr>
          <a:xfrm>
            <a:off x="12889227" y="3213281"/>
            <a:ext cx="2960604" cy="2442234"/>
            <a:chOff x="0" y="0"/>
            <a:chExt cx="3947471" cy="3256312"/>
          </a:xfrm>
        </p:grpSpPr>
        <p:sp>
          <p:nvSpPr>
            <p:cNvPr id="10" name="Freeform 10"/>
            <p:cNvSpPr/>
            <p:nvPr/>
          </p:nvSpPr>
          <p:spPr>
            <a:xfrm>
              <a:off x="0" y="0"/>
              <a:ext cx="3947471" cy="2751335"/>
            </a:xfrm>
            <a:custGeom>
              <a:avLst/>
              <a:gdLst/>
              <a:ahLst/>
              <a:cxnLst/>
              <a:rect l="l" t="t" r="r" b="b"/>
              <a:pathLst>
                <a:path w="3947471" h="2751335">
                  <a:moveTo>
                    <a:pt x="0" y="0"/>
                  </a:moveTo>
                  <a:lnTo>
                    <a:pt x="3947471" y="0"/>
                  </a:lnTo>
                  <a:lnTo>
                    <a:pt x="3947471" y="2751335"/>
                  </a:lnTo>
                  <a:lnTo>
                    <a:pt x="0" y="2751335"/>
                  </a:lnTo>
                  <a:lnTo>
                    <a:pt x="0" y="0"/>
                  </a:lnTo>
                  <a:close/>
                </a:path>
              </a:pathLst>
            </a:custGeom>
            <a:blipFill>
              <a:blip r:embed="rId12"/>
              <a:stretch>
                <a:fillRect l="-2274" r="-2274"/>
              </a:stretch>
            </a:blipFill>
          </p:spPr>
        </p:sp>
        <p:sp>
          <p:nvSpPr>
            <p:cNvPr id="11" name="TextBox 11"/>
            <p:cNvSpPr txBox="1"/>
            <p:nvPr/>
          </p:nvSpPr>
          <p:spPr>
            <a:xfrm>
              <a:off x="207977" y="2901194"/>
              <a:ext cx="3531517" cy="355117"/>
            </a:xfrm>
            <a:prstGeom prst="rect">
              <a:avLst/>
            </a:prstGeom>
          </p:spPr>
          <p:txBody>
            <a:bodyPr lIns="0" tIns="0" rIns="0" bIns="0" rtlCol="0" anchor="t">
              <a:spAutoFit/>
            </a:bodyPr>
            <a:lstStyle/>
            <a:p>
              <a:pPr algn="ctr">
                <a:lnSpc>
                  <a:spcPts val="2028"/>
                </a:lnSpc>
              </a:pPr>
              <a:r>
                <a:rPr lang="en-US" sz="1610" b="1" spc="-80">
                  <a:solidFill>
                    <a:srgbClr val="303030"/>
                  </a:solidFill>
                  <a:latin typeface="Roboto Bold"/>
                  <a:ea typeface="Roboto Bold"/>
                  <a:cs typeface="Roboto Bold"/>
                  <a:sym typeface="Roboto Bold"/>
                </a:rPr>
                <a:t>Operating System: Linux</a:t>
              </a:r>
            </a:p>
          </p:txBody>
        </p:sp>
      </p:grpSp>
      <p:sp>
        <p:nvSpPr>
          <p:cNvPr id="12" name="TextBox 12"/>
          <p:cNvSpPr txBox="1"/>
          <p:nvPr/>
        </p:nvSpPr>
        <p:spPr>
          <a:xfrm>
            <a:off x="7271380" y="8042814"/>
            <a:ext cx="6498320" cy="243978"/>
          </a:xfrm>
          <a:prstGeom prst="rect">
            <a:avLst/>
          </a:prstGeom>
        </p:spPr>
        <p:txBody>
          <a:bodyPr lIns="0" tIns="0" rIns="0" bIns="0" rtlCol="0" anchor="t">
            <a:spAutoFit/>
          </a:bodyPr>
          <a:lstStyle/>
          <a:p>
            <a:pPr algn="ctr">
              <a:lnSpc>
                <a:spcPts val="2028"/>
              </a:lnSpc>
            </a:pPr>
            <a:r>
              <a:rPr lang="en-US" sz="1610" b="1" spc="-80" dirty="0">
                <a:solidFill>
                  <a:srgbClr val="303030"/>
                </a:solidFill>
                <a:latin typeface="Roboto Bold"/>
                <a:ea typeface="Roboto Bold"/>
                <a:cs typeface="Roboto Bold"/>
                <a:sym typeface="Roboto Bold"/>
              </a:rPr>
              <a:t>GUI / Frontend : </a:t>
            </a:r>
            <a:r>
              <a:rPr lang="en-US" sz="1610" b="1" spc="-80" dirty="0" err="1">
                <a:solidFill>
                  <a:srgbClr val="303030"/>
                </a:solidFill>
                <a:latin typeface="Roboto Bold"/>
                <a:ea typeface="Roboto Bold"/>
                <a:cs typeface="Roboto Bold"/>
                <a:sym typeface="Roboto Bold"/>
              </a:rPr>
              <a:t>Tkinter</a:t>
            </a:r>
            <a:endParaRPr lang="en-US" sz="1610" b="1" spc="-80" dirty="0">
              <a:solidFill>
                <a:srgbClr val="303030"/>
              </a:solidFill>
              <a:latin typeface="Roboto Bold"/>
              <a:ea typeface="Roboto Bold"/>
              <a:cs typeface="Roboto Bold"/>
              <a:sym typeface="Roboto Bold"/>
            </a:endParaRPr>
          </a:p>
        </p:txBody>
      </p:sp>
      <p:sp>
        <p:nvSpPr>
          <p:cNvPr id="13" name="Freeform 13"/>
          <p:cNvSpPr/>
          <p:nvPr/>
        </p:nvSpPr>
        <p:spPr>
          <a:xfrm>
            <a:off x="715112" y="2020945"/>
            <a:ext cx="3699886" cy="6245110"/>
          </a:xfrm>
          <a:custGeom>
            <a:avLst/>
            <a:gdLst/>
            <a:ahLst/>
            <a:cxnLst/>
            <a:rect l="l" t="t" r="r" b="b"/>
            <a:pathLst>
              <a:path w="3699886" h="6245110">
                <a:moveTo>
                  <a:pt x="0" y="0"/>
                </a:moveTo>
                <a:lnTo>
                  <a:pt x="3699886" y="0"/>
                </a:lnTo>
                <a:lnTo>
                  <a:pt x="3699886" y="6245110"/>
                </a:lnTo>
                <a:lnTo>
                  <a:pt x="0" y="6245110"/>
                </a:lnTo>
                <a:lnTo>
                  <a:pt x="0" y="0"/>
                </a:lnTo>
                <a:close/>
              </a:path>
            </a:pathLst>
          </a:custGeom>
          <a:blipFill>
            <a:blip r:embed="rId13"/>
            <a:stretch>
              <a:fillRect/>
            </a:stretch>
          </a:blipFill>
        </p:spPr>
      </p:sp>
      <p:sp>
        <p:nvSpPr>
          <p:cNvPr id="14" name="Freeform 14"/>
          <p:cNvSpPr/>
          <p:nvPr/>
        </p:nvSpPr>
        <p:spPr>
          <a:xfrm>
            <a:off x="5681926" y="3139444"/>
            <a:ext cx="2584660" cy="2101110"/>
          </a:xfrm>
          <a:custGeom>
            <a:avLst/>
            <a:gdLst/>
            <a:ahLst/>
            <a:cxnLst/>
            <a:rect l="l" t="t" r="r" b="b"/>
            <a:pathLst>
              <a:path w="2584660" h="2101110">
                <a:moveTo>
                  <a:pt x="0" y="0"/>
                </a:moveTo>
                <a:lnTo>
                  <a:pt x="2584659" y="0"/>
                </a:lnTo>
                <a:lnTo>
                  <a:pt x="2584659" y="2101110"/>
                </a:lnTo>
                <a:lnTo>
                  <a:pt x="0" y="2101110"/>
                </a:lnTo>
                <a:lnTo>
                  <a:pt x="0" y="0"/>
                </a:lnTo>
                <a:close/>
              </a:path>
            </a:pathLst>
          </a:custGeom>
          <a:blipFill>
            <a:blip r:embed="rId14"/>
            <a:stretch>
              <a:fillRect l="-7625" t="-15710" b="-16684"/>
            </a:stretch>
          </a:blipFill>
        </p:spPr>
      </p:sp>
      <p:sp>
        <p:nvSpPr>
          <p:cNvPr id="15" name="Freeform 15"/>
          <p:cNvSpPr/>
          <p:nvPr/>
        </p:nvSpPr>
        <p:spPr>
          <a:xfrm>
            <a:off x="8294171" y="6134877"/>
            <a:ext cx="4360854" cy="1688861"/>
          </a:xfrm>
          <a:custGeom>
            <a:avLst/>
            <a:gdLst/>
            <a:ahLst/>
            <a:cxnLst/>
            <a:rect l="l" t="t" r="r" b="b"/>
            <a:pathLst>
              <a:path w="4360854" h="1688861">
                <a:moveTo>
                  <a:pt x="0" y="0"/>
                </a:moveTo>
                <a:lnTo>
                  <a:pt x="4360854" y="0"/>
                </a:lnTo>
                <a:lnTo>
                  <a:pt x="4360854" y="1688862"/>
                </a:lnTo>
                <a:lnTo>
                  <a:pt x="0" y="1688862"/>
                </a:lnTo>
                <a:lnTo>
                  <a:pt x="0" y="0"/>
                </a:lnTo>
                <a:close/>
              </a:path>
            </a:pathLst>
          </a:custGeom>
          <a:blipFill>
            <a:blip r:embed="rId15"/>
            <a:stretch>
              <a:fillRect t="-25858" r="-2063" b="-32653"/>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1296533" y="3380422"/>
            <a:ext cx="6191367" cy="5189492"/>
          </a:xfrm>
          <a:custGeom>
            <a:avLst/>
            <a:gdLst/>
            <a:ahLst/>
            <a:cxnLst/>
            <a:rect l="l" t="t" r="r" b="b"/>
            <a:pathLst>
              <a:path w="6191367" h="5189492">
                <a:moveTo>
                  <a:pt x="0" y="0"/>
                </a:moveTo>
                <a:lnTo>
                  <a:pt x="6191367" y="0"/>
                </a:lnTo>
                <a:lnTo>
                  <a:pt x="6191367" y="5189492"/>
                </a:lnTo>
                <a:lnTo>
                  <a:pt x="0" y="51894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1028700" y="1190625"/>
            <a:ext cx="11937352" cy="2027053"/>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TEAM MEMBERS AND RESPONSIBILITES</a:t>
            </a:r>
          </a:p>
        </p:txBody>
      </p:sp>
      <p:sp>
        <p:nvSpPr>
          <p:cNvPr id="4" name="TextBox 4"/>
          <p:cNvSpPr txBox="1"/>
          <p:nvPr/>
        </p:nvSpPr>
        <p:spPr>
          <a:xfrm>
            <a:off x="1028700" y="4095199"/>
            <a:ext cx="10155345" cy="3312702"/>
          </a:xfrm>
          <a:prstGeom prst="rect">
            <a:avLst/>
          </a:prstGeom>
        </p:spPr>
        <p:txBody>
          <a:bodyPr lIns="0" tIns="0" rIns="0" bIns="0" rtlCol="0" anchor="t">
            <a:spAutoFit/>
          </a:bodyPr>
          <a:lstStyle/>
          <a:p>
            <a:pPr marL="567227" lvl="1" indent="-283614" algn="just">
              <a:lnSpc>
                <a:spcPts val="5307"/>
              </a:lnSpc>
              <a:buAutoNum type="arabicPeriod"/>
            </a:pPr>
            <a:r>
              <a:rPr lang="en-US" sz="2627" b="1" spc="18" dirty="0">
                <a:solidFill>
                  <a:srgbClr val="303030"/>
                </a:solidFill>
                <a:latin typeface="Roboto Bold"/>
                <a:ea typeface="Roboto Bold"/>
                <a:cs typeface="Roboto Bold"/>
                <a:sym typeface="Roboto Bold"/>
              </a:rPr>
              <a:t>Shahriar Imtiaz Limon - System Design and Research</a:t>
            </a:r>
          </a:p>
          <a:p>
            <a:pPr marL="567227" lvl="1" indent="-283614" algn="just">
              <a:lnSpc>
                <a:spcPts val="5307"/>
              </a:lnSpc>
              <a:buAutoNum type="arabicPeriod"/>
            </a:pPr>
            <a:r>
              <a:rPr lang="en-US" sz="2627" b="1" spc="18" dirty="0" err="1">
                <a:solidFill>
                  <a:srgbClr val="303030"/>
                </a:solidFill>
                <a:latin typeface="Roboto Bold"/>
                <a:ea typeface="Roboto Bold"/>
                <a:cs typeface="Roboto Bold"/>
                <a:sym typeface="Roboto Bold"/>
              </a:rPr>
              <a:t>Mosabbir</a:t>
            </a:r>
            <a:r>
              <a:rPr lang="en-US" sz="2627" b="1" spc="18" dirty="0">
                <a:solidFill>
                  <a:srgbClr val="303030"/>
                </a:solidFill>
                <a:latin typeface="Roboto Bold"/>
                <a:ea typeface="Roboto Bold"/>
                <a:cs typeface="Roboto Bold"/>
                <a:sym typeface="Roboto Bold"/>
              </a:rPr>
              <a:t> </a:t>
            </a:r>
            <a:r>
              <a:rPr lang="en-US" sz="2627" b="1" spc="18" dirty="0" err="1">
                <a:solidFill>
                  <a:srgbClr val="303030"/>
                </a:solidFill>
                <a:latin typeface="Roboto Bold"/>
                <a:ea typeface="Roboto Bold"/>
                <a:cs typeface="Roboto Bold"/>
                <a:sym typeface="Roboto Bold"/>
              </a:rPr>
              <a:t>Hossen</a:t>
            </a:r>
            <a:r>
              <a:rPr lang="en-US" sz="2627" b="1" spc="18" dirty="0">
                <a:solidFill>
                  <a:srgbClr val="303030"/>
                </a:solidFill>
                <a:latin typeface="Roboto Bold"/>
                <a:ea typeface="Roboto Bold"/>
                <a:cs typeface="Roboto Bold"/>
                <a:sym typeface="Roboto Bold"/>
              </a:rPr>
              <a:t> Maruf - Frontend, Project Report</a:t>
            </a:r>
          </a:p>
          <a:p>
            <a:pPr marL="567227" lvl="1" indent="-283614" algn="just">
              <a:lnSpc>
                <a:spcPts val="5307"/>
              </a:lnSpc>
              <a:buAutoNum type="arabicPeriod"/>
            </a:pPr>
            <a:r>
              <a:rPr lang="en-US" sz="2627" b="1" spc="18" dirty="0">
                <a:solidFill>
                  <a:srgbClr val="303030"/>
                </a:solidFill>
                <a:latin typeface="Roboto Bold"/>
                <a:ea typeface="Roboto Bold"/>
                <a:cs typeface="Roboto Bold"/>
                <a:sym typeface="Roboto Bold"/>
              </a:rPr>
              <a:t>Md. Tamim Islam - Backend, Project Report</a:t>
            </a:r>
          </a:p>
          <a:p>
            <a:pPr marL="567227" lvl="1" indent="-283614" algn="just">
              <a:lnSpc>
                <a:spcPts val="5307"/>
              </a:lnSpc>
              <a:buAutoNum type="arabicPeriod"/>
            </a:pPr>
            <a:r>
              <a:rPr lang="en-US" sz="2627" b="1" spc="18" dirty="0">
                <a:solidFill>
                  <a:srgbClr val="303030"/>
                </a:solidFill>
                <a:latin typeface="Roboto Bold"/>
                <a:ea typeface="Roboto Bold"/>
                <a:cs typeface="Roboto Bold"/>
                <a:sym typeface="Roboto Bold"/>
              </a:rPr>
              <a:t>Md. </a:t>
            </a:r>
            <a:r>
              <a:rPr lang="en-US" sz="2627" b="1" spc="18" dirty="0" err="1">
                <a:solidFill>
                  <a:srgbClr val="303030"/>
                </a:solidFill>
                <a:latin typeface="Roboto Bold"/>
                <a:ea typeface="Roboto Bold"/>
                <a:cs typeface="Roboto Bold"/>
                <a:sym typeface="Roboto Bold"/>
              </a:rPr>
              <a:t>Mahidul</a:t>
            </a:r>
            <a:r>
              <a:rPr lang="en-US" sz="2627" b="1" spc="18" dirty="0">
                <a:solidFill>
                  <a:srgbClr val="303030"/>
                </a:solidFill>
                <a:latin typeface="Roboto Bold"/>
                <a:ea typeface="Roboto Bold"/>
                <a:cs typeface="Roboto Bold"/>
                <a:sym typeface="Roboto Bold"/>
              </a:rPr>
              <a:t> Islam  - Backend, Project Report</a:t>
            </a:r>
          </a:p>
          <a:p>
            <a:pPr marL="567227" lvl="1" indent="-283614" algn="just">
              <a:lnSpc>
                <a:spcPts val="5307"/>
              </a:lnSpc>
              <a:buAutoNum type="arabicPeriod"/>
            </a:pPr>
            <a:r>
              <a:rPr lang="en-US" sz="2627" b="1" spc="18" dirty="0">
                <a:solidFill>
                  <a:srgbClr val="303030"/>
                </a:solidFill>
                <a:latin typeface="Roboto Bold"/>
                <a:ea typeface="Roboto Bold"/>
                <a:cs typeface="Roboto Bold"/>
                <a:sym typeface="Roboto Bold"/>
              </a:rPr>
              <a:t>Ibrahim Walid Khan - Backend, Project Report</a:t>
            </a:r>
          </a:p>
        </p:txBody>
      </p:sp>
      <p:sp>
        <p:nvSpPr>
          <p:cNvPr id="5" name="Freeform 5"/>
          <p:cNvSpPr/>
          <p:nvPr/>
        </p:nvSpPr>
        <p:spPr>
          <a:xfrm>
            <a:off x="1320965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978608">
            <a:off x="11557508" y="8342216"/>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2700000">
            <a:off x="8109390" y="857309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grpSp>
        <p:nvGrpSpPr>
          <p:cNvPr id="2" name="Group 2"/>
          <p:cNvGrpSpPr/>
          <p:nvPr/>
        </p:nvGrpSpPr>
        <p:grpSpPr>
          <a:xfrm>
            <a:off x="8637905" y="1336521"/>
            <a:ext cx="6041466" cy="2082029"/>
            <a:chOff x="0" y="0"/>
            <a:chExt cx="1280794" cy="441391"/>
          </a:xfrm>
        </p:grpSpPr>
        <p:sp>
          <p:nvSpPr>
            <p:cNvPr id="3" name="Freeform 3"/>
            <p:cNvSpPr/>
            <p:nvPr/>
          </p:nvSpPr>
          <p:spPr>
            <a:xfrm>
              <a:off x="0" y="0"/>
              <a:ext cx="1280794" cy="441391"/>
            </a:xfrm>
            <a:custGeom>
              <a:avLst/>
              <a:gdLst/>
              <a:ahLst/>
              <a:cxnLst/>
              <a:rect l="l" t="t" r="r" b="b"/>
              <a:pathLst>
                <a:path w="1280794" h="441391">
                  <a:moveTo>
                    <a:pt x="42288" y="0"/>
                  </a:moveTo>
                  <a:lnTo>
                    <a:pt x="1238506" y="0"/>
                  </a:lnTo>
                  <a:cubicBezTo>
                    <a:pt x="1261861" y="0"/>
                    <a:pt x="1280794" y="18933"/>
                    <a:pt x="1280794" y="42288"/>
                  </a:cubicBezTo>
                  <a:lnTo>
                    <a:pt x="1280794" y="399103"/>
                  </a:lnTo>
                  <a:cubicBezTo>
                    <a:pt x="1280794" y="422458"/>
                    <a:pt x="1261861" y="441391"/>
                    <a:pt x="1238506" y="441391"/>
                  </a:cubicBezTo>
                  <a:lnTo>
                    <a:pt x="42288" y="441391"/>
                  </a:lnTo>
                  <a:cubicBezTo>
                    <a:pt x="18933" y="441391"/>
                    <a:pt x="0" y="422458"/>
                    <a:pt x="0" y="399103"/>
                  </a:cubicBezTo>
                  <a:lnTo>
                    <a:pt x="0" y="42288"/>
                  </a:lnTo>
                  <a:cubicBezTo>
                    <a:pt x="0" y="18933"/>
                    <a:pt x="18933" y="0"/>
                    <a:pt x="42288" y="0"/>
                  </a:cubicBezTo>
                  <a:close/>
                </a:path>
              </a:pathLst>
            </a:custGeom>
            <a:solidFill>
              <a:srgbClr val="6EC6CD"/>
            </a:solidFill>
            <a:ln w="38100" cap="rnd">
              <a:solidFill>
                <a:srgbClr val="000000"/>
              </a:solidFill>
              <a:prstDash val="solid"/>
              <a:round/>
            </a:ln>
          </p:spPr>
        </p:sp>
        <p:sp>
          <p:nvSpPr>
            <p:cNvPr id="4" name="TextBox 4"/>
            <p:cNvSpPr txBox="1"/>
            <p:nvPr/>
          </p:nvSpPr>
          <p:spPr>
            <a:xfrm>
              <a:off x="0" y="-38100"/>
              <a:ext cx="1280794" cy="47949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647430" y="3809849"/>
            <a:ext cx="6041466" cy="2007050"/>
            <a:chOff x="0" y="0"/>
            <a:chExt cx="1280794" cy="425496"/>
          </a:xfrm>
        </p:grpSpPr>
        <p:sp>
          <p:nvSpPr>
            <p:cNvPr id="6" name="Freeform 6"/>
            <p:cNvSpPr/>
            <p:nvPr/>
          </p:nvSpPr>
          <p:spPr>
            <a:xfrm>
              <a:off x="0" y="0"/>
              <a:ext cx="1280794" cy="425496"/>
            </a:xfrm>
            <a:custGeom>
              <a:avLst/>
              <a:gdLst/>
              <a:ahLst/>
              <a:cxnLst/>
              <a:rect l="l" t="t" r="r" b="b"/>
              <a:pathLst>
                <a:path w="1280794" h="425496">
                  <a:moveTo>
                    <a:pt x="42288" y="0"/>
                  </a:moveTo>
                  <a:lnTo>
                    <a:pt x="1238506" y="0"/>
                  </a:lnTo>
                  <a:cubicBezTo>
                    <a:pt x="1261861" y="0"/>
                    <a:pt x="1280794" y="18933"/>
                    <a:pt x="1280794" y="42288"/>
                  </a:cubicBezTo>
                  <a:lnTo>
                    <a:pt x="1280794" y="383207"/>
                  </a:lnTo>
                  <a:cubicBezTo>
                    <a:pt x="1280794" y="394423"/>
                    <a:pt x="1276338" y="405179"/>
                    <a:pt x="1268408" y="413110"/>
                  </a:cubicBezTo>
                  <a:cubicBezTo>
                    <a:pt x="1260477" y="421040"/>
                    <a:pt x="1249721" y="425496"/>
                    <a:pt x="1238506" y="425496"/>
                  </a:cubicBezTo>
                  <a:lnTo>
                    <a:pt x="42288" y="425496"/>
                  </a:lnTo>
                  <a:cubicBezTo>
                    <a:pt x="18933" y="425496"/>
                    <a:pt x="0" y="406563"/>
                    <a:pt x="0" y="383207"/>
                  </a:cubicBezTo>
                  <a:lnTo>
                    <a:pt x="0" y="42288"/>
                  </a:lnTo>
                  <a:cubicBezTo>
                    <a:pt x="0" y="18933"/>
                    <a:pt x="18933" y="0"/>
                    <a:pt x="42288" y="0"/>
                  </a:cubicBezTo>
                  <a:close/>
                </a:path>
              </a:pathLst>
            </a:custGeom>
            <a:solidFill>
              <a:srgbClr val="FFB1A5"/>
            </a:solidFill>
            <a:ln w="38100" cap="rnd">
              <a:solidFill>
                <a:srgbClr val="000000"/>
              </a:solidFill>
              <a:prstDash val="solid"/>
              <a:round/>
            </a:ln>
          </p:spPr>
        </p:sp>
        <p:sp>
          <p:nvSpPr>
            <p:cNvPr id="7" name="TextBox 7"/>
            <p:cNvSpPr txBox="1"/>
            <p:nvPr/>
          </p:nvSpPr>
          <p:spPr>
            <a:xfrm>
              <a:off x="0" y="-38100"/>
              <a:ext cx="1280794" cy="46359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2700000">
            <a:off x="-877026" y="8551764"/>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11" name="Freeform 11"/>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842735" y="3418074"/>
            <a:ext cx="6599679" cy="300812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EXPECTED PROJECT OUTCOMES</a:t>
            </a:r>
          </a:p>
        </p:txBody>
      </p:sp>
      <p:sp>
        <p:nvSpPr>
          <p:cNvPr id="13" name="TextBox 13"/>
          <p:cNvSpPr txBox="1"/>
          <p:nvPr/>
        </p:nvSpPr>
        <p:spPr>
          <a:xfrm>
            <a:off x="9123516" y="1485361"/>
            <a:ext cx="5051195" cy="173672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A funct</a:t>
            </a:r>
            <a:r>
              <a:rPr lang="en-US" sz="2499" b="1" u="none" strike="noStrike">
                <a:solidFill>
                  <a:srgbClr val="303030"/>
                </a:solidFill>
                <a:latin typeface="Roboto Bold"/>
                <a:ea typeface="Roboto Bold"/>
                <a:cs typeface="Roboto Bold"/>
                <a:sym typeface="Roboto Bold"/>
              </a:rPr>
              <a:t>ional command line interface capable of executing basic operating system commands.</a:t>
            </a:r>
          </a:p>
        </p:txBody>
      </p:sp>
      <p:sp>
        <p:nvSpPr>
          <p:cNvPr id="14" name="Freeform 14"/>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5" name="Group 15"/>
          <p:cNvGrpSpPr/>
          <p:nvPr/>
        </p:nvGrpSpPr>
        <p:grpSpPr>
          <a:xfrm>
            <a:off x="8647430" y="6208197"/>
            <a:ext cx="6041466" cy="2007050"/>
            <a:chOff x="0" y="0"/>
            <a:chExt cx="1280794" cy="425496"/>
          </a:xfrm>
        </p:grpSpPr>
        <p:sp>
          <p:nvSpPr>
            <p:cNvPr id="16" name="Freeform 16"/>
            <p:cNvSpPr/>
            <p:nvPr/>
          </p:nvSpPr>
          <p:spPr>
            <a:xfrm>
              <a:off x="0" y="0"/>
              <a:ext cx="1280794" cy="425496"/>
            </a:xfrm>
            <a:custGeom>
              <a:avLst/>
              <a:gdLst/>
              <a:ahLst/>
              <a:cxnLst/>
              <a:rect l="l" t="t" r="r" b="b"/>
              <a:pathLst>
                <a:path w="1280794" h="425496">
                  <a:moveTo>
                    <a:pt x="42288" y="0"/>
                  </a:moveTo>
                  <a:lnTo>
                    <a:pt x="1238506" y="0"/>
                  </a:lnTo>
                  <a:cubicBezTo>
                    <a:pt x="1261861" y="0"/>
                    <a:pt x="1280794" y="18933"/>
                    <a:pt x="1280794" y="42288"/>
                  </a:cubicBezTo>
                  <a:lnTo>
                    <a:pt x="1280794" y="383207"/>
                  </a:lnTo>
                  <a:cubicBezTo>
                    <a:pt x="1280794" y="394423"/>
                    <a:pt x="1276338" y="405179"/>
                    <a:pt x="1268408" y="413110"/>
                  </a:cubicBezTo>
                  <a:cubicBezTo>
                    <a:pt x="1260477" y="421040"/>
                    <a:pt x="1249721" y="425496"/>
                    <a:pt x="1238506" y="425496"/>
                  </a:cubicBezTo>
                  <a:lnTo>
                    <a:pt x="42288" y="425496"/>
                  </a:lnTo>
                  <a:cubicBezTo>
                    <a:pt x="18933" y="425496"/>
                    <a:pt x="0" y="406563"/>
                    <a:pt x="0" y="383207"/>
                  </a:cubicBezTo>
                  <a:lnTo>
                    <a:pt x="0" y="42288"/>
                  </a:lnTo>
                  <a:cubicBezTo>
                    <a:pt x="0" y="18933"/>
                    <a:pt x="18933" y="0"/>
                    <a:pt x="42288" y="0"/>
                  </a:cubicBezTo>
                  <a:close/>
                </a:path>
              </a:pathLst>
            </a:custGeom>
            <a:solidFill>
              <a:srgbClr val="E16539"/>
            </a:solidFill>
            <a:ln w="38100" cap="rnd">
              <a:solidFill>
                <a:srgbClr val="000000"/>
              </a:solidFill>
              <a:prstDash val="solid"/>
              <a:round/>
            </a:ln>
          </p:spPr>
        </p:sp>
        <p:sp>
          <p:nvSpPr>
            <p:cNvPr id="17" name="TextBox 17"/>
            <p:cNvSpPr txBox="1"/>
            <p:nvPr/>
          </p:nvSpPr>
          <p:spPr>
            <a:xfrm>
              <a:off x="0" y="-38100"/>
              <a:ext cx="1280794" cy="463596"/>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9133041" y="4140274"/>
            <a:ext cx="5051195" cy="129857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a:t>
            </a:r>
            <a:r>
              <a:rPr lang="en-US" sz="2499" b="1" u="none" strike="noStrike">
                <a:solidFill>
                  <a:srgbClr val="303030"/>
                </a:solidFill>
                <a:latin typeface="Roboto Bold"/>
                <a:ea typeface="Roboto Bold"/>
                <a:cs typeface="Roboto Bold"/>
                <a:sym typeface="Roboto Bold"/>
              </a:rPr>
              <a:t>roved understanding of process management, input/output handling, and scripting.</a:t>
            </a:r>
          </a:p>
        </p:txBody>
      </p:sp>
      <p:sp>
        <p:nvSpPr>
          <p:cNvPr id="19" name="TextBox 19"/>
          <p:cNvSpPr txBox="1"/>
          <p:nvPr/>
        </p:nvSpPr>
        <p:spPr>
          <a:xfrm>
            <a:off x="9123516" y="6538236"/>
            <a:ext cx="5156165" cy="129857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a:t>
            </a:r>
            <a:r>
              <a:rPr lang="en-US" sz="2499" b="1" u="none" strike="noStrike">
                <a:solidFill>
                  <a:srgbClr val="303030"/>
                </a:solidFill>
                <a:latin typeface="Roboto Bold"/>
                <a:ea typeface="Roboto Bold"/>
                <a:cs typeface="Roboto Bold"/>
                <a:sym typeface="Roboto Bold"/>
              </a:rPr>
              <a:t>nclusion of custom features such as command history, command chaining, and error reporting.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700000">
            <a:off x="-907018" y="8727588"/>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9454276" y="4701473"/>
            <a:ext cx="6599679"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BENEFITS</a:t>
            </a:r>
          </a:p>
        </p:txBody>
      </p:sp>
      <p:grpSp>
        <p:nvGrpSpPr>
          <p:cNvPr id="7" name="Group 7"/>
          <p:cNvGrpSpPr/>
          <p:nvPr/>
        </p:nvGrpSpPr>
        <p:grpSpPr>
          <a:xfrm>
            <a:off x="1118673" y="6187112"/>
            <a:ext cx="6829247" cy="1194674"/>
            <a:chOff x="0" y="0"/>
            <a:chExt cx="9105663" cy="1592899"/>
          </a:xfrm>
        </p:grpSpPr>
        <p:grpSp>
          <p:nvGrpSpPr>
            <p:cNvPr id="8" name="Group 8"/>
            <p:cNvGrpSpPr/>
            <p:nvPr/>
          </p:nvGrpSpPr>
          <p:grpSpPr>
            <a:xfrm>
              <a:off x="0" y="0"/>
              <a:ext cx="9105663" cy="1592899"/>
              <a:chOff x="0" y="0"/>
              <a:chExt cx="1447804" cy="253271"/>
            </a:xfrm>
          </p:grpSpPr>
          <p:sp>
            <p:nvSpPr>
              <p:cNvPr id="9" name="Freeform 9"/>
              <p:cNvSpPr/>
              <p:nvPr/>
            </p:nvSpPr>
            <p:spPr>
              <a:xfrm>
                <a:off x="0" y="0"/>
                <a:ext cx="1447804" cy="253271"/>
              </a:xfrm>
              <a:custGeom>
                <a:avLst/>
                <a:gdLst/>
                <a:ahLst/>
                <a:cxnLst/>
                <a:rect l="l" t="t" r="r" b="b"/>
                <a:pathLst>
                  <a:path w="1447804" h="253271">
                    <a:moveTo>
                      <a:pt x="37410" y="0"/>
                    </a:moveTo>
                    <a:lnTo>
                      <a:pt x="1410394" y="0"/>
                    </a:lnTo>
                    <a:cubicBezTo>
                      <a:pt x="1420316" y="0"/>
                      <a:pt x="1429831" y="3941"/>
                      <a:pt x="1436847" y="10957"/>
                    </a:cubicBezTo>
                    <a:cubicBezTo>
                      <a:pt x="1443863" y="17973"/>
                      <a:pt x="1447804" y="27488"/>
                      <a:pt x="1447804" y="37410"/>
                    </a:cubicBezTo>
                    <a:lnTo>
                      <a:pt x="1447804" y="215861"/>
                    </a:lnTo>
                    <a:cubicBezTo>
                      <a:pt x="1447804" y="236522"/>
                      <a:pt x="1431055" y="253271"/>
                      <a:pt x="1410394" y="253271"/>
                    </a:cubicBezTo>
                    <a:lnTo>
                      <a:pt x="37410" y="253271"/>
                    </a:lnTo>
                    <a:cubicBezTo>
                      <a:pt x="16749" y="253271"/>
                      <a:pt x="0" y="236522"/>
                      <a:pt x="0" y="215861"/>
                    </a:cubicBezTo>
                    <a:lnTo>
                      <a:pt x="0" y="37410"/>
                    </a:lnTo>
                    <a:cubicBezTo>
                      <a:pt x="0" y="16749"/>
                      <a:pt x="16749" y="0"/>
                      <a:pt x="37410" y="0"/>
                    </a:cubicBezTo>
                    <a:close/>
                  </a:path>
                </a:pathLst>
              </a:custGeom>
              <a:solidFill>
                <a:srgbClr val="E16539"/>
              </a:solidFill>
              <a:ln w="38100" cap="rnd">
                <a:solidFill>
                  <a:srgbClr val="000000"/>
                </a:solidFill>
                <a:prstDash val="solid"/>
                <a:round/>
              </a:ln>
            </p:spPr>
          </p:sp>
          <p:sp>
            <p:nvSpPr>
              <p:cNvPr id="10" name="TextBox 10"/>
              <p:cNvSpPr txBox="1"/>
              <p:nvPr/>
            </p:nvSpPr>
            <p:spPr>
              <a:xfrm>
                <a:off x="0" y="-38100"/>
                <a:ext cx="1447804" cy="291371"/>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31644" y="427113"/>
              <a:ext cx="7650955" cy="5471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B</a:t>
              </a:r>
              <a:r>
                <a:rPr lang="en-US" sz="2499" b="1" u="none" strike="noStrike">
                  <a:solidFill>
                    <a:srgbClr val="303030"/>
                  </a:solidFill>
                  <a:latin typeface="Roboto Bold"/>
                  <a:ea typeface="Roboto Bold"/>
                  <a:cs typeface="Roboto Bold"/>
                  <a:sym typeface="Roboto Bold"/>
                </a:rPr>
                <a:t>etter understanding of OS internals.</a:t>
              </a:r>
            </a:p>
          </p:txBody>
        </p:sp>
      </p:grpSp>
      <p:sp>
        <p:nvSpPr>
          <p:cNvPr id="12" name="Freeform 12"/>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3" name="Group 13"/>
          <p:cNvGrpSpPr/>
          <p:nvPr/>
        </p:nvGrpSpPr>
        <p:grpSpPr>
          <a:xfrm>
            <a:off x="1118674" y="2215614"/>
            <a:ext cx="6829247" cy="1632824"/>
            <a:chOff x="0" y="0"/>
            <a:chExt cx="9105663" cy="2177099"/>
          </a:xfrm>
        </p:grpSpPr>
        <p:grpSp>
          <p:nvGrpSpPr>
            <p:cNvPr id="14" name="Group 14"/>
            <p:cNvGrpSpPr/>
            <p:nvPr/>
          </p:nvGrpSpPr>
          <p:grpSpPr>
            <a:xfrm>
              <a:off x="0" y="0"/>
              <a:ext cx="9105663" cy="2177099"/>
              <a:chOff x="0" y="0"/>
              <a:chExt cx="1447804" cy="346160"/>
            </a:xfrm>
          </p:grpSpPr>
          <p:sp>
            <p:nvSpPr>
              <p:cNvPr id="15" name="Freeform 15"/>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6EC6CD"/>
              </a:solidFill>
              <a:ln w="38100" cap="rnd">
                <a:solidFill>
                  <a:srgbClr val="000000"/>
                </a:solidFill>
                <a:prstDash val="solid"/>
                <a:round/>
              </a:ln>
            </p:spPr>
          </p:sp>
          <p:sp>
            <p:nvSpPr>
              <p:cNvPr id="16" name="TextBox 16"/>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Enh</a:t>
              </a:r>
              <a:r>
                <a:rPr lang="en-US" sz="2499" b="1" u="none" strike="noStrike">
                  <a:solidFill>
                    <a:srgbClr val="303030"/>
                  </a:solidFill>
                  <a:latin typeface="Roboto Bold"/>
                  <a:ea typeface="Roboto Bold"/>
                  <a:cs typeface="Roboto Bold"/>
                  <a:sym typeface="Roboto Bold"/>
                </a:rPr>
                <a:t>ances programming and debugging skills.</a:t>
              </a:r>
            </a:p>
          </p:txBody>
        </p:sp>
      </p:grpSp>
      <p:grpSp>
        <p:nvGrpSpPr>
          <p:cNvPr id="18" name="Group 18"/>
          <p:cNvGrpSpPr/>
          <p:nvPr/>
        </p:nvGrpSpPr>
        <p:grpSpPr>
          <a:xfrm>
            <a:off x="1118674" y="4200863"/>
            <a:ext cx="6829247" cy="1632824"/>
            <a:chOff x="0" y="0"/>
            <a:chExt cx="9105663" cy="2177099"/>
          </a:xfrm>
        </p:grpSpPr>
        <p:grpSp>
          <p:nvGrpSpPr>
            <p:cNvPr id="19" name="Group 19"/>
            <p:cNvGrpSpPr/>
            <p:nvPr/>
          </p:nvGrpSpPr>
          <p:grpSpPr>
            <a:xfrm>
              <a:off x="0" y="0"/>
              <a:ext cx="9105663" cy="2177099"/>
              <a:chOff x="0" y="0"/>
              <a:chExt cx="1447804" cy="346160"/>
            </a:xfrm>
          </p:grpSpPr>
          <p:sp>
            <p:nvSpPr>
              <p:cNvPr id="20" name="Freeform 20"/>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FFB1A5"/>
              </a:solidFill>
              <a:ln w="38100" cap="rnd">
                <a:solidFill>
                  <a:srgbClr val="000000"/>
                </a:solidFill>
                <a:prstDash val="solid"/>
                <a:round/>
              </a:ln>
            </p:spPr>
          </p:sp>
          <p:sp>
            <p:nvSpPr>
              <p:cNvPr id="21" name="TextBox 21"/>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Improv</a:t>
              </a:r>
              <a:r>
                <a:rPr lang="en-US" sz="2499" b="1" u="none" strike="noStrike">
                  <a:solidFill>
                    <a:srgbClr val="303030"/>
                  </a:solidFill>
                  <a:latin typeface="Roboto Bold"/>
                  <a:ea typeface="Roboto Bold"/>
                  <a:cs typeface="Roboto Bold"/>
                  <a:sym typeface="Roboto Bold"/>
                </a:rPr>
                <a:t>es knowledge of process management and input/output handling.</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700000">
            <a:off x="-907018" y="8727588"/>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9529254" y="4506529"/>
            <a:ext cx="6599679" cy="2027053"/>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FUTURE PLAN</a:t>
            </a:r>
          </a:p>
        </p:txBody>
      </p:sp>
      <p:grpSp>
        <p:nvGrpSpPr>
          <p:cNvPr id="7" name="Group 7"/>
          <p:cNvGrpSpPr/>
          <p:nvPr/>
        </p:nvGrpSpPr>
        <p:grpSpPr>
          <a:xfrm>
            <a:off x="1118674" y="6234373"/>
            <a:ext cx="6829247" cy="2509124"/>
            <a:chOff x="0" y="0"/>
            <a:chExt cx="9105663" cy="3345499"/>
          </a:xfrm>
        </p:grpSpPr>
        <p:grpSp>
          <p:nvGrpSpPr>
            <p:cNvPr id="8" name="Group 8"/>
            <p:cNvGrpSpPr/>
            <p:nvPr/>
          </p:nvGrpSpPr>
          <p:grpSpPr>
            <a:xfrm>
              <a:off x="0" y="0"/>
              <a:ext cx="9105663" cy="3345499"/>
              <a:chOff x="0" y="0"/>
              <a:chExt cx="1447804" cy="531936"/>
            </a:xfrm>
          </p:grpSpPr>
          <p:sp>
            <p:nvSpPr>
              <p:cNvPr id="9" name="Freeform 9"/>
              <p:cNvSpPr/>
              <p:nvPr/>
            </p:nvSpPr>
            <p:spPr>
              <a:xfrm>
                <a:off x="0" y="0"/>
                <a:ext cx="1447804" cy="531936"/>
              </a:xfrm>
              <a:custGeom>
                <a:avLst/>
                <a:gdLst/>
                <a:ahLst/>
                <a:cxnLst/>
                <a:rect l="l" t="t" r="r" b="b"/>
                <a:pathLst>
                  <a:path w="1447804" h="531936">
                    <a:moveTo>
                      <a:pt x="37410" y="0"/>
                    </a:moveTo>
                    <a:lnTo>
                      <a:pt x="1410394" y="0"/>
                    </a:lnTo>
                    <a:cubicBezTo>
                      <a:pt x="1420316" y="0"/>
                      <a:pt x="1429831" y="3941"/>
                      <a:pt x="1436847" y="10957"/>
                    </a:cubicBezTo>
                    <a:cubicBezTo>
                      <a:pt x="1443863" y="17973"/>
                      <a:pt x="1447804" y="27488"/>
                      <a:pt x="1447804" y="37410"/>
                    </a:cubicBezTo>
                    <a:lnTo>
                      <a:pt x="1447804" y="494525"/>
                    </a:lnTo>
                    <a:cubicBezTo>
                      <a:pt x="1447804" y="515186"/>
                      <a:pt x="1431055" y="531936"/>
                      <a:pt x="1410394" y="531936"/>
                    </a:cubicBezTo>
                    <a:lnTo>
                      <a:pt x="37410" y="531936"/>
                    </a:lnTo>
                    <a:cubicBezTo>
                      <a:pt x="16749" y="531936"/>
                      <a:pt x="0" y="515186"/>
                      <a:pt x="0" y="494525"/>
                    </a:cubicBezTo>
                    <a:lnTo>
                      <a:pt x="0" y="37410"/>
                    </a:lnTo>
                    <a:cubicBezTo>
                      <a:pt x="0" y="16749"/>
                      <a:pt x="16749" y="0"/>
                      <a:pt x="37410" y="0"/>
                    </a:cubicBezTo>
                    <a:close/>
                  </a:path>
                </a:pathLst>
              </a:custGeom>
              <a:solidFill>
                <a:srgbClr val="E16539"/>
              </a:solidFill>
              <a:ln w="38100" cap="rnd">
                <a:solidFill>
                  <a:srgbClr val="000000"/>
                </a:solidFill>
                <a:prstDash val="solid"/>
                <a:round/>
              </a:ln>
            </p:spPr>
          </p:sp>
          <p:sp>
            <p:nvSpPr>
              <p:cNvPr id="10" name="TextBox 10"/>
              <p:cNvSpPr txBox="1"/>
              <p:nvPr/>
            </p:nvSpPr>
            <p:spPr>
              <a:xfrm>
                <a:off x="0" y="-38100"/>
                <a:ext cx="1447804" cy="570036"/>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31644" y="427113"/>
              <a:ext cx="7650955" cy="22997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Expand compa</a:t>
              </a:r>
              <a:r>
                <a:rPr lang="en-US" sz="2499" b="1" u="none" strike="noStrike">
                  <a:solidFill>
                    <a:srgbClr val="303030"/>
                  </a:solidFill>
                  <a:latin typeface="Roboto Bold"/>
                  <a:ea typeface="Roboto Bold"/>
                  <a:cs typeface="Roboto Bold"/>
                  <a:sym typeface="Roboto Bold"/>
                </a:rPr>
                <a:t>tibility across Linux, macOS, and Windows and Add user-friendly features like auto-completion, history, and theming.</a:t>
              </a:r>
            </a:p>
          </p:txBody>
        </p:sp>
      </p:grpSp>
      <p:sp>
        <p:nvSpPr>
          <p:cNvPr id="12" name="Freeform 12"/>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3" name="Group 13"/>
          <p:cNvGrpSpPr/>
          <p:nvPr/>
        </p:nvGrpSpPr>
        <p:grpSpPr>
          <a:xfrm>
            <a:off x="1118674" y="2020670"/>
            <a:ext cx="6829247" cy="1632824"/>
            <a:chOff x="0" y="0"/>
            <a:chExt cx="9105663" cy="2177099"/>
          </a:xfrm>
        </p:grpSpPr>
        <p:grpSp>
          <p:nvGrpSpPr>
            <p:cNvPr id="14" name="Group 14"/>
            <p:cNvGrpSpPr/>
            <p:nvPr/>
          </p:nvGrpSpPr>
          <p:grpSpPr>
            <a:xfrm>
              <a:off x="0" y="0"/>
              <a:ext cx="9105663" cy="2177099"/>
              <a:chOff x="0" y="0"/>
              <a:chExt cx="1447804" cy="346160"/>
            </a:xfrm>
          </p:grpSpPr>
          <p:sp>
            <p:nvSpPr>
              <p:cNvPr id="15" name="Freeform 15"/>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6EC6CD"/>
              </a:solidFill>
              <a:ln w="38100" cap="rnd">
                <a:solidFill>
                  <a:srgbClr val="000000"/>
                </a:solidFill>
                <a:prstDash val="solid"/>
                <a:round/>
              </a:ln>
            </p:spPr>
          </p:sp>
          <p:sp>
            <p:nvSpPr>
              <p:cNvPr id="16" name="TextBox 16"/>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Improv</a:t>
              </a:r>
              <a:r>
                <a:rPr lang="en-US" sz="2499" b="1" u="none" strike="noStrike">
                  <a:solidFill>
                    <a:srgbClr val="303030"/>
                  </a:solidFill>
                  <a:latin typeface="Roboto Bold"/>
                  <a:ea typeface="Roboto Bold"/>
                  <a:cs typeface="Roboto Bold"/>
                  <a:sym typeface="Roboto Bold"/>
                </a:rPr>
                <a:t>e error handling with detailed messages and debugging tools.</a:t>
              </a:r>
            </a:p>
          </p:txBody>
        </p:sp>
      </p:grpSp>
      <p:grpSp>
        <p:nvGrpSpPr>
          <p:cNvPr id="18" name="Group 18"/>
          <p:cNvGrpSpPr/>
          <p:nvPr/>
        </p:nvGrpSpPr>
        <p:grpSpPr>
          <a:xfrm>
            <a:off x="1118674" y="4224994"/>
            <a:ext cx="6829247" cy="1632824"/>
            <a:chOff x="0" y="0"/>
            <a:chExt cx="9105663" cy="2177099"/>
          </a:xfrm>
        </p:grpSpPr>
        <p:grpSp>
          <p:nvGrpSpPr>
            <p:cNvPr id="19" name="Group 19"/>
            <p:cNvGrpSpPr/>
            <p:nvPr/>
          </p:nvGrpSpPr>
          <p:grpSpPr>
            <a:xfrm>
              <a:off x="0" y="0"/>
              <a:ext cx="9105663" cy="2177099"/>
              <a:chOff x="0" y="0"/>
              <a:chExt cx="1447804" cy="346160"/>
            </a:xfrm>
          </p:grpSpPr>
          <p:sp>
            <p:nvSpPr>
              <p:cNvPr id="20" name="Freeform 20"/>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FFB1A5"/>
              </a:solidFill>
              <a:ln w="38100" cap="rnd">
                <a:solidFill>
                  <a:srgbClr val="000000"/>
                </a:solidFill>
                <a:prstDash val="solid"/>
                <a:round/>
              </a:ln>
            </p:spPr>
          </p:sp>
          <p:sp>
            <p:nvSpPr>
              <p:cNvPr id="21" name="TextBox 21"/>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Optimize performanc</a:t>
              </a:r>
              <a:r>
                <a:rPr lang="en-US" sz="2499" b="1" u="none" strike="noStrike">
                  <a:solidFill>
                    <a:srgbClr val="303030"/>
                  </a:solidFill>
                  <a:latin typeface="Roboto Bold"/>
                  <a:ea typeface="Roboto Bold"/>
                  <a:cs typeface="Roboto Bold"/>
                  <a:sym typeface="Roboto Bold"/>
                </a:rPr>
                <a:t>e for faster command execution and parsing.</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700000">
            <a:off x="-907018" y="8727588"/>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1206622" y="2901985"/>
            <a:ext cx="6599679"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REFERENCE</a:t>
            </a:r>
          </a:p>
        </p:txBody>
      </p:sp>
      <p:sp>
        <p:nvSpPr>
          <p:cNvPr id="7" name="Freeform 7"/>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8" name="Group 8"/>
          <p:cNvGrpSpPr/>
          <p:nvPr/>
        </p:nvGrpSpPr>
        <p:grpSpPr>
          <a:xfrm>
            <a:off x="865163" y="4598861"/>
            <a:ext cx="12194007" cy="2367038"/>
            <a:chOff x="0" y="0"/>
            <a:chExt cx="16258676" cy="3156050"/>
          </a:xfrm>
        </p:grpSpPr>
        <p:sp>
          <p:nvSpPr>
            <p:cNvPr id="9" name="TextBox 9"/>
            <p:cNvSpPr txBox="1"/>
            <p:nvPr/>
          </p:nvSpPr>
          <p:spPr>
            <a:xfrm>
              <a:off x="0" y="-47625"/>
              <a:ext cx="16258676" cy="547158"/>
            </a:xfrm>
            <a:prstGeom prst="rect">
              <a:avLst/>
            </a:prstGeom>
          </p:spPr>
          <p:txBody>
            <a:bodyPr lIns="0" tIns="0" rIns="0" bIns="0" rtlCol="0" anchor="t">
              <a:spAutoFit/>
            </a:bodyPr>
            <a:lstStyle/>
            <a:p>
              <a:pPr algn="ctr">
                <a:lnSpc>
                  <a:spcPts val="3499"/>
                </a:lnSpc>
                <a:spcBef>
                  <a:spcPct val="0"/>
                </a:spcBef>
              </a:pPr>
              <a:r>
                <a:rPr lang="en-US" sz="2499" b="1" u="sng">
                  <a:solidFill>
                    <a:srgbClr val="303030"/>
                  </a:solidFill>
                  <a:latin typeface="Roboto Bold"/>
                  <a:ea typeface="Roboto Bold"/>
                  <a:cs typeface="Roboto Bold"/>
                  <a:sym typeface="Roboto Bold"/>
                  <a:hlinkClick r:id="rId12" tooltip="https://www.geeksforgeeks.org/linux-unix/how-to-create-a-shell-script-in-linux/"/>
                </a:rPr>
                <a:t>https://www.geeksforgeeks.org/linux-unix/how-to-create-a-shell-script-in-linux/</a:t>
              </a:r>
            </a:p>
          </p:txBody>
        </p:sp>
        <p:sp>
          <p:nvSpPr>
            <p:cNvPr id="10" name="TextBox 10"/>
            <p:cNvSpPr txBox="1"/>
            <p:nvPr/>
          </p:nvSpPr>
          <p:spPr>
            <a:xfrm>
              <a:off x="455278" y="1319772"/>
              <a:ext cx="14649847" cy="547158"/>
            </a:xfrm>
            <a:prstGeom prst="rect">
              <a:avLst/>
            </a:prstGeom>
          </p:spPr>
          <p:txBody>
            <a:bodyPr lIns="0" tIns="0" rIns="0" bIns="0" rtlCol="0" anchor="t">
              <a:spAutoFit/>
            </a:bodyPr>
            <a:lstStyle/>
            <a:p>
              <a:pPr algn="ctr">
                <a:lnSpc>
                  <a:spcPts val="3499"/>
                </a:lnSpc>
                <a:spcBef>
                  <a:spcPct val="0"/>
                </a:spcBef>
              </a:pPr>
              <a:r>
                <a:rPr lang="en-US" sz="2499" b="1" u="sng">
                  <a:solidFill>
                    <a:srgbClr val="303030"/>
                  </a:solidFill>
                  <a:latin typeface="Roboto Bold"/>
                  <a:ea typeface="Roboto Bold"/>
                  <a:cs typeface="Roboto Bold"/>
                  <a:sym typeface="Roboto Bold"/>
                  <a:hlinkClick r:id="rId13" tooltip="https://medium.com/@santiagobedoa/coding-a-shell-using-c-1ea939f10e7e"/>
                </a:rPr>
                <a:t>https://medium.com/@santiagobedoa/coding-a-shell-using-c-1ea939f10e7e</a:t>
              </a:r>
            </a:p>
          </p:txBody>
        </p:sp>
        <p:sp>
          <p:nvSpPr>
            <p:cNvPr id="11" name="TextBox 11"/>
            <p:cNvSpPr txBox="1"/>
            <p:nvPr/>
          </p:nvSpPr>
          <p:spPr>
            <a:xfrm>
              <a:off x="455278" y="2608892"/>
              <a:ext cx="14632384" cy="547158"/>
            </a:xfrm>
            <a:prstGeom prst="rect">
              <a:avLst/>
            </a:prstGeom>
          </p:spPr>
          <p:txBody>
            <a:bodyPr lIns="0" tIns="0" rIns="0" bIns="0" rtlCol="0" anchor="t">
              <a:spAutoFit/>
            </a:bodyPr>
            <a:lstStyle/>
            <a:p>
              <a:pPr algn="ctr">
                <a:lnSpc>
                  <a:spcPts val="3499"/>
                </a:lnSpc>
                <a:spcBef>
                  <a:spcPct val="0"/>
                </a:spcBef>
              </a:pPr>
              <a:r>
                <a:rPr lang="en-US" sz="2499" b="1" u="sng">
                  <a:solidFill>
                    <a:srgbClr val="303030"/>
                  </a:solidFill>
                  <a:latin typeface="Roboto Bold"/>
                  <a:ea typeface="Roboto Bold"/>
                  <a:cs typeface="Roboto Bold"/>
                  <a:sym typeface="Roboto Bold"/>
                  <a:hlinkClick r:id="rId14" tooltip="https://stackoverflow.com/questions/4772847/creating-a-cli-shell-in-python"/>
                </a:rPr>
                <a:t>https://stackoverflow.com/questions/4772847/creating-a-cli-shell-in-python</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1283148" y="2785636"/>
            <a:ext cx="5976152" cy="4715727"/>
          </a:xfrm>
          <a:custGeom>
            <a:avLst/>
            <a:gdLst/>
            <a:ahLst/>
            <a:cxnLst/>
            <a:rect l="l" t="t" r="r" b="b"/>
            <a:pathLst>
              <a:path w="5976152" h="4715727">
                <a:moveTo>
                  <a:pt x="0" y="0"/>
                </a:moveTo>
                <a:lnTo>
                  <a:pt x="5976152" y="0"/>
                </a:lnTo>
                <a:lnTo>
                  <a:pt x="5976152" y="4715728"/>
                </a:lnTo>
                <a:lnTo>
                  <a:pt x="0" y="471572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298148" y="8853955"/>
            <a:ext cx="6985000" cy="4114800"/>
          </a:xfrm>
          <a:custGeom>
            <a:avLst/>
            <a:gdLst/>
            <a:ahLst/>
            <a:cxnLst/>
            <a:rect l="l" t="t" r="r" b="b"/>
            <a:pathLst>
              <a:path w="6985000" h="4114800">
                <a:moveTo>
                  <a:pt x="0" y="0"/>
                </a:moveTo>
                <a:lnTo>
                  <a:pt x="6985000" y="0"/>
                </a:lnTo>
                <a:lnTo>
                  <a:pt x="69850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706435" y="8143630"/>
            <a:ext cx="1796813" cy="1803371"/>
          </a:xfrm>
          <a:custGeom>
            <a:avLst/>
            <a:gdLst/>
            <a:ahLst/>
            <a:cxnLst/>
            <a:rect l="l" t="t" r="r" b="b"/>
            <a:pathLst>
              <a:path w="1796813" h="1803371">
                <a:moveTo>
                  <a:pt x="0" y="0"/>
                </a:moveTo>
                <a:lnTo>
                  <a:pt x="1796813" y="0"/>
                </a:lnTo>
                <a:lnTo>
                  <a:pt x="1796813" y="1803371"/>
                </a:lnTo>
                <a:lnTo>
                  <a:pt x="0" y="18033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4781329"/>
            <a:ext cx="9865324" cy="2056943"/>
          </a:xfrm>
          <a:prstGeom prst="rect">
            <a:avLst/>
          </a:prstGeom>
        </p:spPr>
        <p:txBody>
          <a:bodyPr lIns="0" tIns="0" rIns="0" bIns="0" rtlCol="0" anchor="t">
            <a:spAutoFit/>
          </a:bodyPr>
          <a:lstStyle/>
          <a:p>
            <a:pPr algn="just">
              <a:lnSpc>
                <a:spcPts val="3225"/>
              </a:lnSpc>
            </a:pPr>
            <a:r>
              <a:rPr lang="en-US" sz="2559" b="1" spc="-127">
                <a:solidFill>
                  <a:srgbClr val="303030"/>
                </a:solidFill>
                <a:latin typeface="Roboto Bold"/>
                <a:ea typeface="Roboto Bold"/>
                <a:cs typeface="Roboto Bold"/>
                <a:sym typeface="Roboto Bold"/>
              </a:rPr>
              <a:t>Developing a shell demonstrates the fundamental principles of operating systems and user interaction. The project strengthens programming, problem-solving, and system-level understanding. A basic shell serves as a stepping stone toward more advanced system software or automation tools.</a:t>
            </a:r>
          </a:p>
        </p:txBody>
      </p:sp>
      <p:sp>
        <p:nvSpPr>
          <p:cNvPr id="6" name="Freeform 6"/>
          <p:cNvSpPr/>
          <p:nvPr/>
        </p:nvSpPr>
        <p:spPr>
          <a:xfrm>
            <a:off x="10260675" y="7501364"/>
            <a:ext cx="8376226" cy="5467391"/>
          </a:xfrm>
          <a:custGeom>
            <a:avLst/>
            <a:gdLst/>
            <a:ahLst/>
            <a:cxnLst/>
            <a:rect l="l" t="t" r="r" b="b"/>
            <a:pathLst>
              <a:path w="8376226" h="5467391">
                <a:moveTo>
                  <a:pt x="0" y="0"/>
                </a:moveTo>
                <a:lnTo>
                  <a:pt x="8376226" y="0"/>
                </a:lnTo>
                <a:lnTo>
                  <a:pt x="8376226" y="5467391"/>
                </a:lnTo>
                <a:lnTo>
                  <a:pt x="0" y="5467391"/>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a:off x="10260675" y="542362"/>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TextBox 8"/>
          <p:cNvSpPr txBox="1"/>
          <p:nvPr/>
        </p:nvSpPr>
        <p:spPr>
          <a:xfrm>
            <a:off x="1028700" y="3032881"/>
            <a:ext cx="10632790" cy="1386903"/>
          </a:xfrm>
          <a:prstGeom prst="rect">
            <a:avLst/>
          </a:prstGeom>
        </p:spPr>
        <p:txBody>
          <a:bodyPr lIns="0" tIns="0" rIns="0" bIns="0" rtlCol="0" anchor="t">
            <a:spAutoFit/>
          </a:bodyPr>
          <a:lstStyle/>
          <a:p>
            <a:pPr marL="0" lvl="0" indent="0" algn="l">
              <a:lnSpc>
                <a:spcPts val="9997"/>
              </a:lnSpc>
              <a:spcBef>
                <a:spcPct val="0"/>
              </a:spcBef>
            </a:pPr>
            <a:r>
              <a:rPr lang="en-US" sz="10306" b="1">
                <a:solidFill>
                  <a:srgbClr val="303030"/>
                </a:solidFill>
                <a:latin typeface="Hagrid Ultra-Bold"/>
                <a:ea typeface="Hagrid Ultra-Bold"/>
                <a:cs typeface="Hagrid Ultra-Bold"/>
                <a:sym typeface="Hagrid Ultra-Bold"/>
              </a:rPr>
              <a:t>CONCLUSION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16539"/>
        </a:solidFill>
        <a:effectLst/>
      </p:bgPr>
    </p:bg>
    <p:spTree>
      <p:nvGrpSpPr>
        <p:cNvPr id="1" name=""/>
        <p:cNvGrpSpPr/>
        <p:nvPr/>
      </p:nvGrpSpPr>
      <p:grpSpPr>
        <a:xfrm>
          <a:off x="0" y="0"/>
          <a:ext cx="0" cy="0"/>
          <a:chOff x="0" y="0"/>
          <a:chExt cx="0" cy="0"/>
        </a:xfrm>
      </p:grpSpPr>
      <p:sp>
        <p:nvSpPr>
          <p:cNvPr id="2" name="Freeform 2"/>
          <p:cNvSpPr/>
          <p:nvPr/>
        </p:nvSpPr>
        <p:spPr>
          <a:xfrm>
            <a:off x="722383" y="182402"/>
            <a:ext cx="16843234" cy="9922196"/>
          </a:xfrm>
          <a:custGeom>
            <a:avLst/>
            <a:gdLst/>
            <a:ahLst/>
            <a:cxnLst/>
            <a:rect l="l" t="t" r="r" b="b"/>
            <a:pathLst>
              <a:path w="16843234" h="9922196">
                <a:moveTo>
                  <a:pt x="0" y="0"/>
                </a:moveTo>
                <a:lnTo>
                  <a:pt x="16843234" y="0"/>
                </a:lnTo>
                <a:lnTo>
                  <a:pt x="16843234" y="9922196"/>
                </a:lnTo>
                <a:lnTo>
                  <a:pt x="0" y="9922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350185" y="182402"/>
            <a:ext cx="4230168" cy="4114800"/>
          </a:xfrm>
          <a:custGeom>
            <a:avLst/>
            <a:gdLst/>
            <a:ahLst/>
            <a:cxnLst/>
            <a:rect l="l" t="t" r="r" b="b"/>
            <a:pathLst>
              <a:path w="4230168" h="4114800">
                <a:moveTo>
                  <a:pt x="0" y="0"/>
                </a:moveTo>
                <a:lnTo>
                  <a:pt x="4230168" y="0"/>
                </a:lnTo>
                <a:lnTo>
                  <a:pt x="42301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072487" y="4064850"/>
            <a:ext cx="12143025" cy="1282402"/>
          </a:xfrm>
          <a:prstGeom prst="rect">
            <a:avLst/>
          </a:prstGeom>
        </p:spPr>
        <p:txBody>
          <a:bodyPr lIns="0" tIns="0" rIns="0" bIns="0" rtlCol="0" anchor="t">
            <a:spAutoFit/>
          </a:bodyPr>
          <a:lstStyle/>
          <a:p>
            <a:pPr marL="0" lvl="0" indent="0" algn="ctr">
              <a:lnSpc>
                <a:spcPts val="9997"/>
              </a:lnSpc>
              <a:spcBef>
                <a:spcPct val="0"/>
              </a:spcBef>
            </a:pPr>
            <a:r>
              <a:rPr lang="en-US" sz="10306" b="1" dirty="0">
                <a:solidFill>
                  <a:srgbClr val="303030"/>
                </a:solidFill>
                <a:latin typeface="Hagrid Ultra-Bold"/>
                <a:ea typeface="Hagrid Ultra-Bold"/>
                <a:cs typeface="Hagrid Ultra-Bold"/>
                <a:sym typeface="Hagrid Ultra-Bold"/>
              </a:rPr>
              <a:t>Any question??</a:t>
            </a:r>
          </a:p>
        </p:txBody>
      </p:sp>
      <p:sp>
        <p:nvSpPr>
          <p:cNvPr id="5" name="Freeform 5"/>
          <p:cNvSpPr/>
          <p:nvPr/>
        </p:nvSpPr>
        <p:spPr>
          <a:xfrm>
            <a:off x="838200" y="5372100"/>
            <a:ext cx="3221999" cy="3016963"/>
          </a:xfrm>
          <a:custGeom>
            <a:avLst/>
            <a:gdLst/>
            <a:ahLst/>
            <a:cxnLst/>
            <a:rect l="l" t="t" r="r" b="b"/>
            <a:pathLst>
              <a:path w="3221999" h="3016963">
                <a:moveTo>
                  <a:pt x="0" y="0"/>
                </a:moveTo>
                <a:lnTo>
                  <a:pt x="3221999" y="0"/>
                </a:lnTo>
                <a:lnTo>
                  <a:pt x="3221999" y="3016963"/>
                </a:lnTo>
                <a:lnTo>
                  <a:pt x="0" y="30169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16539"/>
        </a:solidFill>
        <a:effectLst/>
      </p:bgPr>
    </p:bg>
    <p:spTree>
      <p:nvGrpSpPr>
        <p:cNvPr id="1" name=""/>
        <p:cNvGrpSpPr/>
        <p:nvPr/>
      </p:nvGrpSpPr>
      <p:grpSpPr>
        <a:xfrm>
          <a:off x="0" y="0"/>
          <a:ext cx="0" cy="0"/>
          <a:chOff x="0" y="0"/>
          <a:chExt cx="0" cy="0"/>
        </a:xfrm>
      </p:grpSpPr>
      <p:sp>
        <p:nvSpPr>
          <p:cNvPr id="2" name="Freeform 2"/>
          <p:cNvSpPr/>
          <p:nvPr/>
        </p:nvSpPr>
        <p:spPr>
          <a:xfrm>
            <a:off x="722383" y="182402"/>
            <a:ext cx="16843234" cy="9922196"/>
          </a:xfrm>
          <a:custGeom>
            <a:avLst/>
            <a:gdLst/>
            <a:ahLst/>
            <a:cxnLst/>
            <a:rect l="l" t="t" r="r" b="b"/>
            <a:pathLst>
              <a:path w="16843234" h="9922196">
                <a:moveTo>
                  <a:pt x="0" y="0"/>
                </a:moveTo>
                <a:lnTo>
                  <a:pt x="16843234" y="0"/>
                </a:lnTo>
                <a:lnTo>
                  <a:pt x="16843234" y="9922196"/>
                </a:lnTo>
                <a:lnTo>
                  <a:pt x="0" y="9922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350185" y="182402"/>
            <a:ext cx="4230168" cy="4114800"/>
          </a:xfrm>
          <a:custGeom>
            <a:avLst/>
            <a:gdLst/>
            <a:ahLst/>
            <a:cxnLst/>
            <a:rect l="l" t="t" r="r" b="b"/>
            <a:pathLst>
              <a:path w="4230168" h="4114800">
                <a:moveTo>
                  <a:pt x="0" y="0"/>
                </a:moveTo>
                <a:lnTo>
                  <a:pt x="4230168" y="0"/>
                </a:lnTo>
                <a:lnTo>
                  <a:pt x="42301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072487" y="4560991"/>
            <a:ext cx="12143025" cy="1384094"/>
          </a:xfrm>
          <a:prstGeom prst="rect">
            <a:avLst/>
          </a:prstGeom>
        </p:spPr>
        <p:txBody>
          <a:bodyPr lIns="0" tIns="0" rIns="0" bIns="0" rtlCol="0" anchor="t">
            <a:spAutoFit/>
          </a:bodyPr>
          <a:lstStyle/>
          <a:p>
            <a:pPr marL="0" lvl="0" indent="0" algn="ctr">
              <a:lnSpc>
                <a:spcPts val="9997"/>
              </a:lnSpc>
              <a:spcBef>
                <a:spcPct val="0"/>
              </a:spcBef>
            </a:pPr>
            <a:r>
              <a:rPr lang="en-US" sz="10306" b="1">
                <a:solidFill>
                  <a:srgbClr val="303030"/>
                </a:solidFill>
                <a:latin typeface="Hagrid Ultra-Bold"/>
                <a:ea typeface="Hagrid Ultra-Bold"/>
                <a:cs typeface="Hagrid Ultra-Bold"/>
                <a:sym typeface="Hagrid Ultra-Bold"/>
              </a:rPr>
              <a:t>THANK YOU</a:t>
            </a:r>
          </a:p>
        </p:txBody>
      </p:sp>
      <p:sp>
        <p:nvSpPr>
          <p:cNvPr id="5" name="Freeform 5"/>
          <p:cNvSpPr/>
          <p:nvPr/>
        </p:nvSpPr>
        <p:spPr>
          <a:xfrm>
            <a:off x="1028700" y="5143500"/>
            <a:ext cx="3221999" cy="3016963"/>
          </a:xfrm>
          <a:custGeom>
            <a:avLst/>
            <a:gdLst/>
            <a:ahLst/>
            <a:cxnLst/>
            <a:rect l="l" t="t" r="r" b="b"/>
            <a:pathLst>
              <a:path w="3221999" h="3016963">
                <a:moveTo>
                  <a:pt x="0" y="0"/>
                </a:moveTo>
                <a:lnTo>
                  <a:pt x="3221999" y="0"/>
                </a:lnTo>
                <a:lnTo>
                  <a:pt x="3221999" y="3016963"/>
                </a:lnTo>
                <a:lnTo>
                  <a:pt x="0" y="30169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54695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553</Words>
  <Application>Microsoft Office PowerPoint</Application>
  <PresentationFormat>Custom</PresentationFormat>
  <Paragraphs>81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Hagrid Ultra-Bold</vt:lpstr>
      <vt:lpstr>Arial</vt:lpstr>
      <vt:lpstr>Roboto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a Shell or Command Line Interface_(Operating Systems)</dc:title>
  <dc:creator>Tamim Islam</dc:creator>
  <cp:lastModifiedBy>Tamim Islam</cp:lastModifiedBy>
  <cp:revision>2</cp:revision>
  <dcterms:created xsi:type="dcterms:W3CDTF">2006-08-16T00:00:00Z</dcterms:created>
  <dcterms:modified xsi:type="dcterms:W3CDTF">2025-11-23T19:18:55Z</dcterms:modified>
  <dc:identifier>DAG43Q9pdAI</dc:identifier>
</cp:coreProperties>
</file>