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8288000" cy="10287000"/>
  <p:notesSz cx="6858000" cy="9144000"/>
  <p:embeddedFontLst>
    <p:embeddedFont>
      <p:font typeface="Calibri" panose="020F0502020204030204" pitchFamily="34" charset="0"/>
      <p:regular r:id="rId19"/>
      <p:bold r:id="rId20"/>
      <p:italic r:id="rId21"/>
      <p:boldItalic r:id="rId22"/>
    </p:embeddedFont>
    <p:embeddedFont>
      <p:font typeface="Hagrid Ultra-Bold" panose="020B0604020202020204" charset="0"/>
      <p:regular r:id="rId23"/>
    </p:embeddedFont>
    <p:embeddedFont>
      <p:font typeface="Roboto" panose="02000000000000000000" pitchFamily="2" charset="0"/>
      <p:regular r:id="rId24"/>
      <p:bold r:id="rId25"/>
      <p:italic r:id="rId26"/>
      <p:boldItalic r:id="rId27"/>
    </p:embeddedFont>
    <p:embeddedFont>
      <p:font typeface="Roboto Bold" panose="02000000000000000000" pitchFamily="2" charset="0"/>
      <p:regular r:id="rId28"/>
      <p:bold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8" d="100"/>
          <a:sy n="58" d="100"/>
        </p:scale>
        <p:origin x="754" y="5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11/24/2025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svg"/><Relationship Id="rId18" Type="http://schemas.openxmlformats.org/officeDocument/2006/relationships/image" Target="../media/image17.pn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11.png"/><Relationship Id="rId17" Type="http://schemas.openxmlformats.org/officeDocument/2006/relationships/image" Target="../media/image16.svg"/><Relationship Id="rId2" Type="http://schemas.openxmlformats.org/officeDocument/2006/relationships/image" Target="../media/image1.png"/><Relationship Id="rId16" Type="http://schemas.openxmlformats.org/officeDocument/2006/relationships/image" Target="../media/image15.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5" Type="http://schemas.openxmlformats.org/officeDocument/2006/relationships/image" Target="../media/image14.svg"/><Relationship Id="rId10" Type="http://schemas.openxmlformats.org/officeDocument/2006/relationships/image" Target="../media/image9.png"/><Relationship Id="rId19" Type="http://schemas.openxmlformats.org/officeDocument/2006/relationships/image" Target="../media/image18.svg"/><Relationship Id="rId4" Type="http://schemas.openxmlformats.org/officeDocument/2006/relationships/image" Target="../media/image3.png"/><Relationship Id="rId9" Type="http://schemas.openxmlformats.org/officeDocument/2006/relationships/image" Target="../media/image8.svg"/><Relationship Id="rId14" Type="http://schemas.openxmlformats.org/officeDocument/2006/relationships/image" Target="../media/image13.png"/></Relationships>
</file>

<file path=ppt/slides/_rels/slide2.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6.svg"/><Relationship Id="rId7" Type="http://schemas.openxmlformats.org/officeDocument/2006/relationships/image" Target="../media/image22.sv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0.svg"/><Relationship Id="rId4" Type="http://schemas.openxmlformats.org/officeDocument/2006/relationships/image" Target="../media/image19.png"/><Relationship Id="rId9" Type="http://schemas.openxmlformats.org/officeDocument/2006/relationships/image" Target="../media/image24.svg"/></Relationships>
</file>

<file path=ppt/slides/_rels/slide3.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4.svg"/><Relationship Id="rId7" Type="http://schemas.openxmlformats.org/officeDocument/2006/relationships/image" Target="../media/image26.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25.png"/><Relationship Id="rId11" Type="http://schemas.openxmlformats.org/officeDocument/2006/relationships/image" Target="../media/image30.svg"/><Relationship Id="rId5" Type="http://schemas.openxmlformats.org/officeDocument/2006/relationships/image" Target="../media/image6.svg"/><Relationship Id="rId10" Type="http://schemas.openxmlformats.org/officeDocument/2006/relationships/image" Target="../media/image29.png"/><Relationship Id="rId4" Type="http://schemas.openxmlformats.org/officeDocument/2006/relationships/image" Target="../media/image5.png"/><Relationship Id="rId9" Type="http://schemas.openxmlformats.org/officeDocument/2006/relationships/image" Target="../media/image28.svg"/></Relationships>
</file>

<file path=ppt/slides/_rels/slide4.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4.svg"/><Relationship Id="rId3" Type="http://schemas.openxmlformats.org/officeDocument/2006/relationships/image" Target="../media/image32.svg"/><Relationship Id="rId7" Type="http://schemas.openxmlformats.org/officeDocument/2006/relationships/image" Target="../media/image36.svg"/><Relationship Id="rId12" Type="http://schemas.openxmlformats.org/officeDocument/2006/relationships/image" Target="../media/image3.png"/><Relationship Id="rId2" Type="http://schemas.openxmlformats.org/officeDocument/2006/relationships/image" Target="../media/image31.png"/><Relationship Id="rId1" Type="http://schemas.openxmlformats.org/officeDocument/2006/relationships/slideLayout" Target="../slideLayouts/slideLayout7.xml"/><Relationship Id="rId6" Type="http://schemas.openxmlformats.org/officeDocument/2006/relationships/image" Target="../media/image35.png"/><Relationship Id="rId11" Type="http://schemas.openxmlformats.org/officeDocument/2006/relationships/image" Target="../media/image40.svg"/><Relationship Id="rId5" Type="http://schemas.openxmlformats.org/officeDocument/2006/relationships/image" Target="../media/image34.svg"/><Relationship Id="rId15" Type="http://schemas.openxmlformats.org/officeDocument/2006/relationships/image" Target="../media/image2.svg"/><Relationship Id="rId10" Type="http://schemas.openxmlformats.org/officeDocument/2006/relationships/image" Target="../media/image39.png"/><Relationship Id="rId4" Type="http://schemas.openxmlformats.org/officeDocument/2006/relationships/image" Target="../media/image33.png"/><Relationship Id="rId9" Type="http://schemas.openxmlformats.org/officeDocument/2006/relationships/image" Target="../media/image38.svg"/><Relationship Id="rId14" Type="http://schemas.openxmlformats.org/officeDocument/2006/relationships/image" Target="../media/image1.png"/></Relationships>
</file>

<file path=ppt/slides/_rels/slide5.xml.rels><?xml version="1.0" encoding="UTF-8" standalone="yes"?>
<Relationships xmlns="http://schemas.openxmlformats.org/package/2006/relationships"><Relationship Id="rId8" Type="http://schemas.openxmlformats.org/officeDocument/2006/relationships/image" Target="../media/image43.png"/><Relationship Id="rId13" Type="http://schemas.openxmlformats.org/officeDocument/2006/relationships/image" Target="../media/image16.svg"/><Relationship Id="rId3" Type="http://schemas.openxmlformats.org/officeDocument/2006/relationships/image" Target="../media/image6.svg"/><Relationship Id="rId7" Type="http://schemas.openxmlformats.org/officeDocument/2006/relationships/image" Target="../media/image42.svg"/><Relationship Id="rId12" Type="http://schemas.openxmlformats.org/officeDocument/2006/relationships/image" Target="../media/image15.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41.png"/><Relationship Id="rId11" Type="http://schemas.openxmlformats.org/officeDocument/2006/relationships/image" Target="../media/image28.svg"/><Relationship Id="rId5" Type="http://schemas.openxmlformats.org/officeDocument/2006/relationships/image" Target="../media/image2.svg"/><Relationship Id="rId15" Type="http://schemas.openxmlformats.org/officeDocument/2006/relationships/image" Target="../media/image46.svg"/><Relationship Id="rId10" Type="http://schemas.openxmlformats.org/officeDocument/2006/relationships/image" Target="../media/image27.png"/><Relationship Id="rId4" Type="http://schemas.openxmlformats.org/officeDocument/2006/relationships/image" Target="../media/image1.png"/><Relationship Id="rId9" Type="http://schemas.openxmlformats.org/officeDocument/2006/relationships/image" Target="../media/image44.svg"/><Relationship Id="rId14" Type="http://schemas.openxmlformats.org/officeDocument/2006/relationships/image" Target="../media/image45.png"/></Relationships>
</file>

<file path=ppt/slides/_rels/slide6.xml.rels><?xml version="1.0" encoding="UTF-8" standalone="yes"?>
<Relationships xmlns="http://schemas.openxmlformats.org/package/2006/relationships"><Relationship Id="rId8" Type="http://schemas.openxmlformats.org/officeDocument/2006/relationships/image" Target="../media/image41.png"/><Relationship Id="rId13" Type="http://schemas.openxmlformats.org/officeDocument/2006/relationships/image" Target="../media/image28.svg"/><Relationship Id="rId3" Type="http://schemas.openxmlformats.org/officeDocument/2006/relationships/image" Target="../media/image6.svg"/><Relationship Id="rId7" Type="http://schemas.openxmlformats.org/officeDocument/2006/relationships/image" Target="../media/image2.svg"/><Relationship Id="rId12" Type="http://schemas.openxmlformats.org/officeDocument/2006/relationships/image" Target="../media/image27.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1.png"/><Relationship Id="rId11" Type="http://schemas.openxmlformats.org/officeDocument/2006/relationships/image" Target="../media/image44.svg"/><Relationship Id="rId5" Type="http://schemas.openxmlformats.org/officeDocument/2006/relationships/image" Target="../media/image48.svg"/><Relationship Id="rId15" Type="http://schemas.openxmlformats.org/officeDocument/2006/relationships/image" Target="../media/image16.svg"/><Relationship Id="rId10" Type="http://schemas.openxmlformats.org/officeDocument/2006/relationships/image" Target="../media/image43.png"/><Relationship Id="rId4" Type="http://schemas.openxmlformats.org/officeDocument/2006/relationships/image" Target="../media/image47.png"/><Relationship Id="rId9" Type="http://schemas.openxmlformats.org/officeDocument/2006/relationships/image" Target="../media/image42.svg"/><Relationship Id="rId14" Type="http://schemas.openxmlformats.org/officeDocument/2006/relationships/image" Target="../media/image15.png"/></Relationships>
</file>

<file path=ppt/slides/_rels/slide7.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50.svg"/><Relationship Id="rId7" Type="http://schemas.openxmlformats.org/officeDocument/2006/relationships/image" Target="../media/image6.svg"/><Relationship Id="rId2" Type="http://schemas.openxmlformats.org/officeDocument/2006/relationships/image" Target="../media/image49.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4.svg"/><Relationship Id="rId5" Type="http://schemas.openxmlformats.org/officeDocument/2006/relationships/image" Target="../media/image52.svg"/><Relationship Id="rId10" Type="http://schemas.openxmlformats.org/officeDocument/2006/relationships/image" Target="../media/image3.png"/><Relationship Id="rId4" Type="http://schemas.openxmlformats.org/officeDocument/2006/relationships/image" Target="../media/image51.png"/><Relationship Id="rId9" Type="http://schemas.openxmlformats.org/officeDocument/2006/relationships/image" Target="../media/image20.svg"/></Relationships>
</file>

<file path=ppt/slides/_rels/slide8.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4.svg"/><Relationship Id="rId7" Type="http://schemas.openxmlformats.org/officeDocument/2006/relationships/image" Target="../media/image4.svg"/><Relationship Id="rId2" Type="http://schemas.openxmlformats.org/officeDocument/2006/relationships/image" Target="../media/image53.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svg"/><Relationship Id="rId4" Type="http://schemas.openxmlformats.org/officeDocument/2006/relationships/image" Target="../media/image1.png"/><Relationship Id="rId9" Type="http://schemas.openxmlformats.org/officeDocument/2006/relationships/image" Target="../media/image56.svg"/></Relationships>
</file>

<file path=ppt/slides/_rels/slide9.xml.rels><?xml version="1.0" encoding="UTF-8" standalone="yes"?>
<Relationships xmlns="http://schemas.openxmlformats.org/package/2006/relationships"><Relationship Id="rId8" Type="http://schemas.openxmlformats.org/officeDocument/2006/relationships/image" Target="../media/image61.png"/><Relationship Id="rId3" Type="http://schemas.openxmlformats.org/officeDocument/2006/relationships/image" Target="../media/image4.svg"/><Relationship Id="rId7" Type="http://schemas.openxmlformats.org/officeDocument/2006/relationships/image" Target="../media/image60.jpe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59.png"/><Relationship Id="rId5" Type="http://schemas.openxmlformats.org/officeDocument/2006/relationships/image" Target="../media/image58.svg"/><Relationship Id="rId4" Type="http://schemas.openxmlformats.org/officeDocument/2006/relationships/image" Target="../media/image57.png"/><Relationship Id="rId9" Type="http://schemas.openxmlformats.org/officeDocument/2006/relationships/image" Target="../media/image62.png"/></Relationships>
</file>

<file path=ppt/slides/_rels/slide10.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4.svg"/><Relationship Id="rId7" Type="http://schemas.openxmlformats.org/officeDocument/2006/relationships/image" Target="../media/image4.svg"/><Relationship Id="rId2" Type="http://schemas.openxmlformats.org/officeDocument/2006/relationships/image" Target="../media/image53.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svg"/><Relationship Id="rId4" Type="http://schemas.openxmlformats.org/officeDocument/2006/relationships/image" Target="../media/image1.png"/><Relationship Id="rId9" Type="http://schemas.openxmlformats.org/officeDocument/2006/relationships/image" Target="../media/image56.sv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56.svg"/><Relationship Id="rId7" Type="http://schemas.openxmlformats.org/officeDocument/2006/relationships/image" Target="../media/image6.svg"/><Relationship Id="rId2" Type="http://schemas.openxmlformats.org/officeDocument/2006/relationships/image" Target="../media/image55.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24.svg"/><Relationship Id="rId5" Type="http://schemas.openxmlformats.org/officeDocument/2006/relationships/image" Target="../media/image4.svg"/><Relationship Id="rId10" Type="http://schemas.openxmlformats.org/officeDocument/2006/relationships/image" Target="../media/image23.png"/><Relationship Id="rId4" Type="http://schemas.openxmlformats.org/officeDocument/2006/relationships/image" Target="../media/image3.png"/><Relationship Id="rId9" Type="http://schemas.openxmlformats.org/officeDocument/2006/relationships/image" Target="../media/image50.sv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4.svg"/><Relationship Id="rId7" Type="http://schemas.openxmlformats.org/officeDocument/2006/relationships/image" Target="../media/image50.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49.png"/><Relationship Id="rId11" Type="http://schemas.openxmlformats.org/officeDocument/2006/relationships/image" Target="../media/image24.svg"/><Relationship Id="rId5" Type="http://schemas.openxmlformats.org/officeDocument/2006/relationships/image" Target="../media/image6.svg"/><Relationship Id="rId10" Type="http://schemas.openxmlformats.org/officeDocument/2006/relationships/image" Target="../media/image23.png"/><Relationship Id="rId4" Type="http://schemas.openxmlformats.org/officeDocument/2006/relationships/image" Target="../media/image5.png"/><Relationship Id="rId9" Type="http://schemas.openxmlformats.org/officeDocument/2006/relationships/image" Target="../media/image56.svg"/></Relationships>
</file>

<file path=ppt/slides/_rels/slide13.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56.svg"/><Relationship Id="rId7" Type="http://schemas.openxmlformats.org/officeDocument/2006/relationships/image" Target="../media/image6.svg"/><Relationship Id="rId2" Type="http://schemas.openxmlformats.org/officeDocument/2006/relationships/image" Target="../media/image55.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24.svg"/><Relationship Id="rId5" Type="http://schemas.openxmlformats.org/officeDocument/2006/relationships/image" Target="../media/image4.svg"/><Relationship Id="rId10" Type="http://schemas.openxmlformats.org/officeDocument/2006/relationships/image" Target="../media/image23.png"/><Relationship Id="rId4" Type="http://schemas.openxmlformats.org/officeDocument/2006/relationships/image" Target="../media/image3.png"/><Relationship Id="rId9" Type="http://schemas.openxmlformats.org/officeDocument/2006/relationships/image" Target="../media/image50.svg"/></Relationships>
</file>

<file path=ppt/slides/_rels/slide14.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hyperlink" Target="https://medium.com/@santiagobedoa/coding-a-shell-using-c-1ea939f10e7e" TargetMode="External"/><Relationship Id="rId3" Type="http://schemas.openxmlformats.org/officeDocument/2006/relationships/image" Target="../media/image4.svg"/><Relationship Id="rId7" Type="http://schemas.openxmlformats.org/officeDocument/2006/relationships/image" Target="../media/image50.svg"/><Relationship Id="rId12" Type="http://schemas.openxmlformats.org/officeDocument/2006/relationships/hyperlink" Target="https://www.geeksforgeeks.org/linux-unix/how-to-create-a-shell-script-in-linux/" TargetMode="External"/><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49.png"/><Relationship Id="rId11" Type="http://schemas.openxmlformats.org/officeDocument/2006/relationships/image" Target="../media/image56.svg"/><Relationship Id="rId5" Type="http://schemas.openxmlformats.org/officeDocument/2006/relationships/image" Target="../media/image6.svg"/><Relationship Id="rId10" Type="http://schemas.openxmlformats.org/officeDocument/2006/relationships/image" Target="../media/image55.png"/><Relationship Id="rId4" Type="http://schemas.openxmlformats.org/officeDocument/2006/relationships/image" Target="../media/image5.png"/><Relationship Id="rId9" Type="http://schemas.openxmlformats.org/officeDocument/2006/relationships/image" Target="../media/image24.svg"/><Relationship Id="rId14" Type="http://schemas.openxmlformats.org/officeDocument/2006/relationships/hyperlink" Target="https://stackoverflow.com/questions/4772847/creating-a-cli-shell-in-python" TargetMode="External"/></Relationships>
</file>

<file path=ppt/slides/_rels/slide15.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64.svg"/><Relationship Id="rId7" Type="http://schemas.openxmlformats.org/officeDocument/2006/relationships/image" Target="../media/image66.svg"/><Relationship Id="rId2" Type="http://schemas.openxmlformats.org/officeDocument/2006/relationships/image" Target="../media/image63.png"/><Relationship Id="rId1" Type="http://schemas.openxmlformats.org/officeDocument/2006/relationships/slideLayout" Target="../slideLayouts/slideLayout7.xml"/><Relationship Id="rId6" Type="http://schemas.openxmlformats.org/officeDocument/2006/relationships/image" Target="../media/image65.png"/><Relationship Id="rId11" Type="http://schemas.openxmlformats.org/officeDocument/2006/relationships/image" Target="../media/image10.svg"/><Relationship Id="rId5" Type="http://schemas.openxmlformats.org/officeDocument/2006/relationships/image" Target="../media/image22.svg"/><Relationship Id="rId10" Type="http://schemas.openxmlformats.org/officeDocument/2006/relationships/image" Target="../media/image9.png"/><Relationship Id="rId4" Type="http://schemas.openxmlformats.org/officeDocument/2006/relationships/image" Target="../media/image21.png"/><Relationship Id="rId9" Type="http://schemas.openxmlformats.org/officeDocument/2006/relationships/image" Target="../media/image6.svg"/></Relationships>
</file>

<file path=ppt/slides/_rels/slide16.xml.rels><?xml version="1.0" encoding="UTF-8" standalone="yes"?>
<Relationships xmlns="http://schemas.openxmlformats.org/package/2006/relationships"><Relationship Id="rId3" Type="http://schemas.openxmlformats.org/officeDocument/2006/relationships/image" Target="../media/image68.svg"/><Relationship Id="rId7" Type="http://schemas.openxmlformats.org/officeDocument/2006/relationships/image" Target="../media/image72.svg"/><Relationship Id="rId2" Type="http://schemas.openxmlformats.org/officeDocument/2006/relationships/image" Target="../media/image67.png"/><Relationship Id="rId1" Type="http://schemas.openxmlformats.org/officeDocument/2006/relationships/slideLayout" Target="../slideLayouts/slideLayout7.xml"/><Relationship Id="rId6" Type="http://schemas.openxmlformats.org/officeDocument/2006/relationships/image" Target="../media/image71.png"/><Relationship Id="rId5" Type="http://schemas.openxmlformats.org/officeDocument/2006/relationships/image" Target="../media/image70.svg"/><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svg"/><Relationship Id="rId7" Type="http://schemas.openxmlformats.org/officeDocument/2006/relationships/image" Target="../media/image72.svg"/><Relationship Id="rId2" Type="http://schemas.openxmlformats.org/officeDocument/2006/relationships/image" Target="../media/image67.png"/><Relationship Id="rId1" Type="http://schemas.openxmlformats.org/officeDocument/2006/relationships/slideLayout" Target="../slideLayouts/slideLayout7.xml"/><Relationship Id="rId6" Type="http://schemas.openxmlformats.org/officeDocument/2006/relationships/image" Target="../media/image71.png"/><Relationship Id="rId5" Type="http://schemas.openxmlformats.org/officeDocument/2006/relationships/image" Target="../media/image70.svg"/><Relationship Id="rId4" Type="http://schemas.openxmlformats.org/officeDocument/2006/relationships/image" Target="../media/image69.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0DFC8"/>
        </a:solidFill>
        <a:effectLst/>
      </p:bgPr>
    </p:bg>
    <p:spTree>
      <p:nvGrpSpPr>
        <p:cNvPr id="1" name=""/>
        <p:cNvGrpSpPr/>
        <p:nvPr/>
      </p:nvGrpSpPr>
      <p:grpSpPr>
        <a:xfrm>
          <a:off x="0" y="0"/>
          <a:ext cx="0" cy="0"/>
          <a:chOff x="0" y="0"/>
          <a:chExt cx="0" cy="0"/>
        </a:xfrm>
      </p:grpSpPr>
      <p:sp>
        <p:nvSpPr>
          <p:cNvPr id="2" name="Freeform 2"/>
          <p:cNvSpPr/>
          <p:nvPr/>
        </p:nvSpPr>
        <p:spPr>
          <a:xfrm rot="1248111">
            <a:off x="-1117002" y="5894383"/>
            <a:ext cx="8481745" cy="8785235"/>
          </a:xfrm>
          <a:custGeom>
            <a:avLst/>
            <a:gdLst/>
            <a:ahLst/>
            <a:cxnLst/>
            <a:rect l="l" t="t" r="r" b="b"/>
            <a:pathLst>
              <a:path w="8481745" h="8785235">
                <a:moveTo>
                  <a:pt x="0" y="0"/>
                </a:moveTo>
                <a:lnTo>
                  <a:pt x="8481744" y="0"/>
                </a:lnTo>
                <a:lnTo>
                  <a:pt x="8481744" y="8785234"/>
                </a:lnTo>
                <a:lnTo>
                  <a:pt x="0" y="87852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5882929" y="8551572"/>
            <a:ext cx="7230479" cy="4114800"/>
          </a:xfrm>
          <a:custGeom>
            <a:avLst/>
            <a:gdLst/>
            <a:ahLst/>
            <a:cxnLst/>
            <a:rect l="l" t="t" r="r" b="b"/>
            <a:pathLst>
              <a:path w="7230479" h="4114800">
                <a:moveTo>
                  <a:pt x="0" y="0"/>
                </a:moveTo>
                <a:lnTo>
                  <a:pt x="7230480" y="0"/>
                </a:lnTo>
                <a:lnTo>
                  <a:pt x="723048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12144975" y="6993561"/>
            <a:ext cx="6939310" cy="4529477"/>
          </a:xfrm>
          <a:custGeom>
            <a:avLst/>
            <a:gdLst/>
            <a:ahLst/>
            <a:cxnLst/>
            <a:rect l="l" t="t" r="r" b="b"/>
            <a:pathLst>
              <a:path w="6939310" h="4529477">
                <a:moveTo>
                  <a:pt x="0" y="0"/>
                </a:moveTo>
                <a:lnTo>
                  <a:pt x="6939310" y="0"/>
                </a:lnTo>
                <a:lnTo>
                  <a:pt x="6939310" y="4529478"/>
                </a:lnTo>
                <a:lnTo>
                  <a:pt x="0" y="452947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rot="-1175192" flipV="1">
            <a:off x="-1241155" y="-2455238"/>
            <a:ext cx="7276977" cy="4114800"/>
          </a:xfrm>
          <a:custGeom>
            <a:avLst/>
            <a:gdLst/>
            <a:ahLst/>
            <a:cxnLst/>
            <a:rect l="l" t="t" r="r" b="b"/>
            <a:pathLst>
              <a:path w="7276977" h="4114800">
                <a:moveTo>
                  <a:pt x="0" y="4114800"/>
                </a:moveTo>
                <a:lnTo>
                  <a:pt x="7276977" y="4114800"/>
                </a:lnTo>
                <a:lnTo>
                  <a:pt x="7276977" y="0"/>
                </a:lnTo>
                <a:lnTo>
                  <a:pt x="0" y="0"/>
                </a:lnTo>
                <a:lnTo>
                  <a:pt x="0" y="411480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Freeform 6"/>
          <p:cNvSpPr/>
          <p:nvPr/>
        </p:nvSpPr>
        <p:spPr>
          <a:xfrm>
            <a:off x="388152" y="878921"/>
            <a:ext cx="2009181" cy="1881324"/>
          </a:xfrm>
          <a:custGeom>
            <a:avLst/>
            <a:gdLst/>
            <a:ahLst/>
            <a:cxnLst/>
            <a:rect l="l" t="t" r="r" b="b"/>
            <a:pathLst>
              <a:path w="2009181" h="1881324">
                <a:moveTo>
                  <a:pt x="0" y="0"/>
                </a:moveTo>
                <a:lnTo>
                  <a:pt x="2009182" y="0"/>
                </a:lnTo>
                <a:lnTo>
                  <a:pt x="2009182" y="1881324"/>
                </a:lnTo>
                <a:lnTo>
                  <a:pt x="0" y="1881324"/>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7" name="Freeform 7"/>
          <p:cNvSpPr/>
          <p:nvPr/>
        </p:nvSpPr>
        <p:spPr>
          <a:xfrm rot="-5021943">
            <a:off x="13211895" y="-3241631"/>
            <a:ext cx="5927725" cy="5507395"/>
          </a:xfrm>
          <a:custGeom>
            <a:avLst/>
            <a:gdLst/>
            <a:ahLst/>
            <a:cxnLst/>
            <a:rect l="l" t="t" r="r" b="b"/>
            <a:pathLst>
              <a:path w="5927725" h="5507395">
                <a:moveTo>
                  <a:pt x="0" y="0"/>
                </a:moveTo>
                <a:lnTo>
                  <a:pt x="5927725" y="0"/>
                </a:lnTo>
                <a:lnTo>
                  <a:pt x="5927725" y="5507395"/>
                </a:lnTo>
                <a:lnTo>
                  <a:pt x="0" y="5507395"/>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8" name="Freeform 8"/>
          <p:cNvSpPr/>
          <p:nvPr/>
        </p:nvSpPr>
        <p:spPr>
          <a:xfrm>
            <a:off x="16175757" y="3357452"/>
            <a:ext cx="2714395" cy="2795725"/>
          </a:xfrm>
          <a:custGeom>
            <a:avLst/>
            <a:gdLst/>
            <a:ahLst/>
            <a:cxnLst/>
            <a:rect l="l" t="t" r="r" b="b"/>
            <a:pathLst>
              <a:path w="2714395" h="2795725">
                <a:moveTo>
                  <a:pt x="0" y="0"/>
                </a:moveTo>
                <a:lnTo>
                  <a:pt x="2714395" y="0"/>
                </a:lnTo>
                <a:lnTo>
                  <a:pt x="2714395" y="2795725"/>
                </a:lnTo>
                <a:lnTo>
                  <a:pt x="0" y="2795725"/>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9" name="Freeform 9"/>
          <p:cNvSpPr/>
          <p:nvPr/>
        </p:nvSpPr>
        <p:spPr>
          <a:xfrm rot="10638666">
            <a:off x="3491994" y="-876290"/>
            <a:ext cx="3239470" cy="4114800"/>
          </a:xfrm>
          <a:custGeom>
            <a:avLst/>
            <a:gdLst/>
            <a:ahLst/>
            <a:cxnLst/>
            <a:rect l="l" t="t" r="r" b="b"/>
            <a:pathLst>
              <a:path w="3239470" h="4114800">
                <a:moveTo>
                  <a:pt x="0" y="0"/>
                </a:moveTo>
                <a:lnTo>
                  <a:pt x="3239470" y="0"/>
                </a:lnTo>
                <a:lnTo>
                  <a:pt x="3239470" y="4114800"/>
                </a:lnTo>
                <a:lnTo>
                  <a:pt x="0" y="4114800"/>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sp>
        <p:nvSpPr>
          <p:cNvPr id="10" name="Freeform 10"/>
          <p:cNvSpPr/>
          <p:nvPr/>
        </p:nvSpPr>
        <p:spPr>
          <a:xfrm>
            <a:off x="9949190" y="556446"/>
            <a:ext cx="2195785" cy="2203799"/>
          </a:xfrm>
          <a:custGeom>
            <a:avLst/>
            <a:gdLst/>
            <a:ahLst/>
            <a:cxnLst/>
            <a:rect l="l" t="t" r="r" b="b"/>
            <a:pathLst>
              <a:path w="2195785" h="2203799">
                <a:moveTo>
                  <a:pt x="0" y="0"/>
                </a:moveTo>
                <a:lnTo>
                  <a:pt x="2195785" y="0"/>
                </a:lnTo>
                <a:lnTo>
                  <a:pt x="2195785" y="2203799"/>
                </a:lnTo>
                <a:lnTo>
                  <a:pt x="0" y="2203799"/>
                </a:lnTo>
                <a:lnTo>
                  <a:pt x="0" y="0"/>
                </a:lnTo>
                <a:close/>
              </a:path>
            </a:pathLst>
          </a:custGeom>
          <a:blipFill>
            <a:blip r:embed="rId18">
              <a:extLst>
                <a:ext uri="{96DAC541-7B7A-43D3-8B79-37D633B846F1}">
                  <asvg:svgBlip xmlns:asvg="http://schemas.microsoft.com/office/drawing/2016/SVG/main" r:embed="rId19"/>
                </a:ext>
              </a:extLst>
            </a:blip>
            <a:stretch>
              <a:fillRect/>
            </a:stretch>
          </a:blipFill>
          <a:ln cap="sq">
            <a:noFill/>
            <a:prstDash val="solid"/>
            <a:miter/>
          </a:ln>
        </p:spPr>
      </p:sp>
      <p:sp>
        <p:nvSpPr>
          <p:cNvPr id="11" name="TextBox 11"/>
          <p:cNvSpPr txBox="1"/>
          <p:nvPr/>
        </p:nvSpPr>
        <p:spPr>
          <a:xfrm>
            <a:off x="800288" y="3724007"/>
            <a:ext cx="16687424" cy="3501390"/>
          </a:xfrm>
          <a:prstGeom prst="rect">
            <a:avLst/>
          </a:prstGeom>
        </p:spPr>
        <p:txBody>
          <a:bodyPr lIns="0" tIns="0" rIns="0" bIns="0" rtlCol="0" anchor="t">
            <a:spAutoFit/>
          </a:bodyPr>
          <a:lstStyle/>
          <a:p>
            <a:pPr marL="0" lvl="0" indent="0" algn="ctr">
              <a:lnSpc>
                <a:spcPts val="8730"/>
              </a:lnSpc>
              <a:spcBef>
                <a:spcPct val="0"/>
              </a:spcBef>
            </a:pPr>
            <a:r>
              <a:rPr lang="en-US" sz="9000" b="1">
                <a:solidFill>
                  <a:srgbClr val="303030"/>
                </a:solidFill>
                <a:latin typeface="Hagrid Ultra-Bold"/>
                <a:ea typeface="Hagrid Ultra-Bold"/>
                <a:cs typeface="Hagrid Ultra-Bold"/>
                <a:sym typeface="Hagrid Ultra-Bold"/>
              </a:rPr>
              <a:t>DEVELOPING A SHELL OR COMMAND LINE INTERFACE</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0DFC8"/>
        </a:solidFill>
        <a:effectLst/>
      </p:bgPr>
    </p:bg>
    <p:spTree>
      <p:nvGrpSpPr>
        <p:cNvPr id="1" name=""/>
        <p:cNvGrpSpPr/>
        <p:nvPr/>
      </p:nvGrpSpPr>
      <p:grpSpPr>
        <a:xfrm>
          <a:off x="0" y="0"/>
          <a:ext cx="0" cy="0"/>
          <a:chOff x="0" y="0"/>
          <a:chExt cx="0" cy="0"/>
        </a:xfrm>
      </p:grpSpPr>
      <p:sp>
        <p:nvSpPr>
          <p:cNvPr id="2" name="Freeform 2"/>
          <p:cNvSpPr/>
          <p:nvPr/>
        </p:nvSpPr>
        <p:spPr>
          <a:xfrm>
            <a:off x="8042325" y="7428997"/>
            <a:ext cx="6939310" cy="4529477"/>
          </a:xfrm>
          <a:custGeom>
            <a:avLst/>
            <a:gdLst/>
            <a:ahLst/>
            <a:cxnLst/>
            <a:rect l="l" t="t" r="r" b="b"/>
            <a:pathLst>
              <a:path w="6939310" h="4529477">
                <a:moveTo>
                  <a:pt x="0" y="0"/>
                </a:moveTo>
                <a:lnTo>
                  <a:pt x="6939310" y="0"/>
                </a:lnTo>
                <a:lnTo>
                  <a:pt x="6939310" y="4529477"/>
                </a:lnTo>
                <a:lnTo>
                  <a:pt x="0" y="4529477"/>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3" name="Freeform 3"/>
          <p:cNvSpPr/>
          <p:nvPr/>
        </p:nvSpPr>
        <p:spPr>
          <a:xfrm>
            <a:off x="13191215" y="8485839"/>
            <a:ext cx="5927725" cy="5507395"/>
          </a:xfrm>
          <a:custGeom>
            <a:avLst/>
            <a:gdLst/>
            <a:ahLst/>
            <a:cxnLst/>
            <a:rect l="l" t="t" r="r" b="b"/>
            <a:pathLst>
              <a:path w="5927725" h="5507395">
                <a:moveTo>
                  <a:pt x="0" y="0"/>
                </a:moveTo>
                <a:lnTo>
                  <a:pt x="5927724" y="0"/>
                </a:lnTo>
                <a:lnTo>
                  <a:pt x="5927724" y="5507395"/>
                </a:lnTo>
                <a:lnTo>
                  <a:pt x="0" y="5507395"/>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sp>
      <p:sp>
        <p:nvSpPr>
          <p:cNvPr id="4" name="Freeform 4"/>
          <p:cNvSpPr/>
          <p:nvPr/>
        </p:nvSpPr>
        <p:spPr>
          <a:xfrm>
            <a:off x="1612005" y="8809689"/>
            <a:ext cx="6985000" cy="4114800"/>
          </a:xfrm>
          <a:custGeom>
            <a:avLst/>
            <a:gdLst/>
            <a:ahLst/>
            <a:cxnLst/>
            <a:rect l="l" t="t" r="r" b="b"/>
            <a:pathLst>
              <a:path w="6985000" h="4114800">
                <a:moveTo>
                  <a:pt x="0" y="0"/>
                </a:moveTo>
                <a:lnTo>
                  <a:pt x="6985000" y="0"/>
                </a:lnTo>
                <a:lnTo>
                  <a:pt x="6985000"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rot="-8892533">
            <a:off x="12527722" y="-3137132"/>
            <a:ext cx="6176504" cy="5615004"/>
          </a:xfrm>
          <a:custGeom>
            <a:avLst/>
            <a:gdLst/>
            <a:ahLst/>
            <a:cxnLst/>
            <a:rect l="l" t="t" r="r" b="b"/>
            <a:pathLst>
              <a:path w="6176504" h="5615004">
                <a:moveTo>
                  <a:pt x="0" y="0"/>
                </a:moveTo>
                <a:lnTo>
                  <a:pt x="6176504" y="0"/>
                </a:lnTo>
                <a:lnTo>
                  <a:pt x="6176504" y="5615003"/>
                </a:lnTo>
                <a:lnTo>
                  <a:pt x="0" y="5615003"/>
                </a:lnTo>
                <a:lnTo>
                  <a:pt x="0" y="0"/>
                </a:lnTo>
                <a:close/>
              </a:path>
            </a:pathLst>
          </a:custGeom>
          <a:blipFill>
            <a:blip r:embed="rId8">
              <a:extLst>
                <a:ext uri="{96DAC541-7B7A-43D3-8B79-37D633B846F1}">
                  <asvg:svgBlip xmlns:asvg="http://schemas.microsoft.com/office/drawing/2016/SVG/main" r:embed="rId9"/>
                </a:ext>
              </a:extLst>
            </a:blip>
            <a:stretch>
              <a:fillRect/>
            </a:stretch>
          </a:blipFill>
          <a:ln cap="sq">
            <a:noFill/>
            <a:prstDash val="solid"/>
            <a:miter/>
          </a:ln>
        </p:spPr>
      </p:sp>
      <p:sp>
        <p:nvSpPr>
          <p:cNvPr id="6" name="TextBox 6"/>
          <p:cNvSpPr txBox="1"/>
          <p:nvPr/>
        </p:nvSpPr>
        <p:spPr>
          <a:xfrm>
            <a:off x="1028700" y="2796985"/>
            <a:ext cx="9158319" cy="1116330"/>
          </a:xfrm>
          <a:prstGeom prst="rect">
            <a:avLst/>
          </a:prstGeom>
        </p:spPr>
        <p:txBody>
          <a:bodyPr lIns="0" tIns="0" rIns="0" bIns="0" rtlCol="0" anchor="t">
            <a:spAutoFit/>
          </a:bodyPr>
          <a:lstStyle/>
          <a:p>
            <a:pPr algn="just">
              <a:lnSpc>
                <a:spcPts val="4410"/>
              </a:lnSpc>
            </a:pPr>
            <a:r>
              <a:rPr lang="en-US" sz="3500" b="1" spc="-175">
                <a:solidFill>
                  <a:srgbClr val="303030"/>
                </a:solidFill>
                <a:latin typeface="Roboto Bold"/>
                <a:ea typeface="Roboto Bold"/>
                <a:cs typeface="Roboto Bold"/>
                <a:sym typeface="Roboto Bold"/>
              </a:rPr>
              <a:t>Course Code  :    CSE 324</a:t>
            </a:r>
          </a:p>
          <a:p>
            <a:pPr algn="just">
              <a:lnSpc>
                <a:spcPts val="4410"/>
              </a:lnSpc>
            </a:pPr>
            <a:r>
              <a:rPr lang="en-US" sz="3500" b="1" spc="-175">
                <a:solidFill>
                  <a:srgbClr val="303030"/>
                </a:solidFill>
                <a:latin typeface="Roboto Bold"/>
                <a:ea typeface="Roboto Bold"/>
                <a:cs typeface="Roboto Bold"/>
                <a:sym typeface="Roboto Bold"/>
              </a:rPr>
              <a:t>Course Title     :   Operating Systems Lab</a:t>
            </a:r>
          </a:p>
        </p:txBody>
      </p:sp>
      <p:sp>
        <p:nvSpPr>
          <p:cNvPr id="7" name="TextBox 7"/>
          <p:cNvSpPr txBox="1"/>
          <p:nvPr/>
        </p:nvSpPr>
        <p:spPr>
          <a:xfrm>
            <a:off x="10150305" y="4680472"/>
            <a:ext cx="7633845" cy="2334311"/>
          </a:xfrm>
          <a:prstGeom prst="rect">
            <a:avLst/>
          </a:prstGeom>
        </p:spPr>
        <p:txBody>
          <a:bodyPr lIns="0" tIns="0" rIns="0" bIns="0" rtlCol="0" anchor="t">
            <a:spAutoFit/>
          </a:bodyPr>
          <a:lstStyle/>
          <a:p>
            <a:pPr algn="just">
              <a:lnSpc>
                <a:spcPts val="4611"/>
              </a:lnSpc>
              <a:spcBef>
                <a:spcPct val="0"/>
              </a:spcBef>
            </a:pPr>
            <a:r>
              <a:rPr lang="en-US" sz="3660" b="1" spc="-183">
                <a:solidFill>
                  <a:srgbClr val="303030"/>
                </a:solidFill>
                <a:latin typeface="Roboto Bold"/>
                <a:ea typeface="Roboto Bold"/>
                <a:cs typeface="Roboto Bold"/>
                <a:sym typeface="Roboto Bold"/>
              </a:rPr>
              <a:t>Nushrat Jahan Oyshi</a:t>
            </a:r>
          </a:p>
          <a:p>
            <a:pPr algn="just">
              <a:lnSpc>
                <a:spcPts val="4611"/>
              </a:lnSpc>
              <a:spcBef>
                <a:spcPct val="0"/>
              </a:spcBef>
            </a:pPr>
            <a:r>
              <a:rPr lang="en-US" sz="3660" b="1" spc="-183">
                <a:solidFill>
                  <a:srgbClr val="303030"/>
                </a:solidFill>
                <a:latin typeface="Roboto Bold"/>
                <a:ea typeface="Roboto Bold"/>
                <a:cs typeface="Roboto Bold"/>
                <a:sym typeface="Roboto Bold"/>
              </a:rPr>
              <a:t>Lecturer</a:t>
            </a:r>
          </a:p>
          <a:p>
            <a:pPr algn="just">
              <a:lnSpc>
                <a:spcPts val="4611"/>
              </a:lnSpc>
              <a:spcBef>
                <a:spcPct val="0"/>
              </a:spcBef>
            </a:pPr>
            <a:r>
              <a:rPr lang="en-US" sz="3660" b="1" spc="-183">
                <a:solidFill>
                  <a:srgbClr val="303030"/>
                </a:solidFill>
                <a:latin typeface="Roboto Bold"/>
                <a:ea typeface="Roboto Bold"/>
                <a:cs typeface="Roboto Bold"/>
                <a:sym typeface="Roboto Bold"/>
              </a:rPr>
              <a:t>Department of CSE</a:t>
            </a:r>
          </a:p>
          <a:p>
            <a:pPr algn="just">
              <a:lnSpc>
                <a:spcPts val="4611"/>
              </a:lnSpc>
              <a:spcBef>
                <a:spcPct val="0"/>
              </a:spcBef>
            </a:pPr>
            <a:r>
              <a:rPr lang="en-US" sz="3660" b="1" spc="-183">
                <a:solidFill>
                  <a:srgbClr val="303030"/>
                </a:solidFill>
                <a:latin typeface="Roboto Bold"/>
                <a:ea typeface="Roboto Bold"/>
                <a:cs typeface="Roboto Bold"/>
                <a:sym typeface="Roboto Bold"/>
              </a:rPr>
              <a:t>Daffodil International University</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0DFC8"/>
        </a:solidFill>
        <a:effectLst/>
      </p:bgPr>
    </p:bg>
    <p:spTree>
      <p:nvGrpSpPr>
        <p:cNvPr id="1" name=""/>
        <p:cNvGrpSpPr/>
        <p:nvPr/>
      </p:nvGrpSpPr>
      <p:grpSpPr>
        <a:xfrm>
          <a:off x="0" y="0"/>
          <a:ext cx="0" cy="0"/>
          <a:chOff x="0" y="0"/>
          <a:chExt cx="0" cy="0"/>
        </a:xfrm>
      </p:grpSpPr>
      <p:sp>
        <p:nvSpPr>
          <p:cNvPr id="2" name="Freeform 2"/>
          <p:cNvSpPr/>
          <p:nvPr/>
        </p:nvSpPr>
        <p:spPr>
          <a:xfrm rot="-1396343">
            <a:off x="12220740" y="8142660"/>
            <a:ext cx="7536020" cy="4288681"/>
          </a:xfrm>
          <a:custGeom>
            <a:avLst/>
            <a:gdLst/>
            <a:ahLst/>
            <a:cxnLst/>
            <a:rect l="l" t="t" r="r" b="b"/>
            <a:pathLst>
              <a:path w="7536020" h="4288681">
                <a:moveTo>
                  <a:pt x="0" y="0"/>
                </a:moveTo>
                <a:lnTo>
                  <a:pt x="7536020" y="0"/>
                </a:lnTo>
                <a:lnTo>
                  <a:pt x="7536020" y="4288680"/>
                </a:lnTo>
                <a:lnTo>
                  <a:pt x="0" y="428868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5133450" y="8042877"/>
            <a:ext cx="8021099" cy="5235590"/>
          </a:xfrm>
          <a:custGeom>
            <a:avLst/>
            <a:gdLst/>
            <a:ahLst/>
            <a:cxnLst/>
            <a:rect l="l" t="t" r="r" b="b"/>
            <a:pathLst>
              <a:path w="8021099" h="5235590">
                <a:moveTo>
                  <a:pt x="0" y="0"/>
                </a:moveTo>
                <a:lnTo>
                  <a:pt x="8021100" y="0"/>
                </a:lnTo>
                <a:lnTo>
                  <a:pt x="8021100" y="5235590"/>
                </a:lnTo>
                <a:lnTo>
                  <a:pt x="0" y="5235590"/>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sp>
      <p:sp>
        <p:nvSpPr>
          <p:cNvPr id="4" name="Freeform 4"/>
          <p:cNvSpPr/>
          <p:nvPr/>
        </p:nvSpPr>
        <p:spPr>
          <a:xfrm>
            <a:off x="15639941" y="-613414"/>
            <a:ext cx="2849365" cy="2771655"/>
          </a:xfrm>
          <a:custGeom>
            <a:avLst/>
            <a:gdLst/>
            <a:ahLst/>
            <a:cxnLst/>
            <a:rect l="l" t="t" r="r" b="b"/>
            <a:pathLst>
              <a:path w="2849365" h="2771655">
                <a:moveTo>
                  <a:pt x="0" y="0"/>
                </a:moveTo>
                <a:lnTo>
                  <a:pt x="2849365" y="0"/>
                </a:lnTo>
                <a:lnTo>
                  <a:pt x="2849365" y="2771656"/>
                </a:lnTo>
                <a:lnTo>
                  <a:pt x="0" y="277165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rot="-781748">
            <a:off x="-747735" y="-4307272"/>
            <a:ext cx="6531599" cy="6484096"/>
          </a:xfrm>
          <a:custGeom>
            <a:avLst/>
            <a:gdLst/>
            <a:ahLst/>
            <a:cxnLst/>
            <a:rect l="l" t="t" r="r" b="b"/>
            <a:pathLst>
              <a:path w="6531599" h="6484096">
                <a:moveTo>
                  <a:pt x="0" y="0"/>
                </a:moveTo>
                <a:lnTo>
                  <a:pt x="6531599" y="0"/>
                </a:lnTo>
                <a:lnTo>
                  <a:pt x="6531599" y="6484096"/>
                </a:lnTo>
                <a:lnTo>
                  <a:pt x="0" y="6484096"/>
                </a:lnTo>
                <a:lnTo>
                  <a:pt x="0" y="0"/>
                </a:lnTo>
                <a:close/>
              </a:path>
            </a:pathLst>
          </a:custGeom>
          <a:blipFill>
            <a:blip r:embed="rId8">
              <a:extLst>
                <a:ext uri="{96DAC541-7B7A-43D3-8B79-37D633B846F1}">
                  <asvg:svgBlip xmlns:asvg="http://schemas.microsoft.com/office/drawing/2016/SVG/main" r:embed="rId9"/>
                </a:ext>
              </a:extLst>
            </a:blip>
            <a:stretch>
              <a:fillRect/>
            </a:stretch>
          </a:blipFill>
          <a:ln cap="sq">
            <a:noFill/>
            <a:prstDash val="solid"/>
            <a:miter/>
          </a:ln>
        </p:spPr>
      </p:sp>
      <p:sp>
        <p:nvSpPr>
          <p:cNvPr id="6" name="Freeform 6"/>
          <p:cNvSpPr/>
          <p:nvPr/>
        </p:nvSpPr>
        <p:spPr>
          <a:xfrm>
            <a:off x="12360806" y="2373013"/>
            <a:ext cx="5927194" cy="5853104"/>
          </a:xfrm>
          <a:custGeom>
            <a:avLst/>
            <a:gdLst/>
            <a:ahLst/>
            <a:cxnLst/>
            <a:rect l="l" t="t" r="r" b="b"/>
            <a:pathLst>
              <a:path w="5927194" h="5853104">
                <a:moveTo>
                  <a:pt x="0" y="0"/>
                </a:moveTo>
                <a:lnTo>
                  <a:pt x="5927194" y="0"/>
                </a:lnTo>
                <a:lnTo>
                  <a:pt x="5927194" y="5853104"/>
                </a:lnTo>
                <a:lnTo>
                  <a:pt x="0" y="5853104"/>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7" name="TextBox 7"/>
          <p:cNvSpPr txBox="1"/>
          <p:nvPr/>
        </p:nvSpPr>
        <p:spPr>
          <a:xfrm>
            <a:off x="1148666" y="3219911"/>
            <a:ext cx="9267073" cy="1045978"/>
          </a:xfrm>
          <a:prstGeom prst="rect">
            <a:avLst/>
          </a:prstGeom>
        </p:spPr>
        <p:txBody>
          <a:bodyPr lIns="0" tIns="0" rIns="0" bIns="0" rtlCol="0" anchor="t">
            <a:spAutoFit/>
          </a:bodyPr>
          <a:lstStyle/>
          <a:p>
            <a:pPr marL="0" lvl="0" indent="0" algn="l">
              <a:lnSpc>
                <a:spcPts val="7532"/>
              </a:lnSpc>
              <a:spcBef>
                <a:spcPct val="0"/>
              </a:spcBef>
            </a:pPr>
            <a:r>
              <a:rPr lang="en-US" sz="7765" b="1">
                <a:solidFill>
                  <a:srgbClr val="303030"/>
                </a:solidFill>
                <a:latin typeface="Hagrid Ultra-Bold"/>
                <a:ea typeface="Hagrid Ultra-Bold"/>
                <a:cs typeface="Hagrid Ultra-Bold"/>
                <a:sym typeface="Hagrid Ultra-Bold"/>
              </a:rPr>
              <a:t>TEAM INFO</a:t>
            </a:r>
          </a:p>
        </p:txBody>
      </p:sp>
      <p:sp>
        <p:nvSpPr>
          <p:cNvPr id="8" name="TextBox 8"/>
          <p:cNvSpPr txBox="1"/>
          <p:nvPr/>
        </p:nvSpPr>
        <p:spPr>
          <a:xfrm>
            <a:off x="1148666" y="6996082"/>
            <a:ext cx="3113597" cy="753541"/>
          </a:xfrm>
          <a:prstGeom prst="rect">
            <a:avLst/>
          </a:prstGeom>
        </p:spPr>
        <p:txBody>
          <a:bodyPr lIns="0" tIns="0" rIns="0" bIns="0" rtlCol="0" anchor="t">
            <a:spAutoFit/>
          </a:bodyPr>
          <a:lstStyle/>
          <a:p>
            <a:pPr algn="just">
              <a:lnSpc>
                <a:spcPts val="2973"/>
              </a:lnSpc>
            </a:pPr>
            <a:r>
              <a:rPr lang="en-US" sz="2360" b="1" spc="-118">
                <a:solidFill>
                  <a:srgbClr val="303030"/>
                </a:solidFill>
                <a:latin typeface="Roboto Bold"/>
                <a:ea typeface="Roboto Bold"/>
                <a:cs typeface="Roboto Bold"/>
                <a:sym typeface="Roboto Bold"/>
              </a:rPr>
              <a:t>Md. Tamim Islam</a:t>
            </a:r>
          </a:p>
          <a:p>
            <a:pPr algn="just">
              <a:lnSpc>
                <a:spcPts val="2973"/>
              </a:lnSpc>
            </a:pPr>
            <a:r>
              <a:rPr lang="en-US" sz="2360" b="1" spc="-118">
                <a:solidFill>
                  <a:srgbClr val="303030"/>
                </a:solidFill>
                <a:latin typeface="Roboto Bold"/>
                <a:ea typeface="Roboto Bold"/>
                <a:cs typeface="Roboto Bold"/>
                <a:sym typeface="Roboto Bold"/>
              </a:rPr>
              <a:t>0242310005101285</a:t>
            </a:r>
          </a:p>
        </p:txBody>
      </p:sp>
      <p:sp>
        <p:nvSpPr>
          <p:cNvPr id="9" name="TextBox 9"/>
          <p:cNvSpPr txBox="1"/>
          <p:nvPr/>
        </p:nvSpPr>
        <p:spPr>
          <a:xfrm>
            <a:off x="2850748" y="8504759"/>
            <a:ext cx="2823029" cy="753541"/>
          </a:xfrm>
          <a:prstGeom prst="rect">
            <a:avLst/>
          </a:prstGeom>
        </p:spPr>
        <p:txBody>
          <a:bodyPr lIns="0" tIns="0" rIns="0" bIns="0" rtlCol="0" anchor="t">
            <a:spAutoFit/>
          </a:bodyPr>
          <a:lstStyle/>
          <a:p>
            <a:pPr algn="just">
              <a:lnSpc>
                <a:spcPts val="2973"/>
              </a:lnSpc>
            </a:pPr>
            <a:r>
              <a:rPr lang="en-US" sz="2360" b="1" spc="-118">
                <a:solidFill>
                  <a:srgbClr val="303030"/>
                </a:solidFill>
                <a:latin typeface="Roboto Bold"/>
                <a:ea typeface="Roboto Bold"/>
                <a:cs typeface="Roboto Bold"/>
                <a:sym typeface="Roboto Bold"/>
              </a:rPr>
              <a:t>Md. Mahidul Islam </a:t>
            </a:r>
          </a:p>
          <a:p>
            <a:pPr algn="just">
              <a:lnSpc>
                <a:spcPts val="2973"/>
              </a:lnSpc>
            </a:pPr>
            <a:r>
              <a:rPr lang="en-US" sz="2360" b="1" spc="-118">
                <a:solidFill>
                  <a:srgbClr val="303030"/>
                </a:solidFill>
                <a:latin typeface="Roboto Bold"/>
                <a:ea typeface="Roboto Bold"/>
                <a:cs typeface="Roboto Bold"/>
                <a:sym typeface="Roboto Bold"/>
              </a:rPr>
              <a:t>0242310005101289</a:t>
            </a:r>
          </a:p>
        </p:txBody>
      </p:sp>
      <p:sp>
        <p:nvSpPr>
          <p:cNvPr id="10" name="TextBox 10"/>
          <p:cNvSpPr txBox="1"/>
          <p:nvPr/>
        </p:nvSpPr>
        <p:spPr>
          <a:xfrm>
            <a:off x="4629292" y="6996082"/>
            <a:ext cx="3068245" cy="753541"/>
          </a:xfrm>
          <a:prstGeom prst="rect">
            <a:avLst/>
          </a:prstGeom>
        </p:spPr>
        <p:txBody>
          <a:bodyPr lIns="0" tIns="0" rIns="0" bIns="0" rtlCol="0" anchor="t">
            <a:spAutoFit/>
          </a:bodyPr>
          <a:lstStyle/>
          <a:p>
            <a:pPr algn="just">
              <a:lnSpc>
                <a:spcPts val="2973"/>
              </a:lnSpc>
            </a:pPr>
            <a:r>
              <a:rPr lang="en-US" sz="2360" b="1" spc="-118">
                <a:solidFill>
                  <a:srgbClr val="303030"/>
                </a:solidFill>
                <a:latin typeface="Roboto Bold"/>
                <a:ea typeface="Roboto Bold"/>
                <a:cs typeface="Roboto Bold"/>
                <a:sym typeface="Roboto Bold"/>
              </a:rPr>
              <a:t>Ibrahim Walid Khan</a:t>
            </a:r>
          </a:p>
          <a:p>
            <a:pPr algn="just">
              <a:lnSpc>
                <a:spcPts val="2973"/>
              </a:lnSpc>
            </a:pPr>
            <a:r>
              <a:rPr lang="en-US" sz="2360" b="1" spc="-118">
                <a:solidFill>
                  <a:srgbClr val="303030"/>
                </a:solidFill>
                <a:latin typeface="Roboto Bold"/>
                <a:ea typeface="Roboto Bold"/>
                <a:cs typeface="Roboto Bold"/>
                <a:sym typeface="Roboto Bold"/>
              </a:rPr>
              <a:t>0242310005101242</a:t>
            </a:r>
          </a:p>
        </p:txBody>
      </p:sp>
      <p:sp>
        <p:nvSpPr>
          <p:cNvPr id="11" name="TextBox 11"/>
          <p:cNvSpPr txBox="1"/>
          <p:nvPr/>
        </p:nvSpPr>
        <p:spPr>
          <a:xfrm>
            <a:off x="4629292" y="5270990"/>
            <a:ext cx="3602807" cy="753541"/>
          </a:xfrm>
          <a:prstGeom prst="rect">
            <a:avLst/>
          </a:prstGeom>
        </p:spPr>
        <p:txBody>
          <a:bodyPr lIns="0" tIns="0" rIns="0" bIns="0" rtlCol="0" anchor="t">
            <a:spAutoFit/>
          </a:bodyPr>
          <a:lstStyle/>
          <a:p>
            <a:pPr algn="just">
              <a:lnSpc>
                <a:spcPts val="2973"/>
              </a:lnSpc>
            </a:pPr>
            <a:r>
              <a:rPr lang="en-US" sz="2360" b="1" spc="-118">
                <a:solidFill>
                  <a:srgbClr val="303030"/>
                </a:solidFill>
                <a:latin typeface="Roboto Bold"/>
                <a:ea typeface="Roboto Bold"/>
                <a:cs typeface="Roboto Bold"/>
                <a:sym typeface="Roboto Bold"/>
              </a:rPr>
              <a:t>Mosabbir Hossen Maruf</a:t>
            </a:r>
          </a:p>
          <a:p>
            <a:pPr algn="just">
              <a:lnSpc>
                <a:spcPts val="2973"/>
              </a:lnSpc>
            </a:pPr>
            <a:r>
              <a:rPr lang="en-US" sz="2360" b="1" spc="-118">
                <a:solidFill>
                  <a:srgbClr val="303030"/>
                </a:solidFill>
                <a:latin typeface="Roboto Bold"/>
                <a:ea typeface="Roboto Bold"/>
                <a:cs typeface="Roboto Bold"/>
                <a:sym typeface="Roboto Bold"/>
              </a:rPr>
              <a:t>0242310005101182</a:t>
            </a:r>
          </a:p>
        </p:txBody>
      </p:sp>
      <p:sp>
        <p:nvSpPr>
          <p:cNvPr id="12" name="TextBox 12"/>
          <p:cNvSpPr txBox="1"/>
          <p:nvPr/>
        </p:nvSpPr>
        <p:spPr>
          <a:xfrm>
            <a:off x="1148666" y="5270990"/>
            <a:ext cx="3602807" cy="753541"/>
          </a:xfrm>
          <a:prstGeom prst="rect">
            <a:avLst/>
          </a:prstGeom>
        </p:spPr>
        <p:txBody>
          <a:bodyPr lIns="0" tIns="0" rIns="0" bIns="0" rtlCol="0" anchor="t">
            <a:spAutoFit/>
          </a:bodyPr>
          <a:lstStyle/>
          <a:p>
            <a:pPr algn="just">
              <a:lnSpc>
                <a:spcPts val="2973"/>
              </a:lnSpc>
            </a:pPr>
            <a:r>
              <a:rPr lang="en-US" sz="2360" b="1" spc="-118">
                <a:solidFill>
                  <a:srgbClr val="303030"/>
                </a:solidFill>
                <a:latin typeface="Roboto Bold"/>
                <a:ea typeface="Roboto Bold"/>
                <a:cs typeface="Roboto Bold"/>
                <a:sym typeface="Roboto Bold"/>
              </a:rPr>
              <a:t>Shahriar Imtiaz Limon</a:t>
            </a:r>
          </a:p>
          <a:p>
            <a:pPr algn="just">
              <a:lnSpc>
                <a:spcPts val="2973"/>
              </a:lnSpc>
            </a:pPr>
            <a:r>
              <a:rPr lang="en-US" sz="2360" b="1" spc="-118">
                <a:solidFill>
                  <a:srgbClr val="303030"/>
                </a:solidFill>
                <a:latin typeface="Roboto Bold"/>
                <a:ea typeface="Roboto Bold"/>
                <a:cs typeface="Roboto Bold"/>
                <a:sym typeface="Roboto Bold"/>
              </a:rPr>
              <a:t>0242310005101283</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0DFC8"/>
        </a:solidFill>
        <a:effectLst/>
      </p:bgPr>
    </p:bg>
    <p:spTree>
      <p:nvGrpSpPr>
        <p:cNvPr id="1" name=""/>
        <p:cNvGrpSpPr/>
        <p:nvPr/>
      </p:nvGrpSpPr>
      <p:grpSpPr>
        <a:xfrm>
          <a:off x="0" y="0"/>
          <a:ext cx="0" cy="0"/>
          <a:chOff x="0" y="0"/>
          <a:chExt cx="0" cy="0"/>
        </a:xfrm>
      </p:grpSpPr>
      <p:sp>
        <p:nvSpPr>
          <p:cNvPr id="2" name="Freeform 2"/>
          <p:cNvSpPr/>
          <p:nvPr/>
        </p:nvSpPr>
        <p:spPr>
          <a:xfrm>
            <a:off x="465841" y="841664"/>
            <a:ext cx="2703667" cy="2703667"/>
          </a:xfrm>
          <a:custGeom>
            <a:avLst/>
            <a:gdLst/>
            <a:ahLst/>
            <a:cxnLst/>
            <a:rect l="l" t="t" r="r" b="b"/>
            <a:pathLst>
              <a:path w="2703667" h="2703667">
                <a:moveTo>
                  <a:pt x="0" y="0"/>
                </a:moveTo>
                <a:lnTo>
                  <a:pt x="2703667" y="0"/>
                </a:lnTo>
                <a:lnTo>
                  <a:pt x="2703667" y="2703666"/>
                </a:lnTo>
                <a:lnTo>
                  <a:pt x="0" y="270366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465841" y="3897869"/>
            <a:ext cx="2703667" cy="2703667"/>
          </a:xfrm>
          <a:custGeom>
            <a:avLst/>
            <a:gdLst/>
            <a:ahLst/>
            <a:cxnLst/>
            <a:rect l="l" t="t" r="r" b="b"/>
            <a:pathLst>
              <a:path w="2703667" h="2703667">
                <a:moveTo>
                  <a:pt x="0" y="0"/>
                </a:moveTo>
                <a:lnTo>
                  <a:pt x="2703667" y="0"/>
                </a:lnTo>
                <a:lnTo>
                  <a:pt x="2703667" y="2703666"/>
                </a:lnTo>
                <a:lnTo>
                  <a:pt x="0" y="270366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568464" y="6953960"/>
            <a:ext cx="2703667" cy="2703667"/>
          </a:xfrm>
          <a:custGeom>
            <a:avLst/>
            <a:gdLst/>
            <a:ahLst/>
            <a:cxnLst/>
            <a:rect l="l" t="t" r="r" b="b"/>
            <a:pathLst>
              <a:path w="2703667" h="2703667">
                <a:moveTo>
                  <a:pt x="0" y="0"/>
                </a:moveTo>
                <a:lnTo>
                  <a:pt x="2703667" y="0"/>
                </a:lnTo>
                <a:lnTo>
                  <a:pt x="2703667" y="2703667"/>
                </a:lnTo>
                <a:lnTo>
                  <a:pt x="0" y="270366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a:off x="909341" y="1293111"/>
            <a:ext cx="1816667" cy="1800771"/>
          </a:xfrm>
          <a:custGeom>
            <a:avLst/>
            <a:gdLst/>
            <a:ahLst/>
            <a:cxnLst/>
            <a:rect l="l" t="t" r="r" b="b"/>
            <a:pathLst>
              <a:path w="1816667" h="1800771">
                <a:moveTo>
                  <a:pt x="0" y="0"/>
                </a:moveTo>
                <a:lnTo>
                  <a:pt x="1816667" y="0"/>
                </a:lnTo>
                <a:lnTo>
                  <a:pt x="1816667" y="1800771"/>
                </a:lnTo>
                <a:lnTo>
                  <a:pt x="0" y="180077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a:off x="1015388" y="7405408"/>
            <a:ext cx="1809820" cy="1800771"/>
          </a:xfrm>
          <a:custGeom>
            <a:avLst/>
            <a:gdLst/>
            <a:ahLst/>
            <a:cxnLst/>
            <a:rect l="l" t="t" r="r" b="b"/>
            <a:pathLst>
              <a:path w="1809820" h="1800771">
                <a:moveTo>
                  <a:pt x="0" y="0"/>
                </a:moveTo>
                <a:lnTo>
                  <a:pt x="1809820" y="0"/>
                </a:lnTo>
                <a:lnTo>
                  <a:pt x="1809820" y="1800771"/>
                </a:lnTo>
                <a:lnTo>
                  <a:pt x="0" y="180077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Freeform 7"/>
          <p:cNvSpPr/>
          <p:nvPr/>
        </p:nvSpPr>
        <p:spPr>
          <a:xfrm>
            <a:off x="912764" y="4387731"/>
            <a:ext cx="1809820" cy="1800771"/>
          </a:xfrm>
          <a:custGeom>
            <a:avLst/>
            <a:gdLst/>
            <a:ahLst/>
            <a:cxnLst/>
            <a:rect l="l" t="t" r="r" b="b"/>
            <a:pathLst>
              <a:path w="1809820" h="1800771">
                <a:moveTo>
                  <a:pt x="0" y="0"/>
                </a:moveTo>
                <a:lnTo>
                  <a:pt x="1809820" y="0"/>
                </a:lnTo>
                <a:lnTo>
                  <a:pt x="1809820" y="1800772"/>
                </a:lnTo>
                <a:lnTo>
                  <a:pt x="0" y="180077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8" name="TextBox 8"/>
          <p:cNvSpPr txBox="1"/>
          <p:nvPr/>
        </p:nvSpPr>
        <p:spPr>
          <a:xfrm>
            <a:off x="4674904" y="681289"/>
            <a:ext cx="8820447" cy="1080770"/>
          </a:xfrm>
          <a:prstGeom prst="rect">
            <a:avLst/>
          </a:prstGeom>
        </p:spPr>
        <p:txBody>
          <a:bodyPr lIns="0" tIns="0" rIns="0" bIns="0" rtlCol="0" anchor="t">
            <a:spAutoFit/>
          </a:bodyPr>
          <a:lstStyle/>
          <a:p>
            <a:pPr algn="ctr">
              <a:lnSpc>
                <a:spcPts val="8679"/>
              </a:lnSpc>
            </a:pPr>
            <a:r>
              <a:rPr lang="en-US" sz="6199" b="1">
                <a:solidFill>
                  <a:srgbClr val="000000"/>
                </a:solidFill>
                <a:latin typeface="Hagrid Ultra-Bold"/>
                <a:ea typeface="Hagrid Ultra-Bold"/>
                <a:cs typeface="Hagrid Ultra-Bold"/>
                <a:sym typeface="Hagrid Ultra-Bold"/>
              </a:rPr>
              <a:t>TABLE OF CONTENT</a:t>
            </a:r>
          </a:p>
        </p:txBody>
      </p:sp>
      <p:sp>
        <p:nvSpPr>
          <p:cNvPr id="9" name="Freeform 9"/>
          <p:cNvSpPr/>
          <p:nvPr/>
        </p:nvSpPr>
        <p:spPr>
          <a:xfrm>
            <a:off x="5348556" y="2431622"/>
            <a:ext cx="306579" cy="395586"/>
          </a:xfrm>
          <a:custGeom>
            <a:avLst/>
            <a:gdLst/>
            <a:ahLst/>
            <a:cxnLst/>
            <a:rect l="l" t="t" r="r" b="b"/>
            <a:pathLst>
              <a:path w="306579" h="395586">
                <a:moveTo>
                  <a:pt x="0" y="0"/>
                </a:moveTo>
                <a:lnTo>
                  <a:pt x="306579" y="0"/>
                </a:lnTo>
                <a:lnTo>
                  <a:pt x="306579" y="395586"/>
                </a:lnTo>
                <a:lnTo>
                  <a:pt x="0" y="39558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0" name="TextBox 10"/>
          <p:cNvSpPr txBox="1"/>
          <p:nvPr/>
        </p:nvSpPr>
        <p:spPr>
          <a:xfrm>
            <a:off x="5776766" y="2401450"/>
            <a:ext cx="4395153" cy="415290"/>
          </a:xfrm>
          <a:prstGeom prst="rect">
            <a:avLst/>
          </a:prstGeom>
        </p:spPr>
        <p:txBody>
          <a:bodyPr lIns="0" tIns="0" rIns="0" bIns="0" rtlCol="0" anchor="t">
            <a:spAutoFit/>
          </a:bodyPr>
          <a:lstStyle/>
          <a:p>
            <a:pPr algn="l">
              <a:lnSpc>
                <a:spcPts val="3360"/>
              </a:lnSpc>
              <a:spcBef>
                <a:spcPct val="0"/>
              </a:spcBef>
            </a:pPr>
            <a:r>
              <a:rPr lang="en-US" sz="2400" b="1">
                <a:solidFill>
                  <a:srgbClr val="000000"/>
                </a:solidFill>
                <a:latin typeface="Roboto Bold"/>
                <a:ea typeface="Roboto Bold"/>
                <a:cs typeface="Roboto Bold"/>
                <a:sym typeface="Roboto Bold"/>
              </a:rPr>
              <a:t>Introduction</a:t>
            </a:r>
          </a:p>
        </p:txBody>
      </p:sp>
      <p:sp>
        <p:nvSpPr>
          <p:cNvPr id="11" name="Freeform 11"/>
          <p:cNvSpPr/>
          <p:nvPr/>
        </p:nvSpPr>
        <p:spPr>
          <a:xfrm>
            <a:off x="5348556" y="3036758"/>
            <a:ext cx="306579" cy="395586"/>
          </a:xfrm>
          <a:custGeom>
            <a:avLst/>
            <a:gdLst/>
            <a:ahLst/>
            <a:cxnLst/>
            <a:rect l="l" t="t" r="r" b="b"/>
            <a:pathLst>
              <a:path w="306579" h="395586">
                <a:moveTo>
                  <a:pt x="0" y="0"/>
                </a:moveTo>
                <a:lnTo>
                  <a:pt x="306579" y="0"/>
                </a:lnTo>
                <a:lnTo>
                  <a:pt x="306579" y="395586"/>
                </a:lnTo>
                <a:lnTo>
                  <a:pt x="0" y="39558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2" name="TextBox 12"/>
          <p:cNvSpPr txBox="1"/>
          <p:nvPr/>
        </p:nvSpPr>
        <p:spPr>
          <a:xfrm>
            <a:off x="5776766" y="3006586"/>
            <a:ext cx="4395153" cy="415290"/>
          </a:xfrm>
          <a:prstGeom prst="rect">
            <a:avLst/>
          </a:prstGeom>
        </p:spPr>
        <p:txBody>
          <a:bodyPr lIns="0" tIns="0" rIns="0" bIns="0" rtlCol="0" anchor="t">
            <a:spAutoFit/>
          </a:bodyPr>
          <a:lstStyle/>
          <a:p>
            <a:pPr algn="l">
              <a:lnSpc>
                <a:spcPts val="3360"/>
              </a:lnSpc>
              <a:spcBef>
                <a:spcPct val="0"/>
              </a:spcBef>
            </a:pPr>
            <a:r>
              <a:rPr lang="en-US" sz="2400" b="1">
                <a:solidFill>
                  <a:srgbClr val="000000"/>
                </a:solidFill>
                <a:latin typeface="Roboto Bold"/>
                <a:ea typeface="Roboto Bold"/>
                <a:cs typeface="Roboto Bold"/>
                <a:sym typeface="Roboto Bold"/>
              </a:rPr>
              <a:t>Objective</a:t>
            </a:r>
          </a:p>
        </p:txBody>
      </p:sp>
      <p:sp>
        <p:nvSpPr>
          <p:cNvPr id="13" name="Freeform 13"/>
          <p:cNvSpPr/>
          <p:nvPr/>
        </p:nvSpPr>
        <p:spPr>
          <a:xfrm>
            <a:off x="5348556" y="3641894"/>
            <a:ext cx="306579" cy="395586"/>
          </a:xfrm>
          <a:custGeom>
            <a:avLst/>
            <a:gdLst/>
            <a:ahLst/>
            <a:cxnLst/>
            <a:rect l="l" t="t" r="r" b="b"/>
            <a:pathLst>
              <a:path w="306579" h="395586">
                <a:moveTo>
                  <a:pt x="0" y="0"/>
                </a:moveTo>
                <a:lnTo>
                  <a:pt x="306579" y="0"/>
                </a:lnTo>
                <a:lnTo>
                  <a:pt x="306579" y="395587"/>
                </a:lnTo>
                <a:lnTo>
                  <a:pt x="0" y="395587"/>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4" name="TextBox 14"/>
          <p:cNvSpPr txBox="1"/>
          <p:nvPr/>
        </p:nvSpPr>
        <p:spPr>
          <a:xfrm>
            <a:off x="5776766" y="3611723"/>
            <a:ext cx="4395153" cy="415290"/>
          </a:xfrm>
          <a:prstGeom prst="rect">
            <a:avLst/>
          </a:prstGeom>
        </p:spPr>
        <p:txBody>
          <a:bodyPr lIns="0" tIns="0" rIns="0" bIns="0" rtlCol="0" anchor="t">
            <a:spAutoFit/>
          </a:bodyPr>
          <a:lstStyle/>
          <a:p>
            <a:pPr algn="l">
              <a:lnSpc>
                <a:spcPts val="3360"/>
              </a:lnSpc>
              <a:spcBef>
                <a:spcPct val="0"/>
              </a:spcBef>
            </a:pPr>
            <a:r>
              <a:rPr lang="en-US" sz="2400" b="1">
                <a:solidFill>
                  <a:srgbClr val="000000"/>
                </a:solidFill>
                <a:latin typeface="Roboto Bold"/>
                <a:ea typeface="Roboto Bold"/>
                <a:cs typeface="Roboto Bold"/>
                <a:sym typeface="Roboto Bold"/>
              </a:rPr>
              <a:t>Methodology</a:t>
            </a:r>
          </a:p>
        </p:txBody>
      </p:sp>
      <p:sp>
        <p:nvSpPr>
          <p:cNvPr id="15" name="Freeform 15"/>
          <p:cNvSpPr/>
          <p:nvPr/>
        </p:nvSpPr>
        <p:spPr>
          <a:xfrm>
            <a:off x="5348556" y="4247031"/>
            <a:ext cx="306579" cy="395586"/>
          </a:xfrm>
          <a:custGeom>
            <a:avLst/>
            <a:gdLst/>
            <a:ahLst/>
            <a:cxnLst/>
            <a:rect l="l" t="t" r="r" b="b"/>
            <a:pathLst>
              <a:path w="306579" h="395586">
                <a:moveTo>
                  <a:pt x="0" y="0"/>
                </a:moveTo>
                <a:lnTo>
                  <a:pt x="306579" y="0"/>
                </a:lnTo>
                <a:lnTo>
                  <a:pt x="306579" y="395586"/>
                </a:lnTo>
                <a:lnTo>
                  <a:pt x="0" y="39558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6" name="TextBox 16"/>
          <p:cNvSpPr txBox="1"/>
          <p:nvPr/>
        </p:nvSpPr>
        <p:spPr>
          <a:xfrm>
            <a:off x="5776766" y="4216859"/>
            <a:ext cx="4395153" cy="415290"/>
          </a:xfrm>
          <a:prstGeom prst="rect">
            <a:avLst/>
          </a:prstGeom>
        </p:spPr>
        <p:txBody>
          <a:bodyPr lIns="0" tIns="0" rIns="0" bIns="0" rtlCol="0" anchor="t">
            <a:spAutoFit/>
          </a:bodyPr>
          <a:lstStyle/>
          <a:p>
            <a:pPr algn="l">
              <a:lnSpc>
                <a:spcPts val="3360"/>
              </a:lnSpc>
              <a:spcBef>
                <a:spcPct val="0"/>
              </a:spcBef>
            </a:pPr>
            <a:r>
              <a:rPr lang="en-US" sz="2400" b="1">
                <a:solidFill>
                  <a:srgbClr val="000000"/>
                </a:solidFill>
                <a:latin typeface="Roboto Bold"/>
                <a:ea typeface="Roboto Bold"/>
                <a:cs typeface="Roboto Bold"/>
                <a:sym typeface="Roboto Bold"/>
              </a:rPr>
              <a:t>Project Timeline</a:t>
            </a:r>
          </a:p>
        </p:txBody>
      </p:sp>
      <p:sp>
        <p:nvSpPr>
          <p:cNvPr id="17" name="Freeform 17"/>
          <p:cNvSpPr/>
          <p:nvPr/>
        </p:nvSpPr>
        <p:spPr>
          <a:xfrm>
            <a:off x="5348556" y="4852167"/>
            <a:ext cx="306579" cy="395586"/>
          </a:xfrm>
          <a:custGeom>
            <a:avLst/>
            <a:gdLst/>
            <a:ahLst/>
            <a:cxnLst/>
            <a:rect l="l" t="t" r="r" b="b"/>
            <a:pathLst>
              <a:path w="306579" h="395586">
                <a:moveTo>
                  <a:pt x="0" y="0"/>
                </a:moveTo>
                <a:lnTo>
                  <a:pt x="306579" y="0"/>
                </a:lnTo>
                <a:lnTo>
                  <a:pt x="306579" y="395586"/>
                </a:lnTo>
                <a:lnTo>
                  <a:pt x="0" y="39558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8" name="TextBox 18"/>
          <p:cNvSpPr txBox="1"/>
          <p:nvPr/>
        </p:nvSpPr>
        <p:spPr>
          <a:xfrm>
            <a:off x="5776766" y="4821995"/>
            <a:ext cx="4395153" cy="415290"/>
          </a:xfrm>
          <a:prstGeom prst="rect">
            <a:avLst/>
          </a:prstGeom>
        </p:spPr>
        <p:txBody>
          <a:bodyPr lIns="0" tIns="0" rIns="0" bIns="0" rtlCol="0" anchor="t">
            <a:spAutoFit/>
          </a:bodyPr>
          <a:lstStyle/>
          <a:p>
            <a:pPr algn="l">
              <a:lnSpc>
                <a:spcPts val="3360"/>
              </a:lnSpc>
              <a:spcBef>
                <a:spcPct val="0"/>
              </a:spcBef>
            </a:pPr>
            <a:r>
              <a:rPr lang="en-US" sz="2400" b="1">
                <a:solidFill>
                  <a:srgbClr val="000000"/>
                </a:solidFill>
                <a:latin typeface="Roboto Bold"/>
                <a:ea typeface="Roboto Bold"/>
                <a:cs typeface="Roboto Bold"/>
                <a:sym typeface="Roboto Bold"/>
              </a:rPr>
              <a:t>Flowchart &amp; Tools</a:t>
            </a:r>
          </a:p>
        </p:txBody>
      </p:sp>
      <p:sp>
        <p:nvSpPr>
          <p:cNvPr id="19" name="Freeform 19"/>
          <p:cNvSpPr/>
          <p:nvPr/>
        </p:nvSpPr>
        <p:spPr>
          <a:xfrm>
            <a:off x="5348556" y="5485878"/>
            <a:ext cx="306579" cy="395586"/>
          </a:xfrm>
          <a:custGeom>
            <a:avLst/>
            <a:gdLst/>
            <a:ahLst/>
            <a:cxnLst/>
            <a:rect l="l" t="t" r="r" b="b"/>
            <a:pathLst>
              <a:path w="306579" h="395586">
                <a:moveTo>
                  <a:pt x="0" y="0"/>
                </a:moveTo>
                <a:lnTo>
                  <a:pt x="306579" y="0"/>
                </a:lnTo>
                <a:lnTo>
                  <a:pt x="306579" y="395586"/>
                </a:lnTo>
                <a:lnTo>
                  <a:pt x="0" y="39558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20" name="TextBox 20"/>
          <p:cNvSpPr txBox="1"/>
          <p:nvPr/>
        </p:nvSpPr>
        <p:spPr>
          <a:xfrm>
            <a:off x="5776766" y="5455706"/>
            <a:ext cx="5534829" cy="415290"/>
          </a:xfrm>
          <a:prstGeom prst="rect">
            <a:avLst/>
          </a:prstGeom>
        </p:spPr>
        <p:txBody>
          <a:bodyPr lIns="0" tIns="0" rIns="0" bIns="0" rtlCol="0" anchor="t">
            <a:spAutoFit/>
          </a:bodyPr>
          <a:lstStyle/>
          <a:p>
            <a:pPr algn="l">
              <a:lnSpc>
                <a:spcPts val="3360"/>
              </a:lnSpc>
              <a:spcBef>
                <a:spcPct val="0"/>
              </a:spcBef>
            </a:pPr>
            <a:r>
              <a:rPr lang="en-US" sz="2400" b="1">
                <a:solidFill>
                  <a:srgbClr val="000000"/>
                </a:solidFill>
                <a:latin typeface="Roboto Bold"/>
                <a:ea typeface="Roboto Bold"/>
                <a:cs typeface="Roboto Bold"/>
                <a:sym typeface="Roboto Bold"/>
              </a:rPr>
              <a:t>Team member and responsibilites</a:t>
            </a:r>
          </a:p>
        </p:txBody>
      </p:sp>
      <p:sp>
        <p:nvSpPr>
          <p:cNvPr id="21" name="Freeform 21"/>
          <p:cNvSpPr/>
          <p:nvPr/>
        </p:nvSpPr>
        <p:spPr>
          <a:xfrm>
            <a:off x="5348556" y="6176739"/>
            <a:ext cx="306579" cy="395586"/>
          </a:xfrm>
          <a:custGeom>
            <a:avLst/>
            <a:gdLst/>
            <a:ahLst/>
            <a:cxnLst/>
            <a:rect l="l" t="t" r="r" b="b"/>
            <a:pathLst>
              <a:path w="306579" h="395586">
                <a:moveTo>
                  <a:pt x="0" y="0"/>
                </a:moveTo>
                <a:lnTo>
                  <a:pt x="306579" y="0"/>
                </a:lnTo>
                <a:lnTo>
                  <a:pt x="306579" y="395586"/>
                </a:lnTo>
                <a:lnTo>
                  <a:pt x="0" y="39558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22" name="TextBox 22"/>
          <p:cNvSpPr txBox="1"/>
          <p:nvPr/>
        </p:nvSpPr>
        <p:spPr>
          <a:xfrm>
            <a:off x="5776766" y="6127518"/>
            <a:ext cx="4605093" cy="415290"/>
          </a:xfrm>
          <a:prstGeom prst="rect">
            <a:avLst/>
          </a:prstGeom>
        </p:spPr>
        <p:txBody>
          <a:bodyPr lIns="0" tIns="0" rIns="0" bIns="0" rtlCol="0" anchor="t">
            <a:spAutoFit/>
          </a:bodyPr>
          <a:lstStyle/>
          <a:p>
            <a:pPr algn="l">
              <a:lnSpc>
                <a:spcPts val="3360"/>
              </a:lnSpc>
              <a:spcBef>
                <a:spcPct val="0"/>
              </a:spcBef>
            </a:pPr>
            <a:r>
              <a:rPr lang="en-US" sz="2400" b="1">
                <a:solidFill>
                  <a:srgbClr val="000000"/>
                </a:solidFill>
                <a:latin typeface="Roboto Bold"/>
                <a:ea typeface="Roboto Bold"/>
                <a:cs typeface="Roboto Bold"/>
                <a:sym typeface="Roboto Bold"/>
              </a:rPr>
              <a:t>Expected Project Outcomes</a:t>
            </a:r>
          </a:p>
        </p:txBody>
      </p:sp>
      <p:sp>
        <p:nvSpPr>
          <p:cNvPr id="23" name="Freeform 23"/>
          <p:cNvSpPr/>
          <p:nvPr/>
        </p:nvSpPr>
        <p:spPr>
          <a:xfrm>
            <a:off x="5348556" y="6791253"/>
            <a:ext cx="306579" cy="395586"/>
          </a:xfrm>
          <a:custGeom>
            <a:avLst/>
            <a:gdLst/>
            <a:ahLst/>
            <a:cxnLst/>
            <a:rect l="l" t="t" r="r" b="b"/>
            <a:pathLst>
              <a:path w="306579" h="395586">
                <a:moveTo>
                  <a:pt x="0" y="0"/>
                </a:moveTo>
                <a:lnTo>
                  <a:pt x="306579" y="0"/>
                </a:lnTo>
                <a:lnTo>
                  <a:pt x="306579" y="395586"/>
                </a:lnTo>
                <a:lnTo>
                  <a:pt x="0" y="39558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24" name="TextBox 24"/>
          <p:cNvSpPr txBox="1"/>
          <p:nvPr/>
        </p:nvSpPr>
        <p:spPr>
          <a:xfrm>
            <a:off x="5776766" y="6742031"/>
            <a:ext cx="5414863" cy="415290"/>
          </a:xfrm>
          <a:prstGeom prst="rect">
            <a:avLst/>
          </a:prstGeom>
        </p:spPr>
        <p:txBody>
          <a:bodyPr lIns="0" tIns="0" rIns="0" bIns="0" rtlCol="0" anchor="t">
            <a:spAutoFit/>
          </a:bodyPr>
          <a:lstStyle/>
          <a:p>
            <a:pPr algn="l">
              <a:lnSpc>
                <a:spcPts val="3360"/>
              </a:lnSpc>
              <a:spcBef>
                <a:spcPct val="0"/>
              </a:spcBef>
            </a:pPr>
            <a:r>
              <a:rPr lang="en-US" sz="2400" b="1">
                <a:solidFill>
                  <a:srgbClr val="000000"/>
                </a:solidFill>
                <a:latin typeface="Roboto Bold"/>
                <a:ea typeface="Roboto Bold"/>
                <a:cs typeface="Roboto Bold"/>
                <a:sym typeface="Roboto Bold"/>
              </a:rPr>
              <a:t>Benefits</a:t>
            </a:r>
          </a:p>
        </p:txBody>
      </p:sp>
      <p:sp>
        <p:nvSpPr>
          <p:cNvPr id="25" name="Freeform 25"/>
          <p:cNvSpPr/>
          <p:nvPr/>
        </p:nvSpPr>
        <p:spPr>
          <a:xfrm>
            <a:off x="5348556" y="7396389"/>
            <a:ext cx="306579" cy="395586"/>
          </a:xfrm>
          <a:custGeom>
            <a:avLst/>
            <a:gdLst/>
            <a:ahLst/>
            <a:cxnLst/>
            <a:rect l="l" t="t" r="r" b="b"/>
            <a:pathLst>
              <a:path w="306579" h="395586">
                <a:moveTo>
                  <a:pt x="0" y="0"/>
                </a:moveTo>
                <a:lnTo>
                  <a:pt x="306579" y="0"/>
                </a:lnTo>
                <a:lnTo>
                  <a:pt x="306579" y="395586"/>
                </a:lnTo>
                <a:lnTo>
                  <a:pt x="0" y="39558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26" name="TextBox 26"/>
          <p:cNvSpPr txBox="1"/>
          <p:nvPr/>
        </p:nvSpPr>
        <p:spPr>
          <a:xfrm>
            <a:off x="5776766" y="7347167"/>
            <a:ext cx="4395153" cy="415290"/>
          </a:xfrm>
          <a:prstGeom prst="rect">
            <a:avLst/>
          </a:prstGeom>
        </p:spPr>
        <p:txBody>
          <a:bodyPr lIns="0" tIns="0" rIns="0" bIns="0" rtlCol="0" anchor="t">
            <a:spAutoFit/>
          </a:bodyPr>
          <a:lstStyle/>
          <a:p>
            <a:pPr algn="l">
              <a:lnSpc>
                <a:spcPts val="3360"/>
              </a:lnSpc>
              <a:spcBef>
                <a:spcPct val="0"/>
              </a:spcBef>
            </a:pPr>
            <a:r>
              <a:rPr lang="en-US" sz="2400" b="1">
                <a:solidFill>
                  <a:srgbClr val="000000"/>
                </a:solidFill>
                <a:latin typeface="Roboto Bold"/>
                <a:ea typeface="Roboto Bold"/>
                <a:cs typeface="Roboto Bold"/>
                <a:sym typeface="Roboto Bold"/>
              </a:rPr>
              <a:t>Future Plan</a:t>
            </a:r>
          </a:p>
        </p:txBody>
      </p:sp>
      <p:sp>
        <p:nvSpPr>
          <p:cNvPr id="27" name="Freeform 27"/>
          <p:cNvSpPr/>
          <p:nvPr/>
        </p:nvSpPr>
        <p:spPr>
          <a:xfrm>
            <a:off x="5348556" y="7993509"/>
            <a:ext cx="306579" cy="395586"/>
          </a:xfrm>
          <a:custGeom>
            <a:avLst/>
            <a:gdLst/>
            <a:ahLst/>
            <a:cxnLst/>
            <a:rect l="l" t="t" r="r" b="b"/>
            <a:pathLst>
              <a:path w="306579" h="395586">
                <a:moveTo>
                  <a:pt x="0" y="0"/>
                </a:moveTo>
                <a:lnTo>
                  <a:pt x="306579" y="0"/>
                </a:lnTo>
                <a:lnTo>
                  <a:pt x="306579" y="395586"/>
                </a:lnTo>
                <a:lnTo>
                  <a:pt x="0" y="39558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28" name="TextBox 28"/>
          <p:cNvSpPr txBox="1"/>
          <p:nvPr/>
        </p:nvSpPr>
        <p:spPr>
          <a:xfrm>
            <a:off x="5776766" y="7944287"/>
            <a:ext cx="4395153" cy="415290"/>
          </a:xfrm>
          <a:prstGeom prst="rect">
            <a:avLst/>
          </a:prstGeom>
        </p:spPr>
        <p:txBody>
          <a:bodyPr lIns="0" tIns="0" rIns="0" bIns="0" rtlCol="0" anchor="t">
            <a:spAutoFit/>
          </a:bodyPr>
          <a:lstStyle/>
          <a:p>
            <a:pPr algn="l">
              <a:lnSpc>
                <a:spcPts val="3360"/>
              </a:lnSpc>
              <a:spcBef>
                <a:spcPct val="0"/>
              </a:spcBef>
            </a:pPr>
            <a:r>
              <a:rPr lang="en-US" sz="2400" b="1">
                <a:solidFill>
                  <a:srgbClr val="000000"/>
                </a:solidFill>
                <a:latin typeface="Roboto Bold"/>
                <a:ea typeface="Roboto Bold"/>
                <a:cs typeface="Roboto Bold"/>
                <a:sym typeface="Roboto Bold"/>
              </a:rPr>
              <a:t>Reference</a:t>
            </a:r>
          </a:p>
        </p:txBody>
      </p:sp>
      <p:sp>
        <p:nvSpPr>
          <p:cNvPr id="29" name="Freeform 29"/>
          <p:cNvSpPr/>
          <p:nvPr/>
        </p:nvSpPr>
        <p:spPr>
          <a:xfrm rot="-1396343">
            <a:off x="12220740" y="8142660"/>
            <a:ext cx="7536020" cy="4288681"/>
          </a:xfrm>
          <a:custGeom>
            <a:avLst/>
            <a:gdLst/>
            <a:ahLst/>
            <a:cxnLst/>
            <a:rect l="l" t="t" r="r" b="b"/>
            <a:pathLst>
              <a:path w="7536020" h="4288681">
                <a:moveTo>
                  <a:pt x="0" y="0"/>
                </a:moveTo>
                <a:lnTo>
                  <a:pt x="7536020" y="0"/>
                </a:lnTo>
                <a:lnTo>
                  <a:pt x="7536020" y="4288680"/>
                </a:lnTo>
                <a:lnTo>
                  <a:pt x="0" y="4288680"/>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30" name="Freeform 30"/>
          <p:cNvSpPr/>
          <p:nvPr/>
        </p:nvSpPr>
        <p:spPr>
          <a:xfrm>
            <a:off x="15000747" y="-2630027"/>
            <a:ext cx="5078343" cy="5260054"/>
          </a:xfrm>
          <a:custGeom>
            <a:avLst/>
            <a:gdLst/>
            <a:ahLst/>
            <a:cxnLst/>
            <a:rect l="l" t="t" r="r" b="b"/>
            <a:pathLst>
              <a:path w="5078343" h="5260054">
                <a:moveTo>
                  <a:pt x="0" y="0"/>
                </a:moveTo>
                <a:lnTo>
                  <a:pt x="5078343" y="0"/>
                </a:lnTo>
                <a:lnTo>
                  <a:pt x="5078343" y="5260054"/>
                </a:lnTo>
                <a:lnTo>
                  <a:pt x="0" y="5260054"/>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31" name="Freeform 31"/>
          <p:cNvSpPr/>
          <p:nvPr/>
        </p:nvSpPr>
        <p:spPr>
          <a:xfrm>
            <a:off x="5348556" y="8589120"/>
            <a:ext cx="306579" cy="395586"/>
          </a:xfrm>
          <a:custGeom>
            <a:avLst/>
            <a:gdLst/>
            <a:ahLst/>
            <a:cxnLst/>
            <a:rect l="l" t="t" r="r" b="b"/>
            <a:pathLst>
              <a:path w="306579" h="395586">
                <a:moveTo>
                  <a:pt x="0" y="0"/>
                </a:moveTo>
                <a:lnTo>
                  <a:pt x="306579" y="0"/>
                </a:lnTo>
                <a:lnTo>
                  <a:pt x="306579" y="395586"/>
                </a:lnTo>
                <a:lnTo>
                  <a:pt x="0" y="39558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32" name="TextBox 32"/>
          <p:cNvSpPr txBox="1"/>
          <p:nvPr/>
        </p:nvSpPr>
        <p:spPr>
          <a:xfrm>
            <a:off x="5776766" y="8539898"/>
            <a:ext cx="4395153" cy="415290"/>
          </a:xfrm>
          <a:prstGeom prst="rect">
            <a:avLst/>
          </a:prstGeom>
        </p:spPr>
        <p:txBody>
          <a:bodyPr lIns="0" tIns="0" rIns="0" bIns="0" rtlCol="0" anchor="t">
            <a:spAutoFit/>
          </a:bodyPr>
          <a:lstStyle/>
          <a:p>
            <a:pPr algn="l">
              <a:lnSpc>
                <a:spcPts val="3360"/>
              </a:lnSpc>
              <a:spcBef>
                <a:spcPct val="0"/>
              </a:spcBef>
            </a:pPr>
            <a:r>
              <a:rPr lang="en-US" sz="2400" b="1">
                <a:solidFill>
                  <a:srgbClr val="000000"/>
                </a:solidFill>
                <a:latin typeface="Roboto Bold"/>
                <a:ea typeface="Roboto Bold"/>
                <a:cs typeface="Roboto Bold"/>
                <a:sym typeface="Roboto Bold"/>
              </a:rPr>
              <a:t>Conclusion</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0DFC8"/>
        </a:solidFill>
        <a:effectLst/>
      </p:bgPr>
    </p:bg>
    <p:spTree>
      <p:nvGrpSpPr>
        <p:cNvPr id="1" name=""/>
        <p:cNvGrpSpPr/>
        <p:nvPr/>
      </p:nvGrpSpPr>
      <p:grpSpPr>
        <a:xfrm>
          <a:off x="0" y="0"/>
          <a:ext cx="0" cy="0"/>
          <a:chOff x="0" y="0"/>
          <a:chExt cx="0" cy="0"/>
        </a:xfrm>
      </p:grpSpPr>
      <p:sp>
        <p:nvSpPr>
          <p:cNvPr id="2" name="Freeform 2"/>
          <p:cNvSpPr/>
          <p:nvPr/>
        </p:nvSpPr>
        <p:spPr>
          <a:xfrm>
            <a:off x="5901716" y="7572103"/>
            <a:ext cx="6939310" cy="4529477"/>
          </a:xfrm>
          <a:custGeom>
            <a:avLst/>
            <a:gdLst/>
            <a:ahLst/>
            <a:cxnLst/>
            <a:rect l="l" t="t" r="r" b="b"/>
            <a:pathLst>
              <a:path w="6939310" h="4529477">
                <a:moveTo>
                  <a:pt x="0" y="0"/>
                </a:moveTo>
                <a:lnTo>
                  <a:pt x="6939310" y="0"/>
                </a:lnTo>
                <a:lnTo>
                  <a:pt x="6939310" y="4529477"/>
                </a:lnTo>
                <a:lnTo>
                  <a:pt x="0" y="452947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8883284">
            <a:off x="12058233" y="6722138"/>
            <a:ext cx="8481745" cy="8785235"/>
          </a:xfrm>
          <a:custGeom>
            <a:avLst/>
            <a:gdLst/>
            <a:ahLst/>
            <a:cxnLst/>
            <a:rect l="l" t="t" r="r" b="b"/>
            <a:pathLst>
              <a:path w="8481745" h="8785235">
                <a:moveTo>
                  <a:pt x="0" y="0"/>
                </a:moveTo>
                <a:lnTo>
                  <a:pt x="8481745" y="0"/>
                </a:lnTo>
                <a:lnTo>
                  <a:pt x="8481745" y="8785235"/>
                </a:lnTo>
                <a:lnTo>
                  <a:pt x="0" y="878523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698202" y="8786001"/>
            <a:ext cx="7276977" cy="4114800"/>
          </a:xfrm>
          <a:custGeom>
            <a:avLst/>
            <a:gdLst/>
            <a:ahLst/>
            <a:cxnLst/>
            <a:rect l="l" t="t" r="r" b="b"/>
            <a:pathLst>
              <a:path w="7276977" h="4114800">
                <a:moveTo>
                  <a:pt x="0" y="0"/>
                </a:moveTo>
                <a:lnTo>
                  <a:pt x="7276977" y="0"/>
                </a:lnTo>
                <a:lnTo>
                  <a:pt x="7276977"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sp>
      <p:sp>
        <p:nvSpPr>
          <p:cNvPr id="5" name="Freeform 5"/>
          <p:cNvSpPr/>
          <p:nvPr/>
        </p:nvSpPr>
        <p:spPr>
          <a:xfrm>
            <a:off x="3068603" y="8962077"/>
            <a:ext cx="2009181" cy="1881324"/>
          </a:xfrm>
          <a:custGeom>
            <a:avLst/>
            <a:gdLst/>
            <a:ahLst/>
            <a:cxnLst/>
            <a:rect l="l" t="t" r="r" b="b"/>
            <a:pathLst>
              <a:path w="2009181" h="1881324">
                <a:moveTo>
                  <a:pt x="0" y="0"/>
                </a:moveTo>
                <a:lnTo>
                  <a:pt x="2009181" y="0"/>
                </a:lnTo>
                <a:lnTo>
                  <a:pt x="2009181" y="1881324"/>
                </a:lnTo>
                <a:lnTo>
                  <a:pt x="0" y="188132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Freeform 6"/>
          <p:cNvSpPr/>
          <p:nvPr/>
        </p:nvSpPr>
        <p:spPr>
          <a:xfrm rot="1749075">
            <a:off x="13725665" y="-4062449"/>
            <a:ext cx="6531599" cy="6484096"/>
          </a:xfrm>
          <a:custGeom>
            <a:avLst/>
            <a:gdLst/>
            <a:ahLst/>
            <a:cxnLst/>
            <a:rect l="l" t="t" r="r" b="b"/>
            <a:pathLst>
              <a:path w="6531599" h="6484096">
                <a:moveTo>
                  <a:pt x="0" y="0"/>
                </a:moveTo>
                <a:lnTo>
                  <a:pt x="6531598" y="0"/>
                </a:lnTo>
                <a:lnTo>
                  <a:pt x="6531598" y="6484096"/>
                </a:lnTo>
                <a:lnTo>
                  <a:pt x="0" y="6484096"/>
                </a:lnTo>
                <a:lnTo>
                  <a:pt x="0" y="0"/>
                </a:lnTo>
                <a:close/>
              </a:path>
            </a:pathLst>
          </a:custGeom>
          <a:blipFill>
            <a:blip r:embed="rId10">
              <a:extLst>
                <a:ext uri="{96DAC541-7B7A-43D3-8B79-37D633B846F1}">
                  <asvg:svgBlip xmlns:asvg="http://schemas.microsoft.com/office/drawing/2016/SVG/main" r:embed="rId11"/>
                </a:ext>
              </a:extLst>
            </a:blip>
            <a:stretch>
              <a:fillRect/>
            </a:stretch>
          </a:blipFill>
          <a:ln cap="sq">
            <a:noFill/>
            <a:prstDash val="solid"/>
            <a:miter/>
          </a:ln>
        </p:spPr>
      </p:sp>
      <p:sp>
        <p:nvSpPr>
          <p:cNvPr id="7" name="TextBox 7"/>
          <p:cNvSpPr txBox="1"/>
          <p:nvPr/>
        </p:nvSpPr>
        <p:spPr>
          <a:xfrm>
            <a:off x="1011568" y="2374054"/>
            <a:ext cx="8222406" cy="1025016"/>
          </a:xfrm>
          <a:prstGeom prst="rect">
            <a:avLst/>
          </a:prstGeom>
        </p:spPr>
        <p:txBody>
          <a:bodyPr lIns="0" tIns="0" rIns="0" bIns="0" rtlCol="0" anchor="t">
            <a:spAutoFit/>
          </a:bodyPr>
          <a:lstStyle/>
          <a:p>
            <a:pPr marL="0" lvl="0" indent="0" algn="l">
              <a:lnSpc>
                <a:spcPts val="7468"/>
              </a:lnSpc>
              <a:spcBef>
                <a:spcPct val="0"/>
              </a:spcBef>
            </a:pPr>
            <a:r>
              <a:rPr lang="en-US" sz="7699" b="1">
                <a:solidFill>
                  <a:srgbClr val="303030"/>
                </a:solidFill>
                <a:latin typeface="Hagrid Ultra-Bold"/>
                <a:ea typeface="Hagrid Ultra-Bold"/>
                <a:cs typeface="Hagrid Ultra-Bold"/>
                <a:sym typeface="Hagrid Ultra-Bold"/>
              </a:rPr>
              <a:t>I</a:t>
            </a:r>
            <a:r>
              <a:rPr lang="en-US" sz="7699" b="1" u="none" strike="noStrike">
                <a:solidFill>
                  <a:srgbClr val="303030"/>
                </a:solidFill>
                <a:latin typeface="Hagrid Ultra-Bold"/>
                <a:ea typeface="Hagrid Ultra-Bold"/>
                <a:cs typeface="Hagrid Ultra-Bold"/>
                <a:sym typeface="Hagrid Ultra-Bold"/>
              </a:rPr>
              <a:t>NTRODUCTION</a:t>
            </a:r>
          </a:p>
        </p:txBody>
      </p:sp>
      <p:sp>
        <p:nvSpPr>
          <p:cNvPr id="8" name="TextBox 8"/>
          <p:cNvSpPr txBox="1"/>
          <p:nvPr/>
        </p:nvSpPr>
        <p:spPr>
          <a:xfrm>
            <a:off x="1028700" y="3876860"/>
            <a:ext cx="8927373" cy="2466518"/>
          </a:xfrm>
          <a:prstGeom prst="rect">
            <a:avLst/>
          </a:prstGeom>
        </p:spPr>
        <p:txBody>
          <a:bodyPr lIns="0" tIns="0" rIns="0" bIns="0" rtlCol="0" anchor="t">
            <a:spAutoFit/>
          </a:bodyPr>
          <a:lstStyle/>
          <a:p>
            <a:pPr algn="just">
              <a:lnSpc>
                <a:spcPts val="3225"/>
              </a:lnSpc>
            </a:pPr>
            <a:r>
              <a:rPr lang="en-US" sz="2560" b="1" spc="-128">
                <a:solidFill>
                  <a:srgbClr val="303030"/>
                </a:solidFill>
                <a:latin typeface="Roboto Bold"/>
                <a:ea typeface="Roboto Bold"/>
                <a:cs typeface="Roboto Bold"/>
                <a:sym typeface="Roboto Bold"/>
              </a:rPr>
              <a:t>A Shell, or Command Line Interface (CLI), is a program that allows users to interact with the operating system using text commands. Examples of popular shells include Bash, PowerShell, and Zsh. The CLI is crucial for tasks such as automation, scripting, and system administration. Its importance lies in providing a lightweight, efficient, and flexible way for users to control and manage a system.</a:t>
            </a:r>
          </a:p>
        </p:txBody>
      </p:sp>
      <p:sp>
        <p:nvSpPr>
          <p:cNvPr id="9" name="Freeform 9"/>
          <p:cNvSpPr/>
          <p:nvPr/>
        </p:nvSpPr>
        <p:spPr>
          <a:xfrm rot="10638666">
            <a:off x="10050808" y="-1976392"/>
            <a:ext cx="3239470" cy="4114800"/>
          </a:xfrm>
          <a:custGeom>
            <a:avLst/>
            <a:gdLst/>
            <a:ahLst/>
            <a:cxnLst/>
            <a:rect l="l" t="t" r="r" b="b"/>
            <a:pathLst>
              <a:path w="3239470" h="4114800">
                <a:moveTo>
                  <a:pt x="0" y="0"/>
                </a:moveTo>
                <a:lnTo>
                  <a:pt x="3239470" y="0"/>
                </a:lnTo>
                <a:lnTo>
                  <a:pt x="3239470"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10" name="Freeform 10"/>
          <p:cNvSpPr/>
          <p:nvPr/>
        </p:nvSpPr>
        <p:spPr>
          <a:xfrm>
            <a:off x="10639808" y="2057400"/>
            <a:ext cx="6183382" cy="6172200"/>
          </a:xfrm>
          <a:custGeom>
            <a:avLst/>
            <a:gdLst/>
            <a:ahLst/>
            <a:cxnLst/>
            <a:rect l="l" t="t" r="r" b="b"/>
            <a:pathLst>
              <a:path w="6183382" h="6172200">
                <a:moveTo>
                  <a:pt x="0" y="0"/>
                </a:moveTo>
                <a:lnTo>
                  <a:pt x="6183381" y="0"/>
                </a:lnTo>
                <a:lnTo>
                  <a:pt x="6183381" y="6172200"/>
                </a:lnTo>
                <a:lnTo>
                  <a:pt x="0" y="6172200"/>
                </a:lnTo>
                <a:lnTo>
                  <a:pt x="0" y="0"/>
                </a:lnTo>
                <a:close/>
              </a:path>
            </a:pathLst>
          </a:custGeom>
          <a:blipFill>
            <a:blip r:embed="rId14">
              <a:extLst>
                <a:ext uri="{96DAC541-7B7A-43D3-8B79-37D633B846F1}">
                  <asvg:svgBlip xmlns:asvg="http://schemas.microsoft.com/office/drawing/2016/SVG/main" r:embed="rId15"/>
                </a:ext>
              </a:extLst>
            </a:blip>
            <a:stretch>
              <a:fillRect/>
            </a:stretch>
          </a:blipFill>
          <a:ln cap="sq">
            <a:noFill/>
            <a:prstDash val="solid"/>
            <a:miter/>
          </a:ln>
        </p:spPr>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0DFC8"/>
        </a:solidFill>
        <a:effectLst/>
      </p:bgPr>
    </p:bg>
    <p:spTree>
      <p:nvGrpSpPr>
        <p:cNvPr id="1" name=""/>
        <p:cNvGrpSpPr/>
        <p:nvPr/>
      </p:nvGrpSpPr>
      <p:grpSpPr>
        <a:xfrm>
          <a:off x="0" y="0"/>
          <a:ext cx="0" cy="0"/>
          <a:chOff x="0" y="0"/>
          <a:chExt cx="0" cy="0"/>
        </a:xfrm>
      </p:grpSpPr>
      <p:sp>
        <p:nvSpPr>
          <p:cNvPr id="2" name="Freeform 2"/>
          <p:cNvSpPr/>
          <p:nvPr/>
        </p:nvSpPr>
        <p:spPr>
          <a:xfrm>
            <a:off x="5901716" y="7572103"/>
            <a:ext cx="6939310" cy="4529477"/>
          </a:xfrm>
          <a:custGeom>
            <a:avLst/>
            <a:gdLst/>
            <a:ahLst/>
            <a:cxnLst/>
            <a:rect l="l" t="t" r="r" b="b"/>
            <a:pathLst>
              <a:path w="6939310" h="4529477">
                <a:moveTo>
                  <a:pt x="0" y="0"/>
                </a:moveTo>
                <a:lnTo>
                  <a:pt x="6939310" y="0"/>
                </a:lnTo>
                <a:lnTo>
                  <a:pt x="6939310" y="4529477"/>
                </a:lnTo>
                <a:lnTo>
                  <a:pt x="0" y="452947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0376324" y="2057400"/>
            <a:ext cx="6017379" cy="6172200"/>
          </a:xfrm>
          <a:custGeom>
            <a:avLst/>
            <a:gdLst/>
            <a:ahLst/>
            <a:cxnLst/>
            <a:rect l="l" t="t" r="r" b="b"/>
            <a:pathLst>
              <a:path w="6017379" h="6172200">
                <a:moveTo>
                  <a:pt x="0" y="0"/>
                </a:moveTo>
                <a:lnTo>
                  <a:pt x="6017379" y="0"/>
                </a:lnTo>
                <a:lnTo>
                  <a:pt x="6017379" y="6172200"/>
                </a:lnTo>
                <a:lnTo>
                  <a:pt x="0" y="6172200"/>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sp>
      <p:sp>
        <p:nvSpPr>
          <p:cNvPr id="4" name="Freeform 4"/>
          <p:cNvSpPr/>
          <p:nvPr/>
        </p:nvSpPr>
        <p:spPr>
          <a:xfrm rot="-8883284">
            <a:off x="12058233" y="6722138"/>
            <a:ext cx="8481745" cy="8785235"/>
          </a:xfrm>
          <a:custGeom>
            <a:avLst/>
            <a:gdLst/>
            <a:ahLst/>
            <a:cxnLst/>
            <a:rect l="l" t="t" r="r" b="b"/>
            <a:pathLst>
              <a:path w="8481745" h="8785235">
                <a:moveTo>
                  <a:pt x="0" y="0"/>
                </a:moveTo>
                <a:lnTo>
                  <a:pt x="8481745" y="0"/>
                </a:lnTo>
                <a:lnTo>
                  <a:pt x="8481745" y="8785235"/>
                </a:lnTo>
                <a:lnTo>
                  <a:pt x="0" y="878523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a:off x="698202" y="8786001"/>
            <a:ext cx="7276977" cy="4114800"/>
          </a:xfrm>
          <a:custGeom>
            <a:avLst/>
            <a:gdLst/>
            <a:ahLst/>
            <a:cxnLst/>
            <a:rect l="l" t="t" r="r" b="b"/>
            <a:pathLst>
              <a:path w="7276977" h="4114800">
                <a:moveTo>
                  <a:pt x="0" y="0"/>
                </a:moveTo>
                <a:lnTo>
                  <a:pt x="7276977" y="0"/>
                </a:lnTo>
                <a:lnTo>
                  <a:pt x="7276977"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a:stretch>
          </a:blipFill>
          <a:ln cap="sq">
            <a:noFill/>
            <a:prstDash val="solid"/>
            <a:miter/>
          </a:ln>
        </p:spPr>
      </p:sp>
      <p:sp>
        <p:nvSpPr>
          <p:cNvPr id="6" name="Freeform 6"/>
          <p:cNvSpPr/>
          <p:nvPr/>
        </p:nvSpPr>
        <p:spPr>
          <a:xfrm>
            <a:off x="3068603" y="8962077"/>
            <a:ext cx="2009181" cy="1881324"/>
          </a:xfrm>
          <a:custGeom>
            <a:avLst/>
            <a:gdLst/>
            <a:ahLst/>
            <a:cxnLst/>
            <a:rect l="l" t="t" r="r" b="b"/>
            <a:pathLst>
              <a:path w="2009181" h="1881324">
                <a:moveTo>
                  <a:pt x="0" y="0"/>
                </a:moveTo>
                <a:lnTo>
                  <a:pt x="2009181" y="0"/>
                </a:lnTo>
                <a:lnTo>
                  <a:pt x="2009181" y="1881324"/>
                </a:lnTo>
                <a:lnTo>
                  <a:pt x="0" y="1881324"/>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7" name="Freeform 7"/>
          <p:cNvSpPr/>
          <p:nvPr/>
        </p:nvSpPr>
        <p:spPr>
          <a:xfrm rot="1749075">
            <a:off x="13725665" y="-4062449"/>
            <a:ext cx="6531599" cy="6484096"/>
          </a:xfrm>
          <a:custGeom>
            <a:avLst/>
            <a:gdLst/>
            <a:ahLst/>
            <a:cxnLst/>
            <a:rect l="l" t="t" r="r" b="b"/>
            <a:pathLst>
              <a:path w="6531599" h="6484096">
                <a:moveTo>
                  <a:pt x="0" y="0"/>
                </a:moveTo>
                <a:lnTo>
                  <a:pt x="6531598" y="0"/>
                </a:lnTo>
                <a:lnTo>
                  <a:pt x="6531598" y="6484096"/>
                </a:lnTo>
                <a:lnTo>
                  <a:pt x="0" y="6484096"/>
                </a:lnTo>
                <a:lnTo>
                  <a:pt x="0" y="0"/>
                </a:lnTo>
                <a:close/>
              </a:path>
            </a:pathLst>
          </a:custGeom>
          <a:blipFill>
            <a:blip r:embed="rId12">
              <a:extLst>
                <a:ext uri="{96DAC541-7B7A-43D3-8B79-37D633B846F1}">
                  <asvg:svgBlip xmlns:asvg="http://schemas.microsoft.com/office/drawing/2016/SVG/main" r:embed="rId13"/>
                </a:ext>
              </a:extLst>
            </a:blip>
            <a:stretch>
              <a:fillRect/>
            </a:stretch>
          </a:blipFill>
          <a:ln cap="sq">
            <a:noFill/>
            <a:prstDash val="solid"/>
            <a:miter/>
          </a:ln>
        </p:spPr>
      </p:sp>
      <p:sp>
        <p:nvSpPr>
          <p:cNvPr id="8" name="TextBox 8"/>
          <p:cNvSpPr txBox="1"/>
          <p:nvPr/>
        </p:nvSpPr>
        <p:spPr>
          <a:xfrm>
            <a:off x="1011568" y="2374054"/>
            <a:ext cx="8222406" cy="1025016"/>
          </a:xfrm>
          <a:prstGeom prst="rect">
            <a:avLst/>
          </a:prstGeom>
        </p:spPr>
        <p:txBody>
          <a:bodyPr lIns="0" tIns="0" rIns="0" bIns="0" rtlCol="0" anchor="t">
            <a:spAutoFit/>
          </a:bodyPr>
          <a:lstStyle/>
          <a:p>
            <a:pPr marL="0" lvl="0" indent="0" algn="l">
              <a:lnSpc>
                <a:spcPts val="7468"/>
              </a:lnSpc>
              <a:spcBef>
                <a:spcPct val="0"/>
              </a:spcBef>
            </a:pPr>
            <a:r>
              <a:rPr lang="en-US" sz="7699" b="1">
                <a:solidFill>
                  <a:srgbClr val="303030"/>
                </a:solidFill>
                <a:latin typeface="Hagrid Ultra-Bold"/>
                <a:ea typeface="Hagrid Ultra-Bold"/>
                <a:cs typeface="Hagrid Ultra-Bold"/>
                <a:sym typeface="Hagrid Ultra-Bold"/>
              </a:rPr>
              <a:t>OBJE</a:t>
            </a:r>
            <a:r>
              <a:rPr lang="en-US" sz="7699" b="1" u="none" strike="noStrike">
                <a:solidFill>
                  <a:srgbClr val="303030"/>
                </a:solidFill>
                <a:latin typeface="Hagrid Ultra-Bold"/>
                <a:ea typeface="Hagrid Ultra-Bold"/>
                <a:cs typeface="Hagrid Ultra-Bold"/>
                <a:sym typeface="Hagrid Ultra-Bold"/>
              </a:rPr>
              <a:t>CTIVE</a:t>
            </a:r>
          </a:p>
        </p:txBody>
      </p:sp>
      <p:sp>
        <p:nvSpPr>
          <p:cNvPr id="9" name="TextBox 9"/>
          <p:cNvSpPr txBox="1"/>
          <p:nvPr/>
        </p:nvSpPr>
        <p:spPr>
          <a:xfrm>
            <a:off x="831619" y="3876860"/>
            <a:ext cx="8927373" cy="3695243"/>
          </a:xfrm>
          <a:prstGeom prst="rect">
            <a:avLst/>
          </a:prstGeom>
        </p:spPr>
        <p:txBody>
          <a:bodyPr lIns="0" tIns="0" rIns="0" bIns="0" rtlCol="0" anchor="t">
            <a:spAutoFit/>
          </a:bodyPr>
          <a:lstStyle/>
          <a:p>
            <a:pPr marL="552712" lvl="1" indent="-276356" algn="just">
              <a:lnSpc>
                <a:spcPts val="3225"/>
              </a:lnSpc>
              <a:buFont typeface="Arial"/>
              <a:buChar char="•"/>
            </a:pPr>
            <a:r>
              <a:rPr lang="en-US" sz="2560" b="1" spc="-128">
                <a:solidFill>
                  <a:srgbClr val="303030"/>
                </a:solidFill>
                <a:latin typeface="Roboto Bold"/>
                <a:ea typeface="Roboto Bold"/>
                <a:cs typeface="Roboto Bold"/>
                <a:sym typeface="Roboto Bold"/>
              </a:rPr>
              <a:t>To design and develop a basic shell that can interpret and execute commands.</a:t>
            </a:r>
          </a:p>
          <a:p>
            <a:pPr algn="just">
              <a:lnSpc>
                <a:spcPts val="3225"/>
              </a:lnSpc>
            </a:pPr>
            <a:endParaRPr lang="en-US" sz="2560" b="1" spc="-128">
              <a:solidFill>
                <a:srgbClr val="303030"/>
              </a:solidFill>
              <a:latin typeface="Roboto Bold"/>
              <a:ea typeface="Roboto Bold"/>
              <a:cs typeface="Roboto Bold"/>
              <a:sym typeface="Roboto Bold"/>
            </a:endParaRPr>
          </a:p>
          <a:p>
            <a:pPr marL="552712" lvl="1" indent="-276356" algn="just">
              <a:lnSpc>
                <a:spcPts val="3225"/>
              </a:lnSpc>
              <a:buFont typeface="Arial"/>
              <a:buChar char="•"/>
            </a:pPr>
            <a:r>
              <a:rPr lang="en-US" sz="2560" b="1" spc="-128">
                <a:solidFill>
                  <a:srgbClr val="303030"/>
                </a:solidFill>
                <a:latin typeface="Roboto Bold"/>
                <a:ea typeface="Roboto Bold"/>
                <a:cs typeface="Roboto Bold"/>
                <a:sym typeface="Roboto Bold"/>
              </a:rPr>
              <a:t>To provide custom features such as command history, simple scripting, and piping.</a:t>
            </a:r>
          </a:p>
          <a:p>
            <a:pPr algn="just">
              <a:lnSpc>
                <a:spcPts val="3225"/>
              </a:lnSpc>
            </a:pPr>
            <a:endParaRPr lang="en-US" sz="2560" b="1" spc="-128">
              <a:solidFill>
                <a:srgbClr val="303030"/>
              </a:solidFill>
              <a:latin typeface="Roboto Bold"/>
              <a:ea typeface="Roboto Bold"/>
              <a:cs typeface="Roboto Bold"/>
              <a:sym typeface="Roboto Bold"/>
            </a:endParaRPr>
          </a:p>
          <a:p>
            <a:pPr marL="552712" lvl="1" indent="-276356" algn="just">
              <a:lnSpc>
                <a:spcPts val="3225"/>
              </a:lnSpc>
              <a:buFont typeface="Arial"/>
              <a:buChar char="•"/>
            </a:pPr>
            <a:r>
              <a:rPr lang="en-US" sz="2560" b="1" spc="-128">
                <a:solidFill>
                  <a:srgbClr val="303030"/>
                </a:solidFill>
                <a:latin typeface="Roboto Bold"/>
                <a:ea typeface="Roboto Bold"/>
                <a:cs typeface="Roboto Bold"/>
                <a:sym typeface="Roboto Bold"/>
              </a:rPr>
              <a:t>To help users understand how shells process user input and manage system processes.</a:t>
            </a:r>
          </a:p>
          <a:p>
            <a:pPr algn="just">
              <a:lnSpc>
                <a:spcPts val="3225"/>
              </a:lnSpc>
            </a:pPr>
            <a:endParaRPr lang="en-US" sz="2560" b="1" spc="-128">
              <a:solidFill>
                <a:srgbClr val="303030"/>
              </a:solidFill>
              <a:latin typeface="Roboto Bold"/>
              <a:ea typeface="Roboto Bold"/>
              <a:cs typeface="Roboto Bold"/>
              <a:sym typeface="Roboto Bold"/>
            </a:endParaRPr>
          </a:p>
        </p:txBody>
      </p:sp>
      <p:sp>
        <p:nvSpPr>
          <p:cNvPr id="10" name="Freeform 10"/>
          <p:cNvSpPr/>
          <p:nvPr/>
        </p:nvSpPr>
        <p:spPr>
          <a:xfrm rot="10638666">
            <a:off x="10050808" y="-1976392"/>
            <a:ext cx="3239470" cy="4114800"/>
          </a:xfrm>
          <a:custGeom>
            <a:avLst/>
            <a:gdLst/>
            <a:ahLst/>
            <a:cxnLst/>
            <a:rect l="l" t="t" r="r" b="b"/>
            <a:pathLst>
              <a:path w="3239470" h="4114800">
                <a:moveTo>
                  <a:pt x="0" y="0"/>
                </a:moveTo>
                <a:lnTo>
                  <a:pt x="3239470" y="0"/>
                </a:lnTo>
                <a:lnTo>
                  <a:pt x="3239470" y="4114800"/>
                </a:lnTo>
                <a:lnTo>
                  <a:pt x="0" y="4114800"/>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0DFC8"/>
        </a:solidFill>
        <a:effectLst/>
      </p:bgPr>
    </p:bg>
    <p:spTree>
      <p:nvGrpSpPr>
        <p:cNvPr id="1" name=""/>
        <p:cNvGrpSpPr/>
        <p:nvPr/>
      </p:nvGrpSpPr>
      <p:grpSpPr>
        <a:xfrm>
          <a:off x="0" y="0"/>
          <a:ext cx="0" cy="0"/>
          <a:chOff x="0" y="0"/>
          <a:chExt cx="0" cy="0"/>
        </a:xfrm>
      </p:grpSpPr>
      <p:grpSp>
        <p:nvGrpSpPr>
          <p:cNvPr id="2" name="Group 2"/>
          <p:cNvGrpSpPr/>
          <p:nvPr/>
        </p:nvGrpSpPr>
        <p:grpSpPr>
          <a:xfrm>
            <a:off x="1442364" y="4638555"/>
            <a:ext cx="4863014" cy="1386211"/>
            <a:chOff x="0" y="0"/>
            <a:chExt cx="1280794" cy="365093"/>
          </a:xfrm>
        </p:grpSpPr>
        <p:sp>
          <p:nvSpPr>
            <p:cNvPr id="3" name="Freeform 3"/>
            <p:cNvSpPr/>
            <p:nvPr/>
          </p:nvSpPr>
          <p:spPr>
            <a:xfrm>
              <a:off x="0" y="0"/>
              <a:ext cx="1280794" cy="365093"/>
            </a:xfrm>
            <a:custGeom>
              <a:avLst/>
              <a:gdLst/>
              <a:ahLst/>
              <a:cxnLst/>
              <a:rect l="l" t="t" r="r" b="b"/>
              <a:pathLst>
                <a:path w="1280794" h="365093">
                  <a:moveTo>
                    <a:pt x="52536" y="0"/>
                  </a:moveTo>
                  <a:lnTo>
                    <a:pt x="1228258" y="0"/>
                  </a:lnTo>
                  <a:cubicBezTo>
                    <a:pt x="1242191" y="0"/>
                    <a:pt x="1255554" y="5535"/>
                    <a:pt x="1265406" y="15387"/>
                  </a:cubicBezTo>
                  <a:cubicBezTo>
                    <a:pt x="1275259" y="25240"/>
                    <a:pt x="1280794" y="38603"/>
                    <a:pt x="1280794" y="52536"/>
                  </a:cubicBezTo>
                  <a:lnTo>
                    <a:pt x="1280794" y="312557"/>
                  </a:lnTo>
                  <a:cubicBezTo>
                    <a:pt x="1280794" y="326490"/>
                    <a:pt x="1275259" y="339853"/>
                    <a:pt x="1265406" y="349705"/>
                  </a:cubicBezTo>
                  <a:cubicBezTo>
                    <a:pt x="1255554" y="359558"/>
                    <a:pt x="1242191" y="365093"/>
                    <a:pt x="1228258" y="365093"/>
                  </a:cubicBezTo>
                  <a:lnTo>
                    <a:pt x="52536" y="365093"/>
                  </a:lnTo>
                  <a:cubicBezTo>
                    <a:pt x="38603" y="365093"/>
                    <a:pt x="25240" y="359558"/>
                    <a:pt x="15387" y="349705"/>
                  </a:cubicBezTo>
                  <a:cubicBezTo>
                    <a:pt x="5535" y="339853"/>
                    <a:pt x="0" y="326490"/>
                    <a:pt x="0" y="312557"/>
                  </a:cubicBezTo>
                  <a:lnTo>
                    <a:pt x="0" y="52536"/>
                  </a:lnTo>
                  <a:cubicBezTo>
                    <a:pt x="0" y="38603"/>
                    <a:pt x="5535" y="25240"/>
                    <a:pt x="15387" y="15387"/>
                  </a:cubicBezTo>
                  <a:cubicBezTo>
                    <a:pt x="25240" y="5535"/>
                    <a:pt x="38603" y="0"/>
                    <a:pt x="52536" y="0"/>
                  </a:cubicBezTo>
                  <a:close/>
                </a:path>
              </a:pathLst>
            </a:custGeom>
            <a:solidFill>
              <a:srgbClr val="FFB1A5"/>
            </a:solidFill>
            <a:ln w="38100" cap="rnd">
              <a:solidFill>
                <a:srgbClr val="000000"/>
              </a:solidFill>
              <a:prstDash val="solid"/>
              <a:round/>
            </a:ln>
          </p:spPr>
        </p:sp>
        <p:sp>
          <p:nvSpPr>
            <p:cNvPr id="4" name="TextBox 4"/>
            <p:cNvSpPr txBox="1"/>
            <p:nvPr/>
          </p:nvSpPr>
          <p:spPr>
            <a:xfrm>
              <a:off x="0" y="-47625"/>
              <a:ext cx="1280794" cy="412718"/>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1982621" y="4638555"/>
            <a:ext cx="4863014" cy="1386211"/>
            <a:chOff x="0" y="0"/>
            <a:chExt cx="1280794" cy="365093"/>
          </a:xfrm>
        </p:grpSpPr>
        <p:sp>
          <p:nvSpPr>
            <p:cNvPr id="6" name="Freeform 6"/>
            <p:cNvSpPr/>
            <p:nvPr/>
          </p:nvSpPr>
          <p:spPr>
            <a:xfrm>
              <a:off x="0" y="0"/>
              <a:ext cx="1280794" cy="365093"/>
            </a:xfrm>
            <a:custGeom>
              <a:avLst/>
              <a:gdLst/>
              <a:ahLst/>
              <a:cxnLst/>
              <a:rect l="l" t="t" r="r" b="b"/>
              <a:pathLst>
                <a:path w="1280794" h="365093">
                  <a:moveTo>
                    <a:pt x="52536" y="0"/>
                  </a:moveTo>
                  <a:lnTo>
                    <a:pt x="1228258" y="0"/>
                  </a:lnTo>
                  <a:cubicBezTo>
                    <a:pt x="1242191" y="0"/>
                    <a:pt x="1255554" y="5535"/>
                    <a:pt x="1265406" y="15387"/>
                  </a:cubicBezTo>
                  <a:cubicBezTo>
                    <a:pt x="1275259" y="25240"/>
                    <a:pt x="1280794" y="38603"/>
                    <a:pt x="1280794" y="52536"/>
                  </a:cubicBezTo>
                  <a:lnTo>
                    <a:pt x="1280794" y="312557"/>
                  </a:lnTo>
                  <a:cubicBezTo>
                    <a:pt x="1280794" y="326490"/>
                    <a:pt x="1275259" y="339853"/>
                    <a:pt x="1265406" y="349705"/>
                  </a:cubicBezTo>
                  <a:cubicBezTo>
                    <a:pt x="1255554" y="359558"/>
                    <a:pt x="1242191" y="365093"/>
                    <a:pt x="1228258" y="365093"/>
                  </a:cubicBezTo>
                  <a:lnTo>
                    <a:pt x="52536" y="365093"/>
                  </a:lnTo>
                  <a:cubicBezTo>
                    <a:pt x="38603" y="365093"/>
                    <a:pt x="25240" y="359558"/>
                    <a:pt x="15387" y="349705"/>
                  </a:cubicBezTo>
                  <a:cubicBezTo>
                    <a:pt x="5535" y="339853"/>
                    <a:pt x="0" y="326490"/>
                    <a:pt x="0" y="312557"/>
                  </a:cubicBezTo>
                  <a:lnTo>
                    <a:pt x="0" y="52536"/>
                  </a:lnTo>
                  <a:cubicBezTo>
                    <a:pt x="0" y="38603"/>
                    <a:pt x="5535" y="25240"/>
                    <a:pt x="15387" y="15387"/>
                  </a:cubicBezTo>
                  <a:cubicBezTo>
                    <a:pt x="25240" y="5535"/>
                    <a:pt x="38603" y="0"/>
                    <a:pt x="52536" y="0"/>
                  </a:cubicBezTo>
                  <a:close/>
                </a:path>
              </a:pathLst>
            </a:custGeom>
            <a:solidFill>
              <a:srgbClr val="FFB1A5"/>
            </a:solidFill>
            <a:ln w="38100" cap="rnd">
              <a:solidFill>
                <a:srgbClr val="000000"/>
              </a:solidFill>
              <a:prstDash val="solid"/>
              <a:round/>
            </a:ln>
          </p:spPr>
        </p:sp>
        <p:sp>
          <p:nvSpPr>
            <p:cNvPr id="7" name="TextBox 7"/>
            <p:cNvSpPr txBox="1"/>
            <p:nvPr/>
          </p:nvSpPr>
          <p:spPr>
            <a:xfrm>
              <a:off x="0" y="-47625"/>
              <a:ext cx="1280794" cy="412718"/>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1982621" y="6668803"/>
            <a:ext cx="4863014" cy="1386211"/>
            <a:chOff x="0" y="0"/>
            <a:chExt cx="1280794" cy="365093"/>
          </a:xfrm>
        </p:grpSpPr>
        <p:sp>
          <p:nvSpPr>
            <p:cNvPr id="9" name="Freeform 9"/>
            <p:cNvSpPr/>
            <p:nvPr/>
          </p:nvSpPr>
          <p:spPr>
            <a:xfrm>
              <a:off x="0" y="0"/>
              <a:ext cx="1280794" cy="365093"/>
            </a:xfrm>
            <a:custGeom>
              <a:avLst/>
              <a:gdLst/>
              <a:ahLst/>
              <a:cxnLst/>
              <a:rect l="l" t="t" r="r" b="b"/>
              <a:pathLst>
                <a:path w="1280794" h="365093">
                  <a:moveTo>
                    <a:pt x="52536" y="0"/>
                  </a:moveTo>
                  <a:lnTo>
                    <a:pt x="1228258" y="0"/>
                  </a:lnTo>
                  <a:cubicBezTo>
                    <a:pt x="1242191" y="0"/>
                    <a:pt x="1255554" y="5535"/>
                    <a:pt x="1265406" y="15387"/>
                  </a:cubicBezTo>
                  <a:cubicBezTo>
                    <a:pt x="1275259" y="25240"/>
                    <a:pt x="1280794" y="38603"/>
                    <a:pt x="1280794" y="52536"/>
                  </a:cubicBezTo>
                  <a:lnTo>
                    <a:pt x="1280794" y="312557"/>
                  </a:lnTo>
                  <a:cubicBezTo>
                    <a:pt x="1280794" y="326490"/>
                    <a:pt x="1275259" y="339853"/>
                    <a:pt x="1265406" y="349705"/>
                  </a:cubicBezTo>
                  <a:cubicBezTo>
                    <a:pt x="1255554" y="359558"/>
                    <a:pt x="1242191" y="365093"/>
                    <a:pt x="1228258" y="365093"/>
                  </a:cubicBezTo>
                  <a:lnTo>
                    <a:pt x="52536" y="365093"/>
                  </a:lnTo>
                  <a:cubicBezTo>
                    <a:pt x="38603" y="365093"/>
                    <a:pt x="25240" y="359558"/>
                    <a:pt x="15387" y="349705"/>
                  </a:cubicBezTo>
                  <a:cubicBezTo>
                    <a:pt x="5535" y="339853"/>
                    <a:pt x="0" y="326490"/>
                    <a:pt x="0" y="312557"/>
                  </a:cubicBezTo>
                  <a:lnTo>
                    <a:pt x="0" y="52536"/>
                  </a:lnTo>
                  <a:cubicBezTo>
                    <a:pt x="0" y="38603"/>
                    <a:pt x="5535" y="25240"/>
                    <a:pt x="15387" y="15387"/>
                  </a:cubicBezTo>
                  <a:cubicBezTo>
                    <a:pt x="25240" y="5535"/>
                    <a:pt x="38603" y="0"/>
                    <a:pt x="52536" y="0"/>
                  </a:cubicBezTo>
                  <a:close/>
                </a:path>
              </a:pathLst>
            </a:custGeom>
            <a:solidFill>
              <a:srgbClr val="6EC6CD"/>
            </a:solidFill>
            <a:ln w="38100" cap="rnd">
              <a:solidFill>
                <a:srgbClr val="000000"/>
              </a:solidFill>
              <a:prstDash val="solid"/>
              <a:round/>
            </a:ln>
          </p:spPr>
        </p:sp>
        <p:sp>
          <p:nvSpPr>
            <p:cNvPr id="10" name="TextBox 10"/>
            <p:cNvSpPr txBox="1"/>
            <p:nvPr/>
          </p:nvSpPr>
          <p:spPr>
            <a:xfrm>
              <a:off x="0" y="-47625"/>
              <a:ext cx="1280794" cy="41271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p:cNvGrpSpPr/>
          <p:nvPr/>
        </p:nvGrpSpPr>
        <p:grpSpPr>
          <a:xfrm>
            <a:off x="6708265" y="4638555"/>
            <a:ext cx="4863014" cy="1386211"/>
            <a:chOff x="0" y="0"/>
            <a:chExt cx="1280794" cy="365093"/>
          </a:xfrm>
        </p:grpSpPr>
        <p:sp>
          <p:nvSpPr>
            <p:cNvPr id="12" name="Freeform 12"/>
            <p:cNvSpPr/>
            <p:nvPr/>
          </p:nvSpPr>
          <p:spPr>
            <a:xfrm>
              <a:off x="0" y="0"/>
              <a:ext cx="1280794" cy="365093"/>
            </a:xfrm>
            <a:custGeom>
              <a:avLst/>
              <a:gdLst/>
              <a:ahLst/>
              <a:cxnLst/>
              <a:rect l="l" t="t" r="r" b="b"/>
              <a:pathLst>
                <a:path w="1280794" h="365093">
                  <a:moveTo>
                    <a:pt x="52536" y="0"/>
                  </a:moveTo>
                  <a:lnTo>
                    <a:pt x="1228258" y="0"/>
                  </a:lnTo>
                  <a:cubicBezTo>
                    <a:pt x="1242191" y="0"/>
                    <a:pt x="1255554" y="5535"/>
                    <a:pt x="1265406" y="15387"/>
                  </a:cubicBezTo>
                  <a:cubicBezTo>
                    <a:pt x="1275259" y="25240"/>
                    <a:pt x="1280794" y="38603"/>
                    <a:pt x="1280794" y="52536"/>
                  </a:cubicBezTo>
                  <a:lnTo>
                    <a:pt x="1280794" y="312557"/>
                  </a:lnTo>
                  <a:cubicBezTo>
                    <a:pt x="1280794" y="326490"/>
                    <a:pt x="1275259" y="339853"/>
                    <a:pt x="1265406" y="349705"/>
                  </a:cubicBezTo>
                  <a:cubicBezTo>
                    <a:pt x="1255554" y="359558"/>
                    <a:pt x="1242191" y="365093"/>
                    <a:pt x="1228258" y="365093"/>
                  </a:cubicBezTo>
                  <a:lnTo>
                    <a:pt x="52536" y="365093"/>
                  </a:lnTo>
                  <a:cubicBezTo>
                    <a:pt x="38603" y="365093"/>
                    <a:pt x="25240" y="359558"/>
                    <a:pt x="15387" y="349705"/>
                  </a:cubicBezTo>
                  <a:cubicBezTo>
                    <a:pt x="5535" y="339853"/>
                    <a:pt x="0" y="326490"/>
                    <a:pt x="0" y="312557"/>
                  </a:cubicBezTo>
                  <a:lnTo>
                    <a:pt x="0" y="52536"/>
                  </a:lnTo>
                  <a:cubicBezTo>
                    <a:pt x="0" y="38603"/>
                    <a:pt x="5535" y="25240"/>
                    <a:pt x="15387" y="15387"/>
                  </a:cubicBezTo>
                  <a:cubicBezTo>
                    <a:pt x="25240" y="5535"/>
                    <a:pt x="38603" y="0"/>
                    <a:pt x="52536" y="0"/>
                  </a:cubicBezTo>
                  <a:close/>
                </a:path>
              </a:pathLst>
            </a:custGeom>
            <a:solidFill>
              <a:srgbClr val="6EC6CD"/>
            </a:solidFill>
            <a:ln w="38100" cap="rnd">
              <a:solidFill>
                <a:srgbClr val="000000"/>
              </a:solidFill>
              <a:prstDash val="solid"/>
              <a:round/>
            </a:ln>
          </p:spPr>
        </p:sp>
        <p:sp>
          <p:nvSpPr>
            <p:cNvPr id="13" name="TextBox 13"/>
            <p:cNvSpPr txBox="1"/>
            <p:nvPr/>
          </p:nvSpPr>
          <p:spPr>
            <a:xfrm>
              <a:off x="0" y="-47625"/>
              <a:ext cx="1280794" cy="412718"/>
            </a:xfrm>
            <a:prstGeom prst="rect">
              <a:avLst/>
            </a:prstGeom>
          </p:spPr>
          <p:txBody>
            <a:bodyPr lIns="50800" tIns="50800" rIns="50800" bIns="50800" rtlCol="0" anchor="ctr"/>
            <a:lstStyle/>
            <a:p>
              <a:pPr algn="ctr">
                <a:lnSpc>
                  <a:spcPts val="2659"/>
                </a:lnSpc>
                <a:spcBef>
                  <a:spcPct val="0"/>
                </a:spcBef>
              </a:pPr>
              <a:endParaRPr/>
            </a:p>
          </p:txBody>
        </p:sp>
      </p:grpSp>
      <p:grpSp>
        <p:nvGrpSpPr>
          <p:cNvPr id="14" name="Group 14"/>
          <p:cNvGrpSpPr/>
          <p:nvPr/>
        </p:nvGrpSpPr>
        <p:grpSpPr>
          <a:xfrm>
            <a:off x="6708265" y="6668803"/>
            <a:ext cx="4863014" cy="1386211"/>
            <a:chOff x="0" y="0"/>
            <a:chExt cx="1280794" cy="365093"/>
          </a:xfrm>
        </p:grpSpPr>
        <p:sp>
          <p:nvSpPr>
            <p:cNvPr id="15" name="Freeform 15"/>
            <p:cNvSpPr/>
            <p:nvPr/>
          </p:nvSpPr>
          <p:spPr>
            <a:xfrm>
              <a:off x="0" y="0"/>
              <a:ext cx="1280794" cy="365093"/>
            </a:xfrm>
            <a:custGeom>
              <a:avLst/>
              <a:gdLst/>
              <a:ahLst/>
              <a:cxnLst/>
              <a:rect l="l" t="t" r="r" b="b"/>
              <a:pathLst>
                <a:path w="1280794" h="365093">
                  <a:moveTo>
                    <a:pt x="52536" y="0"/>
                  </a:moveTo>
                  <a:lnTo>
                    <a:pt x="1228258" y="0"/>
                  </a:lnTo>
                  <a:cubicBezTo>
                    <a:pt x="1242191" y="0"/>
                    <a:pt x="1255554" y="5535"/>
                    <a:pt x="1265406" y="15387"/>
                  </a:cubicBezTo>
                  <a:cubicBezTo>
                    <a:pt x="1275259" y="25240"/>
                    <a:pt x="1280794" y="38603"/>
                    <a:pt x="1280794" y="52536"/>
                  </a:cubicBezTo>
                  <a:lnTo>
                    <a:pt x="1280794" y="312557"/>
                  </a:lnTo>
                  <a:cubicBezTo>
                    <a:pt x="1280794" y="326490"/>
                    <a:pt x="1275259" y="339853"/>
                    <a:pt x="1265406" y="349705"/>
                  </a:cubicBezTo>
                  <a:cubicBezTo>
                    <a:pt x="1255554" y="359558"/>
                    <a:pt x="1242191" y="365093"/>
                    <a:pt x="1228258" y="365093"/>
                  </a:cubicBezTo>
                  <a:lnTo>
                    <a:pt x="52536" y="365093"/>
                  </a:lnTo>
                  <a:cubicBezTo>
                    <a:pt x="38603" y="365093"/>
                    <a:pt x="25240" y="359558"/>
                    <a:pt x="15387" y="349705"/>
                  </a:cubicBezTo>
                  <a:cubicBezTo>
                    <a:pt x="5535" y="339853"/>
                    <a:pt x="0" y="326490"/>
                    <a:pt x="0" y="312557"/>
                  </a:cubicBezTo>
                  <a:lnTo>
                    <a:pt x="0" y="52536"/>
                  </a:lnTo>
                  <a:cubicBezTo>
                    <a:pt x="0" y="38603"/>
                    <a:pt x="5535" y="25240"/>
                    <a:pt x="15387" y="15387"/>
                  </a:cubicBezTo>
                  <a:cubicBezTo>
                    <a:pt x="25240" y="5535"/>
                    <a:pt x="38603" y="0"/>
                    <a:pt x="52536" y="0"/>
                  </a:cubicBezTo>
                  <a:close/>
                </a:path>
              </a:pathLst>
            </a:custGeom>
            <a:solidFill>
              <a:srgbClr val="FFB1A5"/>
            </a:solidFill>
            <a:ln w="38100" cap="rnd">
              <a:solidFill>
                <a:srgbClr val="000000"/>
              </a:solidFill>
              <a:prstDash val="solid"/>
              <a:round/>
            </a:ln>
          </p:spPr>
        </p:sp>
        <p:sp>
          <p:nvSpPr>
            <p:cNvPr id="16" name="TextBox 16"/>
            <p:cNvSpPr txBox="1"/>
            <p:nvPr/>
          </p:nvSpPr>
          <p:spPr>
            <a:xfrm>
              <a:off x="0" y="-47625"/>
              <a:ext cx="1280794" cy="412718"/>
            </a:xfrm>
            <a:prstGeom prst="rect">
              <a:avLst/>
            </a:prstGeom>
          </p:spPr>
          <p:txBody>
            <a:bodyPr lIns="50800" tIns="50800" rIns="50800" bIns="50800" rtlCol="0" anchor="ctr"/>
            <a:lstStyle/>
            <a:p>
              <a:pPr algn="ctr">
                <a:lnSpc>
                  <a:spcPts val="2659"/>
                </a:lnSpc>
                <a:spcBef>
                  <a:spcPct val="0"/>
                </a:spcBef>
              </a:pPr>
              <a:endParaRPr/>
            </a:p>
          </p:txBody>
        </p:sp>
      </p:grpSp>
      <p:grpSp>
        <p:nvGrpSpPr>
          <p:cNvPr id="17" name="Group 17"/>
          <p:cNvGrpSpPr/>
          <p:nvPr/>
        </p:nvGrpSpPr>
        <p:grpSpPr>
          <a:xfrm>
            <a:off x="1442364" y="6668803"/>
            <a:ext cx="4863014" cy="1386211"/>
            <a:chOff x="0" y="0"/>
            <a:chExt cx="1280794" cy="365093"/>
          </a:xfrm>
        </p:grpSpPr>
        <p:sp>
          <p:nvSpPr>
            <p:cNvPr id="18" name="Freeform 18"/>
            <p:cNvSpPr/>
            <p:nvPr/>
          </p:nvSpPr>
          <p:spPr>
            <a:xfrm>
              <a:off x="0" y="0"/>
              <a:ext cx="1280794" cy="365093"/>
            </a:xfrm>
            <a:custGeom>
              <a:avLst/>
              <a:gdLst/>
              <a:ahLst/>
              <a:cxnLst/>
              <a:rect l="l" t="t" r="r" b="b"/>
              <a:pathLst>
                <a:path w="1280794" h="365093">
                  <a:moveTo>
                    <a:pt x="52536" y="0"/>
                  </a:moveTo>
                  <a:lnTo>
                    <a:pt x="1228258" y="0"/>
                  </a:lnTo>
                  <a:cubicBezTo>
                    <a:pt x="1242191" y="0"/>
                    <a:pt x="1255554" y="5535"/>
                    <a:pt x="1265406" y="15387"/>
                  </a:cubicBezTo>
                  <a:cubicBezTo>
                    <a:pt x="1275259" y="25240"/>
                    <a:pt x="1280794" y="38603"/>
                    <a:pt x="1280794" y="52536"/>
                  </a:cubicBezTo>
                  <a:lnTo>
                    <a:pt x="1280794" y="312557"/>
                  </a:lnTo>
                  <a:cubicBezTo>
                    <a:pt x="1280794" y="326490"/>
                    <a:pt x="1275259" y="339853"/>
                    <a:pt x="1265406" y="349705"/>
                  </a:cubicBezTo>
                  <a:cubicBezTo>
                    <a:pt x="1255554" y="359558"/>
                    <a:pt x="1242191" y="365093"/>
                    <a:pt x="1228258" y="365093"/>
                  </a:cubicBezTo>
                  <a:lnTo>
                    <a:pt x="52536" y="365093"/>
                  </a:lnTo>
                  <a:cubicBezTo>
                    <a:pt x="38603" y="365093"/>
                    <a:pt x="25240" y="359558"/>
                    <a:pt x="15387" y="349705"/>
                  </a:cubicBezTo>
                  <a:cubicBezTo>
                    <a:pt x="5535" y="339853"/>
                    <a:pt x="0" y="326490"/>
                    <a:pt x="0" y="312557"/>
                  </a:cubicBezTo>
                  <a:lnTo>
                    <a:pt x="0" y="52536"/>
                  </a:lnTo>
                  <a:cubicBezTo>
                    <a:pt x="0" y="38603"/>
                    <a:pt x="5535" y="25240"/>
                    <a:pt x="15387" y="15387"/>
                  </a:cubicBezTo>
                  <a:cubicBezTo>
                    <a:pt x="25240" y="5535"/>
                    <a:pt x="38603" y="0"/>
                    <a:pt x="52536" y="0"/>
                  </a:cubicBezTo>
                  <a:close/>
                </a:path>
              </a:pathLst>
            </a:custGeom>
            <a:solidFill>
              <a:srgbClr val="6EC6CD"/>
            </a:solidFill>
            <a:ln w="38100" cap="rnd">
              <a:solidFill>
                <a:srgbClr val="000000"/>
              </a:solidFill>
              <a:prstDash val="solid"/>
              <a:round/>
            </a:ln>
          </p:spPr>
        </p:sp>
        <p:sp>
          <p:nvSpPr>
            <p:cNvPr id="19" name="TextBox 19"/>
            <p:cNvSpPr txBox="1"/>
            <p:nvPr/>
          </p:nvSpPr>
          <p:spPr>
            <a:xfrm>
              <a:off x="0" y="-47625"/>
              <a:ext cx="1280794" cy="412718"/>
            </a:xfrm>
            <a:prstGeom prst="rect">
              <a:avLst/>
            </a:prstGeom>
          </p:spPr>
          <p:txBody>
            <a:bodyPr lIns="50800" tIns="50800" rIns="50800" bIns="50800" rtlCol="0" anchor="ctr"/>
            <a:lstStyle/>
            <a:p>
              <a:pPr algn="ctr">
                <a:lnSpc>
                  <a:spcPts val="2659"/>
                </a:lnSpc>
                <a:spcBef>
                  <a:spcPct val="0"/>
                </a:spcBef>
              </a:pPr>
              <a:endParaRPr/>
            </a:p>
          </p:txBody>
        </p:sp>
      </p:grpSp>
      <p:sp>
        <p:nvSpPr>
          <p:cNvPr id="20" name="Freeform 20"/>
          <p:cNvSpPr/>
          <p:nvPr/>
        </p:nvSpPr>
        <p:spPr>
          <a:xfrm>
            <a:off x="13578984" y="668233"/>
            <a:ext cx="2849365" cy="2771655"/>
          </a:xfrm>
          <a:custGeom>
            <a:avLst/>
            <a:gdLst/>
            <a:ahLst/>
            <a:cxnLst/>
            <a:rect l="l" t="t" r="r" b="b"/>
            <a:pathLst>
              <a:path w="2849365" h="2771655">
                <a:moveTo>
                  <a:pt x="0" y="0"/>
                </a:moveTo>
                <a:lnTo>
                  <a:pt x="2849365" y="0"/>
                </a:lnTo>
                <a:lnTo>
                  <a:pt x="2849365" y="2771655"/>
                </a:lnTo>
                <a:lnTo>
                  <a:pt x="0" y="277165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1" name="Freeform 21"/>
          <p:cNvSpPr/>
          <p:nvPr/>
        </p:nvSpPr>
        <p:spPr>
          <a:xfrm>
            <a:off x="1855424" y="1291323"/>
            <a:ext cx="2009181" cy="1881324"/>
          </a:xfrm>
          <a:custGeom>
            <a:avLst/>
            <a:gdLst/>
            <a:ahLst/>
            <a:cxnLst/>
            <a:rect l="l" t="t" r="r" b="b"/>
            <a:pathLst>
              <a:path w="2009181" h="1881324">
                <a:moveTo>
                  <a:pt x="0" y="0"/>
                </a:moveTo>
                <a:lnTo>
                  <a:pt x="2009181" y="0"/>
                </a:lnTo>
                <a:lnTo>
                  <a:pt x="2009181" y="1881324"/>
                </a:lnTo>
                <a:lnTo>
                  <a:pt x="0" y="188132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2" name="Freeform 22"/>
          <p:cNvSpPr/>
          <p:nvPr/>
        </p:nvSpPr>
        <p:spPr>
          <a:xfrm>
            <a:off x="7125552" y="7857209"/>
            <a:ext cx="5489215" cy="3582960"/>
          </a:xfrm>
          <a:custGeom>
            <a:avLst/>
            <a:gdLst/>
            <a:ahLst/>
            <a:cxnLst/>
            <a:rect l="l" t="t" r="r" b="b"/>
            <a:pathLst>
              <a:path w="5489215" h="3582960">
                <a:moveTo>
                  <a:pt x="0" y="0"/>
                </a:moveTo>
                <a:lnTo>
                  <a:pt x="5489215" y="0"/>
                </a:lnTo>
                <a:lnTo>
                  <a:pt x="5489215" y="3582960"/>
                </a:lnTo>
                <a:lnTo>
                  <a:pt x="0" y="3582960"/>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sp>
      <p:sp>
        <p:nvSpPr>
          <p:cNvPr id="23" name="Freeform 23"/>
          <p:cNvSpPr/>
          <p:nvPr/>
        </p:nvSpPr>
        <p:spPr>
          <a:xfrm rot="2700000">
            <a:off x="12235346" y="8201860"/>
            <a:ext cx="5917085" cy="5497510"/>
          </a:xfrm>
          <a:custGeom>
            <a:avLst/>
            <a:gdLst/>
            <a:ahLst/>
            <a:cxnLst/>
            <a:rect l="l" t="t" r="r" b="b"/>
            <a:pathLst>
              <a:path w="5917085" h="5497510">
                <a:moveTo>
                  <a:pt x="0" y="0"/>
                </a:moveTo>
                <a:lnTo>
                  <a:pt x="5917085" y="0"/>
                </a:lnTo>
                <a:lnTo>
                  <a:pt x="5917085" y="5497510"/>
                </a:lnTo>
                <a:lnTo>
                  <a:pt x="0" y="5497510"/>
                </a:lnTo>
                <a:lnTo>
                  <a:pt x="0" y="0"/>
                </a:lnTo>
                <a:close/>
              </a:path>
            </a:pathLst>
          </a:custGeom>
          <a:blipFill>
            <a:blip r:embed="rId8">
              <a:extLst>
                <a:ext uri="{96DAC541-7B7A-43D3-8B79-37D633B846F1}">
                  <asvg:svgBlip xmlns:asvg="http://schemas.microsoft.com/office/drawing/2016/SVG/main" r:embed="rId9"/>
                </a:ext>
              </a:extLst>
            </a:blip>
            <a:stretch>
              <a:fillRect/>
            </a:stretch>
          </a:blipFill>
          <a:ln cap="sq">
            <a:noFill/>
            <a:prstDash val="solid"/>
            <a:miter/>
          </a:ln>
        </p:spPr>
      </p:sp>
      <p:sp>
        <p:nvSpPr>
          <p:cNvPr id="24" name="TextBox 24"/>
          <p:cNvSpPr txBox="1"/>
          <p:nvPr/>
        </p:nvSpPr>
        <p:spPr>
          <a:xfrm>
            <a:off x="4337389" y="2393910"/>
            <a:ext cx="9611108" cy="1045978"/>
          </a:xfrm>
          <a:prstGeom prst="rect">
            <a:avLst/>
          </a:prstGeom>
        </p:spPr>
        <p:txBody>
          <a:bodyPr lIns="0" tIns="0" rIns="0" bIns="0" rtlCol="0" anchor="t">
            <a:spAutoFit/>
          </a:bodyPr>
          <a:lstStyle/>
          <a:p>
            <a:pPr marL="0" lvl="0" indent="0" algn="ctr">
              <a:lnSpc>
                <a:spcPts val="7532"/>
              </a:lnSpc>
              <a:spcBef>
                <a:spcPct val="0"/>
              </a:spcBef>
            </a:pPr>
            <a:r>
              <a:rPr lang="en-US" sz="7765" b="1">
                <a:solidFill>
                  <a:srgbClr val="303030"/>
                </a:solidFill>
                <a:latin typeface="Hagrid Ultra-Bold"/>
                <a:ea typeface="Hagrid Ultra-Bold"/>
                <a:cs typeface="Hagrid Ultra-Bold"/>
                <a:sym typeface="Hagrid Ultra-Bold"/>
              </a:rPr>
              <a:t>METHODOLOGY</a:t>
            </a:r>
          </a:p>
        </p:txBody>
      </p:sp>
      <p:sp>
        <p:nvSpPr>
          <p:cNvPr id="25" name="TextBox 25"/>
          <p:cNvSpPr txBox="1"/>
          <p:nvPr/>
        </p:nvSpPr>
        <p:spPr>
          <a:xfrm>
            <a:off x="12397794" y="4788736"/>
            <a:ext cx="4032668" cy="431800"/>
          </a:xfrm>
          <a:prstGeom prst="rect">
            <a:avLst/>
          </a:prstGeom>
        </p:spPr>
        <p:txBody>
          <a:bodyPr lIns="0" tIns="0" rIns="0" bIns="0" rtlCol="0" anchor="t">
            <a:spAutoFit/>
          </a:bodyPr>
          <a:lstStyle/>
          <a:p>
            <a:pPr marL="0" lvl="0" indent="0" algn="ctr">
              <a:lnSpc>
                <a:spcPts val="3500"/>
              </a:lnSpc>
              <a:spcBef>
                <a:spcPct val="0"/>
              </a:spcBef>
            </a:pPr>
            <a:r>
              <a:rPr lang="en-US" sz="2500" b="1">
                <a:solidFill>
                  <a:srgbClr val="303030"/>
                </a:solidFill>
                <a:latin typeface="Roboto Bold"/>
                <a:ea typeface="Roboto Bold"/>
                <a:cs typeface="Roboto Bold"/>
                <a:sym typeface="Roboto Bold"/>
              </a:rPr>
              <a:t>Impl</a:t>
            </a:r>
            <a:r>
              <a:rPr lang="en-US" sz="2500" b="1" u="none" strike="noStrike">
                <a:solidFill>
                  <a:srgbClr val="303030"/>
                </a:solidFill>
                <a:latin typeface="Roboto Bold"/>
                <a:ea typeface="Roboto Bold"/>
                <a:cs typeface="Roboto Bold"/>
                <a:sym typeface="Roboto Bold"/>
              </a:rPr>
              <a:t>ement using Python.</a:t>
            </a:r>
          </a:p>
        </p:txBody>
      </p:sp>
      <p:sp>
        <p:nvSpPr>
          <p:cNvPr id="26" name="TextBox 26"/>
          <p:cNvSpPr txBox="1"/>
          <p:nvPr/>
        </p:nvSpPr>
        <p:spPr>
          <a:xfrm>
            <a:off x="12395681" y="6818984"/>
            <a:ext cx="4032668" cy="869950"/>
          </a:xfrm>
          <a:prstGeom prst="rect">
            <a:avLst/>
          </a:prstGeom>
        </p:spPr>
        <p:txBody>
          <a:bodyPr lIns="0" tIns="0" rIns="0" bIns="0" rtlCol="0" anchor="t">
            <a:spAutoFit/>
          </a:bodyPr>
          <a:lstStyle/>
          <a:p>
            <a:pPr marL="0" lvl="0" indent="0" algn="ctr">
              <a:lnSpc>
                <a:spcPts val="3500"/>
              </a:lnSpc>
              <a:spcBef>
                <a:spcPct val="0"/>
              </a:spcBef>
            </a:pPr>
            <a:r>
              <a:rPr lang="en-US" sz="2500" b="1">
                <a:solidFill>
                  <a:srgbClr val="303030"/>
                </a:solidFill>
                <a:latin typeface="Roboto Bold"/>
                <a:ea typeface="Roboto Bold"/>
                <a:cs typeface="Roboto Bold"/>
                <a:sym typeface="Roboto Bold"/>
              </a:rPr>
              <a:t>Debug</a:t>
            </a:r>
            <a:r>
              <a:rPr lang="en-US" sz="2500" b="1" u="none" strike="noStrike">
                <a:solidFill>
                  <a:srgbClr val="303030"/>
                </a:solidFill>
                <a:latin typeface="Roboto Bold"/>
                <a:ea typeface="Roboto Bold"/>
                <a:cs typeface="Roboto Bold"/>
                <a:sym typeface="Roboto Bold"/>
              </a:rPr>
              <a:t> and improve based on results.</a:t>
            </a:r>
          </a:p>
        </p:txBody>
      </p:sp>
      <p:sp>
        <p:nvSpPr>
          <p:cNvPr id="27" name="TextBox 27"/>
          <p:cNvSpPr txBox="1"/>
          <p:nvPr/>
        </p:nvSpPr>
        <p:spPr>
          <a:xfrm>
            <a:off x="7125552" y="4788736"/>
            <a:ext cx="4032668" cy="869950"/>
          </a:xfrm>
          <a:prstGeom prst="rect">
            <a:avLst/>
          </a:prstGeom>
        </p:spPr>
        <p:txBody>
          <a:bodyPr lIns="0" tIns="0" rIns="0" bIns="0" rtlCol="0" anchor="t">
            <a:spAutoFit/>
          </a:bodyPr>
          <a:lstStyle/>
          <a:p>
            <a:pPr marL="0" lvl="0" indent="0" algn="ctr">
              <a:lnSpc>
                <a:spcPts val="3500"/>
              </a:lnSpc>
              <a:spcBef>
                <a:spcPct val="0"/>
              </a:spcBef>
            </a:pPr>
            <a:r>
              <a:rPr lang="en-US" sz="2500" b="1">
                <a:solidFill>
                  <a:srgbClr val="303030"/>
                </a:solidFill>
                <a:latin typeface="Roboto Bold"/>
                <a:ea typeface="Roboto Bold"/>
                <a:cs typeface="Roboto Bold"/>
                <a:sym typeface="Roboto Bold"/>
              </a:rPr>
              <a:t>D</a:t>
            </a:r>
            <a:r>
              <a:rPr lang="en-US" sz="2500" b="1" u="none" strike="noStrike">
                <a:solidFill>
                  <a:srgbClr val="303030"/>
                </a:solidFill>
                <a:latin typeface="Roboto Bold"/>
                <a:ea typeface="Roboto Bold"/>
                <a:cs typeface="Roboto Bold"/>
                <a:sym typeface="Roboto Bold"/>
              </a:rPr>
              <a:t>esign the shell architecture.</a:t>
            </a:r>
          </a:p>
        </p:txBody>
      </p:sp>
      <p:sp>
        <p:nvSpPr>
          <p:cNvPr id="28" name="TextBox 28"/>
          <p:cNvSpPr txBox="1"/>
          <p:nvPr/>
        </p:nvSpPr>
        <p:spPr>
          <a:xfrm>
            <a:off x="1640684" y="4788736"/>
            <a:ext cx="4447841" cy="869950"/>
          </a:xfrm>
          <a:prstGeom prst="rect">
            <a:avLst/>
          </a:prstGeom>
        </p:spPr>
        <p:txBody>
          <a:bodyPr lIns="0" tIns="0" rIns="0" bIns="0" rtlCol="0" anchor="t">
            <a:spAutoFit/>
          </a:bodyPr>
          <a:lstStyle/>
          <a:p>
            <a:pPr marL="0" lvl="0" indent="0" algn="ctr">
              <a:lnSpc>
                <a:spcPts val="3500"/>
              </a:lnSpc>
              <a:spcBef>
                <a:spcPct val="0"/>
              </a:spcBef>
            </a:pPr>
            <a:r>
              <a:rPr lang="en-US" sz="2500" b="1">
                <a:solidFill>
                  <a:srgbClr val="303030"/>
                </a:solidFill>
                <a:latin typeface="Roboto Bold"/>
                <a:ea typeface="Roboto Bold"/>
                <a:cs typeface="Roboto Bold"/>
                <a:sym typeface="Roboto Bold"/>
              </a:rPr>
              <a:t>An</a:t>
            </a:r>
            <a:r>
              <a:rPr lang="en-US" sz="2500" b="1" u="none" strike="noStrike">
                <a:solidFill>
                  <a:srgbClr val="303030"/>
                </a:solidFill>
                <a:latin typeface="Roboto Bold"/>
                <a:ea typeface="Roboto Bold"/>
                <a:cs typeface="Roboto Bold"/>
                <a:sym typeface="Roboto Bold"/>
              </a:rPr>
              <a:t>alyze requirements to identify core features.</a:t>
            </a:r>
          </a:p>
        </p:txBody>
      </p:sp>
      <p:sp>
        <p:nvSpPr>
          <p:cNvPr id="29" name="TextBox 29"/>
          <p:cNvSpPr txBox="1"/>
          <p:nvPr/>
        </p:nvSpPr>
        <p:spPr>
          <a:xfrm>
            <a:off x="7123438" y="6818984"/>
            <a:ext cx="4032668" cy="869950"/>
          </a:xfrm>
          <a:prstGeom prst="rect">
            <a:avLst/>
          </a:prstGeom>
        </p:spPr>
        <p:txBody>
          <a:bodyPr lIns="0" tIns="0" rIns="0" bIns="0" rtlCol="0" anchor="t">
            <a:spAutoFit/>
          </a:bodyPr>
          <a:lstStyle/>
          <a:p>
            <a:pPr marL="0" lvl="0" indent="0" algn="ctr">
              <a:lnSpc>
                <a:spcPts val="3500"/>
              </a:lnSpc>
              <a:spcBef>
                <a:spcPct val="0"/>
              </a:spcBef>
            </a:pPr>
            <a:r>
              <a:rPr lang="en-US" sz="2500" b="1">
                <a:solidFill>
                  <a:srgbClr val="303030"/>
                </a:solidFill>
                <a:latin typeface="Roboto Bold"/>
                <a:ea typeface="Roboto Bold"/>
                <a:cs typeface="Roboto Bold"/>
                <a:sym typeface="Roboto Bold"/>
              </a:rPr>
              <a:t>T</a:t>
            </a:r>
            <a:r>
              <a:rPr lang="en-US" sz="2500" b="1" u="none" strike="noStrike">
                <a:solidFill>
                  <a:srgbClr val="303030"/>
                </a:solidFill>
                <a:latin typeface="Roboto Bold"/>
                <a:ea typeface="Roboto Bold"/>
                <a:cs typeface="Roboto Bold"/>
                <a:sym typeface="Roboto Bold"/>
              </a:rPr>
              <a:t>est with sample commands and scripts.</a:t>
            </a:r>
          </a:p>
        </p:txBody>
      </p:sp>
      <p:sp>
        <p:nvSpPr>
          <p:cNvPr id="30" name="TextBox 30"/>
          <p:cNvSpPr txBox="1"/>
          <p:nvPr/>
        </p:nvSpPr>
        <p:spPr>
          <a:xfrm>
            <a:off x="1855424" y="6818984"/>
            <a:ext cx="4032668" cy="869950"/>
          </a:xfrm>
          <a:prstGeom prst="rect">
            <a:avLst/>
          </a:prstGeom>
        </p:spPr>
        <p:txBody>
          <a:bodyPr lIns="0" tIns="0" rIns="0" bIns="0" rtlCol="0" anchor="t">
            <a:spAutoFit/>
          </a:bodyPr>
          <a:lstStyle/>
          <a:p>
            <a:pPr marL="0" lvl="0" indent="0" algn="ctr">
              <a:lnSpc>
                <a:spcPts val="3500"/>
              </a:lnSpc>
              <a:spcBef>
                <a:spcPct val="0"/>
              </a:spcBef>
            </a:pPr>
            <a:r>
              <a:rPr lang="en-US" sz="2500" b="1">
                <a:solidFill>
                  <a:srgbClr val="303030"/>
                </a:solidFill>
                <a:latin typeface="Roboto Bold"/>
                <a:ea typeface="Roboto Bold"/>
                <a:cs typeface="Roboto Bold"/>
                <a:sym typeface="Roboto Bold"/>
              </a:rPr>
              <a:t>Par</a:t>
            </a:r>
            <a:r>
              <a:rPr lang="en-US" sz="2500" b="1" u="none" strike="noStrike">
                <a:solidFill>
                  <a:srgbClr val="303030"/>
                </a:solidFill>
                <a:latin typeface="Roboto Bold"/>
                <a:ea typeface="Roboto Bold"/>
                <a:cs typeface="Roboto Bold"/>
                <a:sym typeface="Roboto Bold"/>
              </a:rPr>
              <a:t>se and execute commands.</a:t>
            </a:r>
          </a:p>
        </p:txBody>
      </p:sp>
      <p:sp>
        <p:nvSpPr>
          <p:cNvPr id="31" name="Freeform 31"/>
          <p:cNvSpPr/>
          <p:nvPr/>
        </p:nvSpPr>
        <p:spPr>
          <a:xfrm>
            <a:off x="-522214" y="8620628"/>
            <a:ext cx="8188453" cy="4659974"/>
          </a:xfrm>
          <a:custGeom>
            <a:avLst/>
            <a:gdLst/>
            <a:ahLst/>
            <a:cxnLst/>
            <a:rect l="l" t="t" r="r" b="b"/>
            <a:pathLst>
              <a:path w="8188453" h="4659974">
                <a:moveTo>
                  <a:pt x="0" y="0"/>
                </a:moveTo>
                <a:lnTo>
                  <a:pt x="8188453" y="0"/>
                </a:lnTo>
                <a:lnTo>
                  <a:pt x="8188453" y="4659974"/>
                </a:lnTo>
                <a:lnTo>
                  <a:pt x="0" y="4659974"/>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0DFC8"/>
        </a:solidFill>
        <a:effectLst/>
      </p:bgPr>
    </p:bg>
    <p:spTree>
      <p:nvGrpSpPr>
        <p:cNvPr id="1" name=""/>
        <p:cNvGrpSpPr/>
        <p:nvPr/>
      </p:nvGrpSpPr>
      <p:grpSpPr>
        <a:xfrm>
          <a:off x="0" y="0"/>
          <a:ext cx="0" cy="0"/>
          <a:chOff x="0" y="0"/>
          <a:chExt cx="0" cy="0"/>
        </a:xfrm>
      </p:grpSpPr>
      <p:sp>
        <p:nvSpPr>
          <p:cNvPr id="2" name="Freeform 2"/>
          <p:cNvSpPr/>
          <p:nvPr/>
        </p:nvSpPr>
        <p:spPr>
          <a:xfrm>
            <a:off x="13418989" y="3307458"/>
            <a:ext cx="6191367" cy="5189492"/>
          </a:xfrm>
          <a:custGeom>
            <a:avLst/>
            <a:gdLst/>
            <a:ahLst/>
            <a:cxnLst/>
            <a:rect l="l" t="t" r="r" b="b"/>
            <a:pathLst>
              <a:path w="6191367" h="5189492">
                <a:moveTo>
                  <a:pt x="0" y="0"/>
                </a:moveTo>
                <a:lnTo>
                  <a:pt x="6191367" y="0"/>
                </a:lnTo>
                <a:lnTo>
                  <a:pt x="6191367" y="5189492"/>
                </a:lnTo>
                <a:lnTo>
                  <a:pt x="0" y="5189492"/>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3" name="TextBox 3"/>
          <p:cNvSpPr txBox="1"/>
          <p:nvPr/>
        </p:nvSpPr>
        <p:spPr>
          <a:xfrm>
            <a:off x="1028700" y="2261480"/>
            <a:ext cx="11037608" cy="1045978"/>
          </a:xfrm>
          <a:prstGeom prst="rect">
            <a:avLst/>
          </a:prstGeom>
        </p:spPr>
        <p:txBody>
          <a:bodyPr lIns="0" tIns="0" rIns="0" bIns="0" rtlCol="0" anchor="t">
            <a:spAutoFit/>
          </a:bodyPr>
          <a:lstStyle/>
          <a:p>
            <a:pPr marL="0" lvl="0" indent="0" algn="l">
              <a:lnSpc>
                <a:spcPts val="7532"/>
              </a:lnSpc>
              <a:spcBef>
                <a:spcPct val="0"/>
              </a:spcBef>
            </a:pPr>
            <a:r>
              <a:rPr lang="en-US" sz="7765" b="1">
                <a:solidFill>
                  <a:srgbClr val="303030"/>
                </a:solidFill>
                <a:latin typeface="Hagrid Ultra-Bold"/>
                <a:ea typeface="Hagrid Ultra-Bold"/>
                <a:cs typeface="Hagrid Ultra-Bold"/>
                <a:sym typeface="Hagrid Ultra-Bold"/>
              </a:rPr>
              <a:t>PROJECT TIMELINE</a:t>
            </a:r>
          </a:p>
        </p:txBody>
      </p:sp>
      <p:sp>
        <p:nvSpPr>
          <p:cNvPr id="4" name="TextBox 4"/>
          <p:cNvSpPr txBox="1"/>
          <p:nvPr/>
        </p:nvSpPr>
        <p:spPr>
          <a:xfrm>
            <a:off x="1028700" y="3932284"/>
            <a:ext cx="12017772" cy="3184703"/>
          </a:xfrm>
          <a:prstGeom prst="rect">
            <a:avLst/>
          </a:prstGeom>
        </p:spPr>
        <p:txBody>
          <a:bodyPr lIns="0" tIns="0" rIns="0" bIns="0" rtlCol="0" anchor="t">
            <a:spAutoFit/>
          </a:bodyPr>
          <a:lstStyle/>
          <a:p>
            <a:pPr marL="552703" lvl="1" indent="-276352" algn="just">
              <a:lnSpc>
                <a:spcPts val="5145"/>
              </a:lnSpc>
              <a:buFont typeface="Arial"/>
              <a:buChar char="•"/>
            </a:pPr>
            <a:r>
              <a:rPr lang="en-US" sz="2559" b="1" spc="-127">
                <a:solidFill>
                  <a:srgbClr val="303030"/>
                </a:solidFill>
                <a:latin typeface="Roboto Bold"/>
                <a:ea typeface="Roboto Bold"/>
                <a:cs typeface="Roboto Bold"/>
                <a:sym typeface="Roboto Bold"/>
              </a:rPr>
              <a:t>Start with basic research and understanding what the shell needs to do. (Completed)</a:t>
            </a:r>
          </a:p>
          <a:p>
            <a:pPr marL="552703" lvl="1" indent="-276352" algn="just">
              <a:lnSpc>
                <a:spcPts val="5145"/>
              </a:lnSpc>
              <a:buFont typeface="Arial"/>
              <a:buChar char="•"/>
            </a:pPr>
            <a:r>
              <a:rPr lang="en-US" sz="2559" b="1" spc="-127">
                <a:solidFill>
                  <a:srgbClr val="303030"/>
                </a:solidFill>
                <a:latin typeface="Roboto Bold"/>
                <a:ea typeface="Roboto Bold"/>
                <a:cs typeface="Roboto Bold"/>
                <a:sym typeface="Roboto Bold"/>
              </a:rPr>
              <a:t>Then design how the shell will work and plan its structure.</a:t>
            </a:r>
          </a:p>
          <a:p>
            <a:pPr marL="552703" lvl="1" indent="-276352" algn="just">
              <a:lnSpc>
                <a:spcPts val="5145"/>
              </a:lnSpc>
              <a:buFont typeface="Arial"/>
              <a:buChar char="•"/>
            </a:pPr>
            <a:r>
              <a:rPr lang="en-US" sz="2559" b="1" spc="-127">
                <a:solidFill>
                  <a:srgbClr val="303030"/>
                </a:solidFill>
                <a:latin typeface="Roboto Bold"/>
                <a:ea typeface="Roboto Bold"/>
                <a:cs typeface="Roboto Bold"/>
                <a:sym typeface="Roboto Bold"/>
              </a:rPr>
              <a:t>After that, build the main features like command parsing and running commands.</a:t>
            </a:r>
          </a:p>
          <a:p>
            <a:pPr marL="552703" lvl="1" indent="-276352" algn="just">
              <a:lnSpc>
                <a:spcPts val="5145"/>
              </a:lnSpc>
              <a:buFont typeface="Arial"/>
              <a:buChar char="•"/>
            </a:pPr>
            <a:r>
              <a:rPr lang="en-US" sz="2559" b="1" spc="-127">
                <a:solidFill>
                  <a:srgbClr val="303030"/>
                </a:solidFill>
                <a:latin typeface="Roboto Bold"/>
                <a:ea typeface="Roboto Bold"/>
                <a:cs typeface="Roboto Bold"/>
                <a:sym typeface="Roboto Bold"/>
              </a:rPr>
              <a:t>Add extra features such as command history and piping.</a:t>
            </a:r>
          </a:p>
          <a:p>
            <a:pPr marL="552703" lvl="1" indent="-276352" algn="just">
              <a:lnSpc>
                <a:spcPts val="5145"/>
              </a:lnSpc>
              <a:buFont typeface="Arial"/>
              <a:buChar char="•"/>
            </a:pPr>
            <a:r>
              <a:rPr lang="en-US" sz="2559" b="1" spc="-127">
                <a:solidFill>
                  <a:srgbClr val="303030"/>
                </a:solidFill>
                <a:latin typeface="Roboto Bold"/>
                <a:ea typeface="Roboto Bold"/>
                <a:cs typeface="Roboto Bold"/>
                <a:sym typeface="Roboto Bold"/>
              </a:rPr>
              <a:t>Finally, test everything, fix issues, and prepare the documentation and presentation.</a:t>
            </a:r>
          </a:p>
        </p:txBody>
      </p:sp>
      <p:sp>
        <p:nvSpPr>
          <p:cNvPr id="5" name="Freeform 5"/>
          <p:cNvSpPr/>
          <p:nvPr/>
        </p:nvSpPr>
        <p:spPr>
          <a:xfrm>
            <a:off x="13209657" y="-2630027"/>
            <a:ext cx="5078343" cy="5260054"/>
          </a:xfrm>
          <a:custGeom>
            <a:avLst/>
            <a:gdLst/>
            <a:ahLst/>
            <a:cxnLst/>
            <a:rect l="l" t="t" r="r" b="b"/>
            <a:pathLst>
              <a:path w="5078343" h="5260054">
                <a:moveTo>
                  <a:pt x="0" y="0"/>
                </a:moveTo>
                <a:lnTo>
                  <a:pt x="5078343" y="0"/>
                </a:lnTo>
                <a:lnTo>
                  <a:pt x="5078343" y="5260054"/>
                </a:lnTo>
                <a:lnTo>
                  <a:pt x="0" y="526005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rot="-978608">
            <a:off x="11557508" y="8342216"/>
            <a:ext cx="8188453" cy="4659974"/>
          </a:xfrm>
          <a:custGeom>
            <a:avLst/>
            <a:gdLst/>
            <a:ahLst/>
            <a:cxnLst/>
            <a:rect l="l" t="t" r="r" b="b"/>
            <a:pathLst>
              <a:path w="8188453" h="4659974">
                <a:moveTo>
                  <a:pt x="0" y="0"/>
                </a:moveTo>
                <a:lnTo>
                  <a:pt x="8188453" y="0"/>
                </a:lnTo>
                <a:lnTo>
                  <a:pt x="8188453" y="4659974"/>
                </a:lnTo>
                <a:lnTo>
                  <a:pt x="0" y="465997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Freeform 7"/>
          <p:cNvSpPr/>
          <p:nvPr/>
        </p:nvSpPr>
        <p:spPr>
          <a:xfrm rot="2700000">
            <a:off x="8109390" y="8573090"/>
            <a:ext cx="5917085" cy="5497510"/>
          </a:xfrm>
          <a:custGeom>
            <a:avLst/>
            <a:gdLst/>
            <a:ahLst/>
            <a:cxnLst/>
            <a:rect l="l" t="t" r="r" b="b"/>
            <a:pathLst>
              <a:path w="5917085" h="5497510">
                <a:moveTo>
                  <a:pt x="0" y="0"/>
                </a:moveTo>
                <a:lnTo>
                  <a:pt x="5917085" y="0"/>
                </a:lnTo>
                <a:lnTo>
                  <a:pt x="5917085" y="5497510"/>
                </a:lnTo>
                <a:lnTo>
                  <a:pt x="0" y="5497510"/>
                </a:lnTo>
                <a:lnTo>
                  <a:pt x="0" y="0"/>
                </a:lnTo>
                <a:close/>
              </a:path>
            </a:pathLst>
          </a:custGeom>
          <a:blipFill>
            <a:blip r:embed="rId8">
              <a:extLst>
                <a:ext uri="{96DAC541-7B7A-43D3-8B79-37D633B846F1}">
                  <asvg:svgBlip xmlns:asvg="http://schemas.microsoft.com/office/drawing/2016/SVG/main" r:embed="rId9"/>
                </a:ext>
              </a:extLst>
            </a:blip>
            <a:stretch>
              <a:fillRect/>
            </a:stretch>
          </a:blipFill>
          <a:ln cap="sq">
            <a:noFill/>
            <a:prstDash val="solid"/>
            <a:miter/>
          </a:ln>
        </p:spPr>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0DFC8"/>
        </a:solidFill>
        <a:effectLst/>
      </p:bgPr>
    </p:bg>
    <p:spTree>
      <p:nvGrpSpPr>
        <p:cNvPr id="1" name=""/>
        <p:cNvGrpSpPr/>
        <p:nvPr/>
      </p:nvGrpSpPr>
      <p:grpSpPr>
        <a:xfrm>
          <a:off x="0" y="0"/>
          <a:ext cx="0" cy="0"/>
          <a:chOff x="0" y="0"/>
          <a:chExt cx="0" cy="0"/>
        </a:xfrm>
      </p:grpSpPr>
      <p:sp>
        <p:nvSpPr>
          <p:cNvPr id="2" name="Freeform 2"/>
          <p:cNvSpPr/>
          <p:nvPr/>
        </p:nvSpPr>
        <p:spPr>
          <a:xfrm rot="-2463958">
            <a:off x="14330702" y="8598007"/>
            <a:ext cx="7536020" cy="4288681"/>
          </a:xfrm>
          <a:custGeom>
            <a:avLst/>
            <a:gdLst/>
            <a:ahLst/>
            <a:cxnLst/>
            <a:rect l="l" t="t" r="r" b="b"/>
            <a:pathLst>
              <a:path w="7536020" h="4288681">
                <a:moveTo>
                  <a:pt x="0" y="0"/>
                </a:moveTo>
                <a:lnTo>
                  <a:pt x="7536021" y="0"/>
                </a:lnTo>
                <a:lnTo>
                  <a:pt x="7536021" y="4288681"/>
                </a:lnTo>
                <a:lnTo>
                  <a:pt x="0" y="428868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6090050" y="319598"/>
            <a:ext cx="3239470" cy="4114800"/>
          </a:xfrm>
          <a:custGeom>
            <a:avLst/>
            <a:gdLst/>
            <a:ahLst/>
            <a:cxnLst/>
            <a:rect l="l" t="t" r="r" b="b"/>
            <a:pathLst>
              <a:path w="3239470" h="4114800">
                <a:moveTo>
                  <a:pt x="0" y="0"/>
                </a:moveTo>
                <a:lnTo>
                  <a:pt x="3239470" y="0"/>
                </a:lnTo>
                <a:lnTo>
                  <a:pt x="323947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TextBox 4"/>
          <p:cNvSpPr txBox="1"/>
          <p:nvPr/>
        </p:nvSpPr>
        <p:spPr>
          <a:xfrm>
            <a:off x="7509098" y="4327208"/>
            <a:ext cx="9191011" cy="273444"/>
          </a:xfrm>
          <a:prstGeom prst="rect">
            <a:avLst/>
          </a:prstGeom>
        </p:spPr>
        <p:txBody>
          <a:bodyPr lIns="0" tIns="0" rIns="0" bIns="0" rtlCol="0" anchor="t">
            <a:spAutoFit/>
          </a:bodyPr>
          <a:lstStyle/>
          <a:p>
            <a:pPr algn="ctr">
              <a:lnSpc>
                <a:spcPts val="2034"/>
              </a:lnSpc>
            </a:pPr>
            <a:r>
              <a:rPr lang="en-US" sz="1614" b="1" spc="-80">
                <a:solidFill>
                  <a:srgbClr val="303030"/>
                </a:solidFill>
                <a:latin typeface="Roboto Bold"/>
                <a:ea typeface="Roboto Bold"/>
                <a:cs typeface="Roboto Bold"/>
                <a:sym typeface="Roboto Bold"/>
              </a:rPr>
              <a:t>Programming Language: Python</a:t>
            </a:r>
          </a:p>
        </p:txBody>
      </p:sp>
      <p:sp>
        <p:nvSpPr>
          <p:cNvPr id="5" name="Freeform 5"/>
          <p:cNvSpPr/>
          <p:nvPr/>
        </p:nvSpPr>
        <p:spPr>
          <a:xfrm>
            <a:off x="10745653" y="4753052"/>
            <a:ext cx="2960604" cy="2063502"/>
          </a:xfrm>
          <a:custGeom>
            <a:avLst/>
            <a:gdLst/>
            <a:ahLst/>
            <a:cxnLst/>
            <a:rect l="l" t="t" r="r" b="b"/>
            <a:pathLst>
              <a:path w="2960604" h="2063502">
                <a:moveTo>
                  <a:pt x="0" y="0"/>
                </a:moveTo>
                <a:lnTo>
                  <a:pt x="2960603" y="0"/>
                </a:lnTo>
                <a:lnTo>
                  <a:pt x="2960603" y="2063501"/>
                </a:lnTo>
                <a:lnTo>
                  <a:pt x="0" y="2063501"/>
                </a:lnTo>
                <a:lnTo>
                  <a:pt x="0" y="0"/>
                </a:lnTo>
                <a:close/>
              </a:path>
            </a:pathLst>
          </a:custGeom>
          <a:blipFill>
            <a:blip r:embed="rId6"/>
            <a:stretch>
              <a:fillRect l="-2274" r="-2274"/>
            </a:stretch>
          </a:blipFill>
        </p:spPr>
      </p:sp>
      <p:sp>
        <p:nvSpPr>
          <p:cNvPr id="6" name="TextBox 6"/>
          <p:cNvSpPr txBox="1"/>
          <p:nvPr/>
        </p:nvSpPr>
        <p:spPr>
          <a:xfrm>
            <a:off x="10393619" y="7007053"/>
            <a:ext cx="2648637" cy="273482"/>
          </a:xfrm>
          <a:prstGeom prst="rect">
            <a:avLst/>
          </a:prstGeom>
        </p:spPr>
        <p:txBody>
          <a:bodyPr lIns="0" tIns="0" rIns="0" bIns="0" rtlCol="0" anchor="t">
            <a:spAutoFit/>
          </a:bodyPr>
          <a:lstStyle/>
          <a:p>
            <a:pPr algn="ctr">
              <a:lnSpc>
                <a:spcPts val="2028"/>
              </a:lnSpc>
            </a:pPr>
            <a:r>
              <a:rPr lang="en-US" sz="1610" b="1" spc="-80">
                <a:solidFill>
                  <a:srgbClr val="303030"/>
                </a:solidFill>
                <a:latin typeface="Roboto Bold"/>
                <a:ea typeface="Roboto Bold"/>
                <a:cs typeface="Roboto Bold"/>
                <a:sym typeface="Roboto Bold"/>
              </a:rPr>
              <a:t>Operating System: Linux</a:t>
            </a:r>
          </a:p>
        </p:txBody>
      </p:sp>
      <p:sp>
        <p:nvSpPr>
          <p:cNvPr id="7" name="TextBox 7"/>
          <p:cNvSpPr txBox="1"/>
          <p:nvPr/>
        </p:nvSpPr>
        <p:spPr>
          <a:xfrm>
            <a:off x="8468778" y="9522238"/>
            <a:ext cx="6498320" cy="273482"/>
          </a:xfrm>
          <a:prstGeom prst="rect">
            <a:avLst/>
          </a:prstGeom>
        </p:spPr>
        <p:txBody>
          <a:bodyPr lIns="0" tIns="0" rIns="0" bIns="0" rtlCol="0" anchor="t">
            <a:spAutoFit/>
          </a:bodyPr>
          <a:lstStyle/>
          <a:p>
            <a:pPr algn="ctr">
              <a:lnSpc>
                <a:spcPts val="2028"/>
              </a:lnSpc>
            </a:pPr>
            <a:r>
              <a:rPr lang="en-US" sz="1610" b="1" spc="-80">
                <a:solidFill>
                  <a:srgbClr val="303030"/>
                </a:solidFill>
                <a:latin typeface="Roboto Bold"/>
                <a:ea typeface="Roboto Bold"/>
                <a:cs typeface="Roboto Bold"/>
                <a:sym typeface="Roboto Bold"/>
              </a:rPr>
              <a:t>GUI / Frontend : Tkinter</a:t>
            </a:r>
          </a:p>
        </p:txBody>
      </p:sp>
      <p:sp>
        <p:nvSpPr>
          <p:cNvPr id="8" name="TextBox 8"/>
          <p:cNvSpPr txBox="1"/>
          <p:nvPr/>
        </p:nvSpPr>
        <p:spPr>
          <a:xfrm>
            <a:off x="686064" y="949690"/>
            <a:ext cx="8457936" cy="933482"/>
          </a:xfrm>
          <a:prstGeom prst="rect">
            <a:avLst/>
          </a:prstGeom>
        </p:spPr>
        <p:txBody>
          <a:bodyPr lIns="0" tIns="0" rIns="0" bIns="0" rtlCol="0" anchor="t">
            <a:spAutoFit/>
          </a:bodyPr>
          <a:lstStyle/>
          <a:p>
            <a:pPr marL="0" lvl="0" indent="0" algn="ctr">
              <a:lnSpc>
                <a:spcPts val="6738"/>
              </a:lnSpc>
              <a:spcBef>
                <a:spcPct val="0"/>
              </a:spcBef>
            </a:pPr>
            <a:r>
              <a:rPr lang="en-US" sz="6947" b="1">
                <a:solidFill>
                  <a:srgbClr val="303030"/>
                </a:solidFill>
                <a:latin typeface="Hagrid Ultra-Bold"/>
                <a:ea typeface="Hagrid Ultra-Bold"/>
                <a:cs typeface="Hagrid Ultra-Bold"/>
                <a:sym typeface="Hagrid Ultra-Bold"/>
              </a:rPr>
              <a:t>FLOWCHART</a:t>
            </a:r>
          </a:p>
        </p:txBody>
      </p:sp>
      <p:sp>
        <p:nvSpPr>
          <p:cNvPr id="9" name="Freeform 9"/>
          <p:cNvSpPr/>
          <p:nvPr/>
        </p:nvSpPr>
        <p:spPr>
          <a:xfrm>
            <a:off x="1925704" y="2035446"/>
            <a:ext cx="4597538" cy="7760274"/>
          </a:xfrm>
          <a:custGeom>
            <a:avLst/>
            <a:gdLst/>
            <a:ahLst/>
            <a:cxnLst/>
            <a:rect l="l" t="t" r="r" b="b"/>
            <a:pathLst>
              <a:path w="4597538" h="7760274">
                <a:moveTo>
                  <a:pt x="0" y="0"/>
                </a:moveTo>
                <a:lnTo>
                  <a:pt x="4597538" y="0"/>
                </a:lnTo>
                <a:lnTo>
                  <a:pt x="4597538" y="7760273"/>
                </a:lnTo>
                <a:lnTo>
                  <a:pt x="0" y="7760273"/>
                </a:lnTo>
                <a:lnTo>
                  <a:pt x="0" y="0"/>
                </a:lnTo>
                <a:close/>
              </a:path>
            </a:pathLst>
          </a:custGeom>
          <a:blipFill>
            <a:blip r:embed="rId7"/>
            <a:stretch>
              <a:fillRect/>
            </a:stretch>
          </a:blipFill>
        </p:spPr>
      </p:sp>
      <p:sp>
        <p:nvSpPr>
          <p:cNvPr id="10" name="Freeform 10"/>
          <p:cNvSpPr/>
          <p:nvPr/>
        </p:nvSpPr>
        <p:spPr>
          <a:xfrm>
            <a:off x="10745653" y="2035446"/>
            <a:ext cx="2584660" cy="2101110"/>
          </a:xfrm>
          <a:custGeom>
            <a:avLst/>
            <a:gdLst/>
            <a:ahLst/>
            <a:cxnLst/>
            <a:rect l="l" t="t" r="r" b="b"/>
            <a:pathLst>
              <a:path w="2584660" h="2101110">
                <a:moveTo>
                  <a:pt x="0" y="0"/>
                </a:moveTo>
                <a:lnTo>
                  <a:pt x="2584659" y="0"/>
                </a:lnTo>
                <a:lnTo>
                  <a:pt x="2584659" y="2101110"/>
                </a:lnTo>
                <a:lnTo>
                  <a:pt x="0" y="2101110"/>
                </a:lnTo>
                <a:lnTo>
                  <a:pt x="0" y="0"/>
                </a:lnTo>
                <a:close/>
              </a:path>
            </a:pathLst>
          </a:custGeom>
          <a:blipFill>
            <a:blip r:embed="rId8"/>
            <a:stretch>
              <a:fillRect l="-7625" t="-15710" b="-16684"/>
            </a:stretch>
          </a:blipFill>
        </p:spPr>
      </p:sp>
      <p:sp>
        <p:nvSpPr>
          <p:cNvPr id="11" name="Freeform 11"/>
          <p:cNvSpPr/>
          <p:nvPr/>
        </p:nvSpPr>
        <p:spPr>
          <a:xfrm>
            <a:off x="10713664" y="7499610"/>
            <a:ext cx="4360854" cy="1688861"/>
          </a:xfrm>
          <a:custGeom>
            <a:avLst/>
            <a:gdLst/>
            <a:ahLst/>
            <a:cxnLst/>
            <a:rect l="l" t="t" r="r" b="b"/>
            <a:pathLst>
              <a:path w="4360854" h="1688861">
                <a:moveTo>
                  <a:pt x="0" y="0"/>
                </a:moveTo>
                <a:lnTo>
                  <a:pt x="4360854" y="0"/>
                </a:lnTo>
                <a:lnTo>
                  <a:pt x="4360854" y="1688861"/>
                </a:lnTo>
                <a:lnTo>
                  <a:pt x="0" y="1688861"/>
                </a:lnTo>
                <a:lnTo>
                  <a:pt x="0" y="0"/>
                </a:lnTo>
                <a:close/>
              </a:path>
            </a:pathLst>
          </a:custGeom>
          <a:blipFill>
            <a:blip r:embed="rId9"/>
            <a:stretch>
              <a:fillRect t="-25858" r="-2063" b="-32653"/>
            </a:stretch>
          </a:blipFill>
        </p:spPr>
      </p:sp>
      <p:sp>
        <p:nvSpPr>
          <p:cNvPr id="12" name="TextBox 12"/>
          <p:cNvSpPr txBox="1"/>
          <p:nvPr/>
        </p:nvSpPr>
        <p:spPr>
          <a:xfrm>
            <a:off x="8062331" y="949690"/>
            <a:ext cx="8472941" cy="935392"/>
          </a:xfrm>
          <a:prstGeom prst="rect">
            <a:avLst/>
          </a:prstGeom>
        </p:spPr>
        <p:txBody>
          <a:bodyPr lIns="0" tIns="0" rIns="0" bIns="0" rtlCol="0" anchor="t">
            <a:spAutoFit/>
          </a:bodyPr>
          <a:lstStyle/>
          <a:p>
            <a:pPr marL="0" lvl="0" indent="0" algn="ctr">
              <a:lnSpc>
                <a:spcPts val="6750"/>
              </a:lnSpc>
              <a:spcBef>
                <a:spcPct val="0"/>
              </a:spcBef>
            </a:pPr>
            <a:r>
              <a:rPr lang="en-US" sz="6959" b="1">
                <a:solidFill>
                  <a:srgbClr val="303030"/>
                </a:solidFill>
                <a:latin typeface="Hagrid Ultra-Bold"/>
                <a:ea typeface="Hagrid Ultra-Bold"/>
                <a:cs typeface="Hagrid Ultra-Bold"/>
                <a:sym typeface="Hagrid Ultra-Bold"/>
              </a:rPr>
              <a:t>TOOLS</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0DFC8"/>
        </a:solidFill>
        <a:effectLst/>
      </p:bgPr>
    </p:bg>
    <p:spTree>
      <p:nvGrpSpPr>
        <p:cNvPr id="1" name=""/>
        <p:cNvGrpSpPr/>
        <p:nvPr/>
      </p:nvGrpSpPr>
      <p:grpSpPr>
        <a:xfrm>
          <a:off x="0" y="0"/>
          <a:ext cx="0" cy="0"/>
          <a:chOff x="0" y="0"/>
          <a:chExt cx="0" cy="0"/>
        </a:xfrm>
      </p:grpSpPr>
      <p:sp>
        <p:nvSpPr>
          <p:cNvPr id="2" name="Freeform 2"/>
          <p:cNvSpPr/>
          <p:nvPr/>
        </p:nvSpPr>
        <p:spPr>
          <a:xfrm>
            <a:off x="11296533" y="3380422"/>
            <a:ext cx="6191367" cy="5189492"/>
          </a:xfrm>
          <a:custGeom>
            <a:avLst/>
            <a:gdLst/>
            <a:ahLst/>
            <a:cxnLst/>
            <a:rect l="l" t="t" r="r" b="b"/>
            <a:pathLst>
              <a:path w="6191367" h="5189492">
                <a:moveTo>
                  <a:pt x="0" y="0"/>
                </a:moveTo>
                <a:lnTo>
                  <a:pt x="6191367" y="0"/>
                </a:lnTo>
                <a:lnTo>
                  <a:pt x="6191367" y="5189492"/>
                </a:lnTo>
                <a:lnTo>
                  <a:pt x="0" y="5189492"/>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3" name="TextBox 3"/>
          <p:cNvSpPr txBox="1"/>
          <p:nvPr/>
        </p:nvSpPr>
        <p:spPr>
          <a:xfrm>
            <a:off x="1028700" y="1190625"/>
            <a:ext cx="11937352" cy="2027053"/>
          </a:xfrm>
          <a:prstGeom prst="rect">
            <a:avLst/>
          </a:prstGeom>
        </p:spPr>
        <p:txBody>
          <a:bodyPr lIns="0" tIns="0" rIns="0" bIns="0" rtlCol="0" anchor="t">
            <a:spAutoFit/>
          </a:bodyPr>
          <a:lstStyle/>
          <a:p>
            <a:pPr marL="0" lvl="0" indent="0" algn="l">
              <a:lnSpc>
                <a:spcPts val="7532"/>
              </a:lnSpc>
              <a:spcBef>
                <a:spcPct val="0"/>
              </a:spcBef>
            </a:pPr>
            <a:r>
              <a:rPr lang="en-US" sz="7765" b="1">
                <a:solidFill>
                  <a:srgbClr val="303030"/>
                </a:solidFill>
                <a:latin typeface="Hagrid Ultra-Bold"/>
                <a:ea typeface="Hagrid Ultra-Bold"/>
                <a:cs typeface="Hagrid Ultra-Bold"/>
                <a:sym typeface="Hagrid Ultra-Bold"/>
              </a:rPr>
              <a:t>TEAM MEMBERS AND RESPONSIBILITES</a:t>
            </a:r>
          </a:p>
        </p:txBody>
      </p:sp>
      <p:sp>
        <p:nvSpPr>
          <p:cNvPr id="4" name="TextBox 4"/>
          <p:cNvSpPr txBox="1"/>
          <p:nvPr/>
        </p:nvSpPr>
        <p:spPr>
          <a:xfrm>
            <a:off x="1028700" y="3399426"/>
            <a:ext cx="10155345" cy="3269073"/>
          </a:xfrm>
          <a:prstGeom prst="rect">
            <a:avLst/>
          </a:prstGeom>
        </p:spPr>
        <p:txBody>
          <a:bodyPr lIns="0" tIns="0" rIns="0" bIns="0" rtlCol="0" anchor="t">
            <a:spAutoFit/>
          </a:bodyPr>
          <a:lstStyle/>
          <a:p>
            <a:pPr marL="567227" lvl="1" indent="-283614" algn="just">
              <a:lnSpc>
                <a:spcPts val="5307"/>
              </a:lnSpc>
              <a:buAutoNum type="arabicPeriod"/>
            </a:pPr>
            <a:r>
              <a:rPr lang="en-US" sz="2627" b="1" spc="18">
                <a:solidFill>
                  <a:srgbClr val="303030"/>
                </a:solidFill>
                <a:latin typeface="Roboto Bold"/>
                <a:ea typeface="Roboto Bold"/>
                <a:cs typeface="Roboto Bold"/>
                <a:sym typeface="Roboto Bold"/>
              </a:rPr>
              <a:t>Shahriar Imtiaz Limon - System Design and Research</a:t>
            </a:r>
          </a:p>
          <a:p>
            <a:pPr marL="567227" lvl="1" indent="-283614" algn="just">
              <a:lnSpc>
                <a:spcPts val="5307"/>
              </a:lnSpc>
              <a:buAutoNum type="arabicPeriod"/>
            </a:pPr>
            <a:r>
              <a:rPr lang="en-US" sz="2627" b="1" spc="18">
                <a:solidFill>
                  <a:srgbClr val="303030"/>
                </a:solidFill>
                <a:latin typeface="Roboto Bold"/>
                <a:ea typeface="Roboto Bold"/>
                <a:cs typeface="Roboto Bold"/>
                <a:sym typeface="Roboto Bold"/>
              </a:rPr>
              <a:t>Mosabbir Hossen Maruf - Frontend, Project Report</a:t>
            </a:r>
          </a:p>
          <a:p>
            <a:pPr marL="567227" lvl="1" indent="-283614" algn="just">
              <a:lnSpc>
                <a:spcPts val="5307"/>
              </a:lnSpc>
              <a:buAutoNum type="arabicPeriod"/>
            </a:pPr>
            <a:r>
              <a:rPr lang="en-US" sz="2627" b="1" spc="18">
                <a:solidFill>
                  <a:srgbClr val="303030"/>
                </a:solidFill>
                <a:latin typeface="Roboto Bold"/>
                <a:ea typeface="Roboto Bold"/>
                <a:cs typeface="Roboto Bold"/>
                <a:sym typeface="Roboto Bold"/>
              </a:rPr>
              <a:t>Md. Tamim Islam - Backend,  Project Report</a:t>
            </a:r>
          </a:p>
          <a:p>
            <a:pPr marL="567227" lvl="1" indent="-283614" algn="just">
              <a:lnSpc>
                <a:spcPts val="5307"/>
              </a:lnSpc>
              <a:buAutoNum type="arabicPeriod"/>
            </a:pPr>
            <a:r>
              <a:rPr lang="en-US" sz="2627" b="1" spc="18">
                <a:solidFill>
                  <a:srgbClr val="303030"/>
                </a:solidFill>
                <a:latin typeface="Roboto Bold"/>
                <a:ea typeface="Roboto Bold"/>
                <a:cs typeface="Roboto Bold"/>
                <a:sym typeface="Roboto Bold"/>
              </a:rPr>
              <a:t>Md. Mahidul Islam  - Backend, Project Report</a:t>
            </a:r>
          </a:p>
          <a:p>
            <a:pPr marL="567227" lvl="1" indent="-283614" algn="just">
              <a:lnSpc>
                <a:spcPts val="5307"/>
              </a:lnSpc>
              <a:buAutoNum type="arabicPeriod"/>
            </a:pPr>
            <a:r>
              <a:rPr lang="en-US" sz="2627" b="1" spc="18">
                <a:solidFill>
                  <a:srgbClr val="303030"/>
                </a:solidFill>
                <a:latin typeface="Roboto Bold"/>
                <a:ea typeface="Roboto Bold"/>
                <a:cs typeface="Roboto Bold"/>
                <a:sym typeface="Roboto Bold"/>
              </a:rPr>
              <a:t>Ibrahim Walid Khan - Backend, Project Report</a:t>
            </a:r>
          </a:p>
        </p:txBody>
      </p:sp>
      <p:sp>
        <p:nvSpPr>
          <p:cNvPr id="5" name="Freeform 5"/>
          <p:cNvSpPr/>
          <p:nvPr/>
        </p:nvSpPr>
        <p:spPr>
          <a:xfrm>
            <a:off x="13209657" y="-2630027"/>
            <a:ext cx="5078343" cy="5260054"/>
          </a:xfrm>
          <a:custGeom>
            <a:avLst/>
            <a:gdLst/>
            <a:ahLst/>
            <a:cxnLst/>
            <a:rect l="l" t="t" r="r" b="b"/>
            <a:pathLst>
              <a:path w="5078343" h="5260054">
                <a:moveTo>
                  <a:pt x="0" y="0"/>
                </a:moveTo>
                <a:lnTo>
                  <a:pt x="5078343" y="0"/>
                </a:lnTo>
                <a:lnTo>
                  <a:pt x="5078343" y="5260054"/>
                </a:lnTo>
                <a:lnTo>
                  <a:pt x="0" y="526005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rot="-978608">
            <a:off x="11557508" y="8342216"/>
            <a:ext cx="8188453" cy="4659974"/>
          </a:xfrm>
          <a:custGeom>
            <a:avLst/>
            <a:gdLst/>
            <a:ahLst/>
            <a:cxnLst/>
            <a:rect l="l" t="t" r="r" b="b"/>
            <a:pathLst>
              <a:path w="8188453" h="4659974">
                <a:moveTo>
                  <a:pt x="0" y="0"/>
                </a:moveTo>
                <a:lnTo>
                  <a:pt x="8188453" y="0"/>
                </a:lnTo>
                <a:lnTo>
                  <a:pt x="8188453" y="4659974"/>
                </a:lnTo>
                <a:lnTo>
                  <a:pt x="0" y="465997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Freeform 7"/>
          <p:cNvSpPr/>
          <p:nvPr/>
        </p:nvSpPr>
        <p:spPr>
          <a:xfrm rot="2700000">
            <a:off x="8109390" y="8573090"/>
            <a:ext cx="5917085" cy="5497510"/>
          </a:xfrm>
          <a:custGeom>
            <a:avLst/>
            <a:gdLst/>
            <a:ahLst/>
            <a:cxnLst/>
            <a:rect l="l" t="t" r="r" b="b"/>
            <a:pathLst>
              <a:path w="5917085" h="5497510">
                <a:moveTo>
                  <a:pt x="0" y="0"/>
                </a:moveTo>
                <a:lnTo>
                  <a:pt x="5917085" y="0"/>
                </a:lnTo>
                <a:lnTo>
                  <a:pt x="5917085" y="5497510"/>
                </a:lnTo>
                <a:lnTo>
                  <a:pt x="0" y="5497510"/>
                </a:lnTo>
                <a:lnTo>
                  <a:pt x="0" y="0"/>
                </a:lnTo>
                <a:close/>
              </a:path>
            </a:pathLst>
          </a:custGeom>
          <a:blipFill>
            <a:blip r:embed="rId8">
              <a:extLst>
                <a:ext uri="{96DAC541-7B7A-43D3-8B79-37D633B846F1}">
                  <asvg:svgBlip xmlns:asvg="http://schemas.microsoft.com/office/drawing/2016/SVG/main" r:embed="rId9"/>
                </a:ext>
              </a:extLst>
            </a:blip>
            <a:stretch>
              <a:fillRect/>
            </a:stretch>
          </a:blipFill>
          <a:ln cap="sq">
            <a:noFill/>
            <a:prstDash val="solid"/>
            <a:miter/>
          </a:ln>
        </p:spPr>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0DFC8"/>
        </a:solidFill>
        <a:effectLst/>
      </p:bgPr>
    </p:bg>
    <p:spTree>
      <p:nvGrpSpPr>
        <p:cNvPr id="1" name=""/>
        <p:cNvGrpSpPr/>
        <p:nvPr/>
      </p:nvGrpSpPr>
      <p:grpSpPr>
        <a:xfrm>
          <a:off x="0" y="0"/>
          <a:ext cx="0" cy="0"/>
          <a:chOff x="0" y="0"/>
          <a:chExt cx="0" cy="0"/>
        </a:xfrm>
      </p:grpSpPr>
      <p:grpSp>
        <p:nvGrpSpPr>
          <p:cNvPr id="2" name="Group 2"/>
          <p:cNvGrpSpPr/>
          <p:nvPr/>
        </p:nvGrpSpPr>
        <p:grpSpPr>
          <a:xfrm>
            <a:off x="8637905" y="1336521"/>
            <a:ext cx="6041466" cy="2082029"/>
            <a:chOff x="0" y="0"/>
            <a:chExt cx="1280794" cy="441391"/>
          </a:xfrm>
        </p:grpSpPr>
        <p:sp>
          <p:nvSpPr>
            <p:cNvPr id="3" name="Freeform 3"/>
            <p:cNvSpPr/>
            <p:nvPr/>
          </p:nvSpPr>
          <p:spPr>
            <a:xfrm>
              <a:off x="0" y="0"/>
              <a:ext cx="1280794" cy="441391"/>
            </a:xfrm>
            <a:custGeom>
              <a:avLst/>
              <a:gdLst/>
              <a:ahLst/>
              <a:cxnLst/>
              <a:rect l="l" t="t" r="r" b="b"/>
              <a:pathLst>
                <a:path w="1280794" h="441391">
                  <a:moveTo>
                    <a:pt x="42288" y="0"/>
                  </a:moveTo>
                  <a:lnTo>
                    <a:pt x="1238506" y="0"/>
                  </a:lnTo>
                  <a:cubicBezTo>
                    <a:pt x="1261861" y="0"/>
                    <a:pt x="1280794" y="18933"/>
                    <a:pt x="1280794" y="42288"/>
                  </a:cubicBezTo>
                  <a:lnTo>
                    <a:pt x="1280794" y="399103"/>
                  </a:lnTo>
                  <a:cubicBezTo>
                    <a:pt x="1280794" y="422458"/>
                    <a:pt x="1261861" y="441391"/>
                    <a:pt x="1238506" y="441391"/>
                  </a:cubicBezTo>
                  <a:lnTo>
                    <a:pt x="42288" y="441391"/>
                  </a:lnTo>
                  <a:cubicBezTo>
                    <a:pt x="18933" y="441391"/>
                    <a:pt x="0" y="422458"/>
                    <a:pt x="0" y="399103"/>
                  </a:cubicBezTo>
                  <a:lnTo>
                    <a:pt x="0" y="42288"/>
                  </a:lnTo>
                  <a:cubicBezTo>
                    <a:pt x="0" y="18933"/>
                    <a:pt x="18933" y="0"/>
                    <a:pt x="42288" y="0"/>
                  </a:cubicBezTo>
                  <a:close/>
                </a:path>
              </a:pathLst>
            </a:custGeom>
            <a:solidFill>
              <a:srgbClr val="6EC6CD"/>
            </a:solidFill>
            <a:ln w="38100" cap="rnd">
              <a:solidFill>
                <a:srgbClr val="000000"/>
              </a:solidFill>
              <a:prstDash val="solid"/>
              <a:round/>
            </a:ln>
          </p:spPr>
        </p:sp>
        <p:sp>
          <p:nvSpPr>
            <p:cNvPr id="4" name="TextBox 4"/>
            <p:cNvSpPr txBox="1"/>
            <p:nvPr/>
          </p:nvSpPr>
          <p:spPr>
            <a:xfrm>
              <a:off x="0" y="-38100"/>
              <a:ext cx="1280794" cy="479491"/>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8647430" y="3809849"/>
            <a:ext cx="6041466" cy="2007050"/>
            <a:chOff x="0" y="0"/>
            <a:chExt cx="1280794" cy="425496"/>
          </a:xfrm>
        </p:grpSpPr>
        <p:sp>
          <p:nvSpPr>
            <p:cNvPr id="6" name="Freeform 6"/>
            <p:cNvSpPr/>
            <p:nvPr/>
          </p:nvSpPr>
          <p:spPr>
            <a:xfrm>
              <a:off x="0" y="0"/>
              <a:ext cx="1280794" cy="425496"/>
            </a:xfrm>
            <a:custGeom>
              <a:avLst/>
              <a:gdLst/>
              <a:ahLst/>
              <a:cxnLst/>
              <a:rect l="l" t="t" r="r" b="b"/>
              <a:pathLst>
                <a:path w="1280794" h="425496">
                  <a:moveTo>
                    <a:pt x="42288" y="0"/>
                  </a:moveTo>
                  <a:lnTo>
                    <a:pt x="1238506" y="0"/>
                  </a:lnTo>
                  <a:cubicBezTo>
                    <a:pt x="1261861" y="0"/>
                    <a:pt x="1280794" y="18933"/>
                    <a:pt x="1280794" y="42288"/>
                  </a:cubicBezTo>
                  <a:lnTo>
                    <a:pt x="1280794" y="383207"/>
                  </a:lnTo>
                  <a:cubicBezTo>
                    <a:pt x="1280794" y="394423"/>
                    <a:pt x="1276338" y="405179"/>
                    <a:pt x="1268408" y="413110"/>
                  </a:cubicBezTo>
                  <a:cubicBezTo>
                    <a:pt x="1260477" y="421040"/>
                    <a:pt x="1249721" y="425496"/>
                    <a:pt x="1238506" y="425496"/>
                  </a:cubicBezTo>
                  <a:lnTo>
                    <a:pt x="42288" y="425496"/>
                  </a:lnTo>
                  <a:cubicBezTo>
                    <a:pt x="18933" y="425496"/>
                    <a:pt x="0" y="406563"/>
                    <a:pt x="0" y="383207"/>
                  </a:cubicBezTo>
                  <a:lnTo>
                    <a:pt x="0" y="42288"/>
                  </a:lnTo>
                  <a:cubicBezTo>
                    <a:pt x="0" y="18933"/>
                    <a:pt x="18933" y="0"/>
                    <a:pt x="42288" y="0"/>
                  </a:cubicBezTo>
                  <a:close/>
                </a:path>
              </a:pathLst>
            </a:custGeom>
            <a:solidFill>
              <a:srgbClr val="FFB1A5"/>
            </a:solidFill>
            <a:ln w="38100" cap="rnd">
              <a:solidFill>
                <a:srgbClr val="000000"/>
              </a:solidFill>
              <a:prstDash val="solid"/>
              <a:round/>
            </a:ln>
          </p:spPr>
        </p:sp>
        <p:sp>
          <p:nvSpPr>
            <p:cNvPr id="7" name="TextBox 7"/>
            <p:cNvSpPr txBox="1"/>
            <p:nvPr/>
          </p:nvSpPr>
          <p:spPr>
            <a:xfrm>
              <a:off x="0" y="-38100"/>
              <a:ext cx="1280794" cy="463596"/>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rot="2700000">
            <a:off x="-877026" y="8551764"/>
            <a:ext cx="5917085" cy="5497510"/>
          </a:xfrm>
          <a:custGeom>
            <a:avLst/>
            <a:gdLst/>
            <a:ahLst/>
            <a:cxnLst/>
            <a:rect l="l" t="t" r="r" b="b"/>
            <a:pathLst>
              <a:path w="5917085" h="5497510">
                <a:moveTo>
                  <a:pt x="0" y="0"/>
                </a:moveTo>
                <a:lnTo>
                  <a:pt x="5917085" y="0"/>
                </a:lnTo>
                <a:lnTo>
                  <a:pt x="5917085" y="5497510"/>
                </a:lnTo>
                <a:lnTo>
                  <a:pt x="0" y="5497510"/>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9" name="Freeform 9"/>
          <p:cNvSpPr/>
          <p:nvPr/>
        </p:nvSpPr>
        <p:spPr>
          <a:xfrm rot="-349749">
            <a:off x="4179912" y="8977373"/>
            <a:ext cx="7536020" cy="4288681"/>
          </a:xfrm>
          <a:custGeom>
            <a:avLst/>
            <a:gdLst/>
            <a:ahLst/>
            <a:cxnLst/>
            <a:rect l="l" t="t" r="r" b="b"/>
            <a:pathLst>
              <a:path w="7536020" h="4288681">
                <a:moveTo>
                  <a:pt x="0" y="0"/>
                </a:moveTo>
                <a:lnTo>
                  <a:pt x="7536020" y="0"/>
                </a:lnTo>
                <a:lnTo>
                  <a:pt x="7536020" y="4288681"/>
                </a:lnTo>
                <a:lnTo>
                  <a:pt x="0" y="428868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Freeform 10"/>
          <p:cNvSpPr/>
          <p:nvPr/>
        </p:nvSpPr>
        <p:spPr>
          <a:xfrm>
            <a:off x="10668821" y="7894032"/>
            <a:ext cx="8021099" cy="5235590"/>
          </a:xfrm>
          <a:custGeom>
            <a:avLst/>
            <a:gdLst/>
            <a:ahLst/>
            <a:cxnLst/>
            <a:rect l="l" t="t" r="r" b="b"/>
            <a:pathLst>
              <a:path w="8021099" h="5235590">
                <a:moveTo>
                  <a:pt x="0" y="0"/>
                </a:moveTo>
                <a:lnTo>
                  <a:pt x="8021100" y="0"/>
                </a:lnTo>
                <a:lnTo>
                  <a:pt x="8021100" y="5235590"/>
                </a:lnTo>
                <a:lnTo>
                  <a:pt x="0" y="5235590"/>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sp>
      <p:sp>
        <p:nvSpPr>
          <p:cNvPr id="11" name="Freeform 11"/>
          <p:cNvSpPr/>
          <p:nvPr/>
        </p:nvSpPr>
        <p:spPr>
          <a:xfrm>
            <a:off x="15438635" y="-197603"/>
            <a:ext cx="2849365" cy="2771655"/>
          </a:xfrm>
          <a:custGeom>
            <a:avLst/>
            <a:gdLst/>
            <a:ahLst/>
            <a:cxnLst/>
            <a:rect l="l" t="t" r="r" b="b"/>
            <a:pathLst>
              <a:path w="2849365" h="2771655">
                <a:moveTo>
                  <a:pt x="0" y="0"/>
                </a:moveTo>
                <a:lnTo>
                  <a:pt x="2849365" y="0"/>
                </a:lnTo>
                <a:lnTo>
                  <a:pt x="2849365" y="2771656"/>
                </a:lnTo>
                <a:lnTo>
                  <a:pt x="0" y="2771656"/>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2" name="TextBox 12"/>
          <p:cNvSpPr txBox="1"/>
          <p:nvPr/>
        </p:nvSpPr>
        <p:spPr>
          <a:xfrm>
            <a:off x="842735" y="3418074"/>
            <a:ext cx="6599679" cy="3008128"/>
          </a:xfrm>
          <a:prstGeom prst="rect">
            <a:avLst/>
          </a:prstGeom>
        </p:spPr>
        <p:txBody>
          <a:bodyPr lIns="0" tIns="0" rIns="0" bIns="0" rtlCol="0" anchor="t">
            <a:spAutoFit/>
          </a:bodyPr>
          <a:lstStyle/>
          <a:p>
            <a:pPr marL="0" lvl="0" indent="0" algn="l">
              <a:lnSpc>
                <a:spcPts val="7532"/>
              </a:lnSpc>
              <a:spcBef>
                <a:spcPct val="0"/>
              </a:spcBef>
            </a:pPr>
            <a:r>
              <a:rPr lang="en-US" sz="7765" b="1">
                <a:solidFill>
                  <a:srgbClr val="303030"/>
                </a:solidFill>
                <a:latin typeface="Hagrid Ultra-Bold"/>
                <a:ea typeface="Hagrid Ultra-Bold"/>
                <a:cs typeface="Hagrid Ultra-Bold"/>
                <a:sym typeface="Hagrid Ultra-Bold"/>
              </a:rPr>
              <a:t>EXPECTED PROJECT OUTCOMES</a:t>
            </a:r>
          </a:p>
        </p:txBody>
      </p:sp>
      <p:sp>
        <p:nvSpPr>
          <p:cNvPr id="13" name="TextBox 13"/>
          <p:cNvSpPr txBox="1"/>
          <p:nvPr/>
        </p:nvSpPr>
        <p:spPr>
          <a:xfrm>
            <a:off x="9123516" y="1485361"/>
            <a:ext cx="5051195" cy="1736725"/>
          </a:xfrm>
          <a:prstGeom prst="rect">
            <a:avLst/>
          </a:prstGeom>
        </p:spPr>
        <p:txBody>
          <a:bodyPr lIns="0" tIns="0" rIns="0" bIns="0" rtlCol="0" anchor="t">
            <a:spAutoFit/>
          </a:bodyPr>
          <a:lstStyle/>
          <a:p>
            <a:pPr marL="0" lvl="1" indent="0" algn="just">
              <a:lnSpc>
                <a:spcPts val="3499"/>
              </a:lnSpc>
              <a:spcBef>
                <a:spcPct val="0"/>
              </a:spcBef>
            </a:pPr>
            <a:r>
              <a:rPr lang="en-US" sz="2499" b="1">
                <a:solidFill>
                  <a:srgbClr val="303030"/>
                </a:solidFill>
                <a:latin typeface="Roboto Bold"/>
                <a:ea typeface="Roboto Bold"/>
                <a:cs typeface="Roboto Bold"/>
                <a:sym typeface="Roboto Bold"/>
              </a:rPr>
              <a:t>A funct</a:t>
            </a:r>
            <a:r>
              <a:rPr lang="en-US" sz="2499" b="1" u="none" strike="noStrike">
                <a:solidFill>
                  <a:srgbClr val="303030"/>
                </a:solidFill>
                <a:latin typeface="Roboto Bold"/>
                <a:ea typeface="Roboto Bold"/>
                <a:cs typeface="Roboto Bold"/>
                <a:sym typeface="Roboto Bold"/>
              </a:rPr>
              <a:t>ional command line interface capable of executing basic operating system commands.</a:t>
            </a:r>
          </a:p>
        </p:txBody>
      </p:sp>
      <p:sp>
        <p:nvSpPr>
          <p:cNvPr id="14" name="Freeform 14"/>
          <p:cNvSpPr/>
          <p:nvPr/>
        </p:nvSpPr>
        <p:spPr>
          <a:xfrm rot="-9744696">
            <a:off x="-360437" y="-3262298"/>
            <a:ext cx="6176504" cy="5615004"/>
          </a:xfrm>
          <a:custGeom>
            <a:avLst/>
            <a:gdLst/>
            <a:ahLst/>
            <a:cxnLst/>
            <a:rect l="l" t="t" r="r" b="b"/>
            <a:pathLst>
              <a:path w="6176504" h="5615004">
                <a:moveTo>
                  <a:pt x="0" y="0"/>
                </a:moveTo>
                <a:lnTo>
                  <a:pt x="6176504" y="0"/>
                </a:lnTo>
                <a:lnTo>
                  <a:pt x="6176504" y="5615003"/>
                </a:lnTo>
                <a:lnTo>
                  <a:pt x="0" y="5615003"/>
                </a:lnTo>
                <a:lnTo>
                  <a:pt x="0" y="0"/>
                </a:lnTo>
                <a:close/>
              </a:path>
            </a:pathLst>
          </a:custGeom>
          <a:blipFill>
            <a:blip r:embed="rId10">
              <a:extLst>
                <a:ext uri="{96DAC541-7B7A-43D3-8B79-37D633B846F1}">
                  <asvg:svgBlip xmlns:asvg="http://schemas.microsoft.com/office/drawing/2016/SVG/main" r:embed="rId11"/>
                </a:ext>
              </a:extLst>
            </a:blip>
            <a:stretch>
              <a:fillRect/>
            </a:stretch>
          </a:blipFill>
          <a:ln cap="sq">
            <a:noFill/>
            <a:prstDash val="solid"/>
            <a:miter/>
          </a:ln>
        </p:spPr>
      </p:sp>
      <p:grpSp>
        <p:nvGrpSpPr>
          <p:cNvPr id="15" name="Group 15"/>
          <p:cNvGrpSpPr/>
          <p:nvPr/>
        </p:nvGrpSpPr>
        <p:grpSpPr>
          <a:xfrm>
            <a:off x="8647430" y="6208197"/>
            <a:ext cx="6041466" cy="2007050"/>
            <a:chOff x="0" y="0"/>
            <a:chExt cx="1280794" cy="425496"/>
          </a:xfrm>
        </p:grpSpPr>
        <p:sp>
          <p:nvSpPr>
            <p:cNvPr id="16" name="Freeform 16"/>
            <p:cNvSpPr/>
            <p:nvPr/>
          </p:nvSpPr>
          <p:spPr>
            <a:xfrm>
              <a:off x="0" y="0"/>
              <a:ext cx="1280794" cy="425496"/>
            </a:xfrm>
            <a:custGeom>
              <a:avLst/>
              <a:gdLst/>
              <a:ahLst/>
              <a:cxnLst/>
              <a:rect l="l" t="t" r="r" b="b"/>
              <a:pathLst>
                <a:path w="1280794" h="425496">
                  <a:moveTo>
                    <a:pt x="42288" y="0"/>
                  </a:moveTo>
                  <a:lnTo>
                    <a:pt x="1238506" y="0"/>
                  </a:lnTo>
                  <a:cubicBezTo>
                    <a:pt x="1261861" y="0"/>
                    <a:pt x="1280794" y="18933"/>
                    <a:pt x="1280794" y="42288"/>
                  </a:cubicBezTo>
                  <a:lnTo>
                    <a:pt x="1280794" y="383207"/>
                  </a:lnTo>
                  <a:cubicBezTo>
                    <a:pt x="1280794" y="394423"/>
                    <a:pt x="1276338" y="405179"/>
                    <a:pt x="1268408" y="413110"/>
                  </a:cubicBezTo>
                  <a:cubicBezTo>
                    <a:pt x="1260477" y="421040"/>
                    <a:pt x="1249721" y="425496"/>
                    <a:pt x="1238506" y="425496"/>
                  </a:cubicBezTo>
                  <a:lnTo>
                    <a:pt x="42288" y="425496"/>
                  </a:lnTo>
                  <a:cubicBezTo>
                    <a:pt x="18933" y="425496"/>
                    <a:pt x="0" y="406563"/>
                    <a:pt x="0" y="383207"/>
                  </a:cubicBezTo>
                  <a:lnTo>
                    <a:pt x="0" y="42288"/>
                  </a:lnTo>
                  <a:cubicBezTo>
                    <a:pt x="0" y="18933"/>
                    <a:pt x="18933" y="0"/>
                    <a:pt x="42288" y="0"/>
                  </a:cubicBezTo>
                  <a:close/>
                </a:path>
              </a:pathLst>
            </a:custGeom>
            <a:solidFill>
              <a:srgbClr val="E16539"/>
            </a:solidFill>
            <a:ln w="38100" cap="rnd">
              <a:solidFill>
                <a:srgbClr val="000000"/>
              </a:solidFill>
              <a:prstDash val="solid"/>
              <a:round/>
            </a:ln>
          </p:spPr>
        </p:sp>
        <p:sp>
          <p:nvSpPr>
            <p:cNvPr id="17" name="TextBox 17"/>
            <p:cNvSpPr txBox="1"/>
            <p:nvPr/>
          </p:nvSpPr>
          <p:spPr>
            <a:xfrm>
              <a:off x="0" y="-38100"/>
              <a:ext cx="1280794" cy="463596"/>
            </a:xfrm>
            <a:prstGeom prst="rect">
              <a:avLst/>
            </a:prstGeom>
          </p:spPr>
          <p:txBody>
            <a:bodyPr lIns="50800" tIns="50800" rIns="50800" bIns="50800" rtlCol="0" anchor="ctr"/>
            <a:lstStyle/>
            <a:p>
              <a:pPr algn="ctr">
                <a:lnSpc>
                  <a:spcPts val="2659"/>
                </a:lnSpc>
                <a:spcBef>
                  <a:spcPct val="0"/>
                </a:spcBef>
              </a:pPr>
              <a:endParaRPr/>
            </a:p>
          </p:txBody>
        </p:sp>
      </p:grpSp>
      <p:sp>
        <p:nvSpPr>
          <p:cNvPr id="18" name="TextBox 18"/>
          <p:cNvSpPr txBox="1"/>
          <p:nvPr/>
        </p:nvSpPr>
        <p:spPr>
          <a:xfrm>
            <a:off x="9133041" y="4140274"/>
            <a:ext cx="5051195" cy="1298575"/>
          </a:xfrm>
          <a:prstGeom prst="rect">
            <a:avLst/>
          </a:prstGeom>
        </p:spPr>
        <p:txBody>
          <a:bodyPr lIns="0" tIns="0" rIns="0" bIns="0" rtlCol="0" anchor="t">
            <a:spAutoFit/>
          </a:bodyPr>
          <a:lstStyle/>
          <a:p>
            <a:pPr marL="0" lvl="1" indent="0" algn="just">
              <a:lnSpc>
                <a:spcPts val="3499"/>
              </a:lnSpc>
              <a:spcBef>
                <a:spcPct val="0"/>
              </a:spcBef>
            </a:pPr>
            <a:r>
              <a:rPr lang="en-US" sz="2499" b="1">
                <a:solidFill>
                  <a:srgbClr val="303030"/>
                </a:solidFill>
                <a:latin typeface="Roboto Bold"/>
                <a:ea typeface="Roboto Bold"/>
                <a:cs typeface="Roboto Bold"/>
                <a:sym typeface="Roboto Bold"/>
              </a:rPr>
              <a:t>Imp</a:t>
            </a:r>
            <a:r>
              <a:rPr lang="en-US" sz="2499" b="1" u="none" strike="noStrike">
                <a:solidFill>
                  <a:srgbClr val="303030"/>
                </a:solidFill>
                <a:latin typeface="Roboto Bold"/>
                <a:ea typeface="Roboto Bold"/>
                <a:cs typeface="Roboto Bold"/>
                <a:sym typeface="Roboto Bold"/>
              </a:rPr>
              <a:t>roved understanding of process management, input/output handling, and scripting.</a:t>
            </a:r>
          </a:p>
        </p:txBody>
      </p:sp>
      <p:sp>
        <p:nvSpPr>
          <p:cNvPr id="19" name="TextBox 19"/>
          <p:cNvSpPr txBox="1"/>
          <p:nvPr/>
        </p:nvSpPr>
        <p:spPr>
          <a:xfrm>
            <a:off x="9123516" y="6538236"/>
            <a:ext cx="5156165" cy="1298575"/>
          </a:xfrm>
          <a:prstGeom prst="rect">
            <a:avLst/>
          </a:prstGeom>
        </p:spPr>
        <p:txBody>
          <a:bodyPr lIns="0" tIns="0" rIns="0" bIns="0" rtlCol="0" anchor="t">
            <a:spAutoFit/>
          </a:bodyPr>
          <a:lstStyle/>
          <a:p>
            <a:pPr marL="0" lvl="1" indent="0" algn="just">
              <a:lnSpc>
                <a:spcPts val="3499"/>
              </a:lnSpc>
              <a:spcBef>
                <a:spcPct val="0"/>
              </a:spcBef>
            </a:pPr>
            <a:r>
              <a:rPr lang="en-US" sz="2499" b="1">
                <a:solidFill>
                  <a:srgbClr val="303030"/>
                </a:solidFill>
                <a:latin typeface="Roboto Bold"/>
                <a:ea typeface="Roboto Bold"/>
                <a:cs typeface="Roboto Bold"/>
                <a:sym typeface="Roboto Bold"/>
              </a:rPr>
              <a:t>I</a:t>
            </a:r>
            <a:r>
              <a:rPr lang="en-US" sz="2499" b="1" u="none" strike="noStrike">
                <a:solidFill>
                  <a:srgbClr val="303030"/>
                </a:solidFill>
                <a:latin typeface="Roboto Bold"/>
                <a:ea typeface="Roboto Bold"/>
                <a:cs typeface="Roboto Bold"/>
                <a:sym typeface="Roboto Bold"/>
              </a:rPr>
              <a:t>nclusion of custom features such as command history, command chaining, and error reporting.</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0DFC8"/>
        </a:solidFill>
        <a:effectLst/>
      </p:bgPr>
    </p:bg>
    <p:spTree>
      <p:nvGrpSpPr>
        <p:cNvPr id="1" name=""/>
        <p:cNvGrpSpPr/>
        <p:nvPr/>
      </p:nvGrpSpPr>
      <p:grpSpPr>
        <a:xfrm>
          <a:off x="0" y="0"/>
          <a:ext cx="0" cy="0"/>
          <a:chOff x="0" y="0"/>
          <a:chExt cx="0" cy="0"/>
        </a:xfrm>
      </p:grpSpPr>
      <p:sp>
        <p:nvSpPr>
          <p:cNvPr id="2" name="Freeform 2"/>
          <p:cNvSpPr/>
          <p:nvPr/>
        </p:nvSpPr>
        <p:spPr>
          <a:xfrm rot="-349749">
            <a:off x="4179912" y="8977373"/>
            <a:ext cx="7536020" cy="4288681"/>
          </a:xfrm>
          <a:custGeom>
            <a:avLst/>
            <a:gdLst/>
            <a:ahLst/>
            <a:cxnLst/>
            <a:rect l="l" t="t" r="r" b="b"/>
            <a:pathLst>
              <a:path w="7536020" h="4288681">
                <a:moveTo>
                  <a:pt x="0" y="0"/>
                </a:moveTo>
                <a:lnTo>
                  <a:pt x="7536020" y="0"/>
                </a:lnTo>
                <a:lnTo>
                  <a:pt x="7536020" y="4288681"/>
                </a:lnTo>
                <a:lnTo>
                  <a:pt x="0" y="428868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0668821" y="7894032"/>
            <a:ext cx="8021099" cy="5235590"/>
          </a:xfrm>
          <a:custGeom>
            <a:avLst/>
            <a:gdLst/>
            <a:ahLst/>
            <a:cxnLst/>
            <a:rect l="l" t="t" r="r" b="b"/>
            <a:pathLst>
              <a:path w="8021099" h="5235590">
                <a:moveTo>
                  <a:pt x="0" y="0"/>
                </a:moveTo>
                <a:lnTo>
                  <a:pt x="8021100" y="0"/>
                </a:lnTo>
                <a:lnTo>
                  <a:pt x="8021100" y="5235590"/>
                </a:lnTo>
                <a:lnTo>
                  <a:pt x="0" y="5235590"/>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sp>
      <p:sp>
        <p:nvSpPr>
          <p:cNvPr id="4" name="Freeform 4"/>
          <p:cNvSpPr/>
          <p:nvPr/>
        </p:nvSpPr>
        <p:spPr>
          <a:xfrm>
            <a:off x="15438635" y="-197603"/>
            <a:ext cx="2849365" cy="2771655"/>
          </a:xfrm>
          <a:custGeom>
            <a:avLst/>
            <a:gdLst/>
            <a:ahLst/>
            <a:cxnLst/>
            <a:rect l="l" t="t" r="r" b="b"/>
            <a:pathLst>
              <a:path w="2849365" h="2771655">
                <a:moveTo>
                  <a:pt x="0" y="0"/>
                </a:moveTo>
                <a:lnTo>
                  <a:pt x="2849365" y="0"/>
                </a:lnTo>
                <a:lnTo>
                  <a:pt x="2849365" y="2771656"/>
                </a:lnTo>
                <a:lnTo>
                  <a:pt x="0" y="277165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TextBox 5"/>
          <p:cNvSpPr txBox="1"/>
          <p:nvPr/>
        </p:nvSpPr>
        <p:spPr>
          <a:xfrm>
            <a:off x="9454276" y="4701473"/>
            <a:ext cx="6599679" cy="1045978"/>
          </a:xfrm>
          <a:prstGeom prst="rect">
            <a:avLst/>
          </a:prstGeom>
        </p:spPr>
        <p:txBody>
          <a:bodyPr lIns="0" tIns="0" rIns="0" bIns="0" rtlCol="0" anchor="t">
            <a:spAutoFit/>
          </a:bodyPr>
          <a:lstStyle/>
          <a:p>
            <a:pPr marL="0" lvl="0" indent="0" algn="l">
              <a:lnSpc>
                <a:spcPts val="7532"/>
              </a:lnSpc>
              <a:spcBef>
                <a:spcPct val="0"/>
              </a:spcBef>
            </a:pPr>
            <a:r>
              <a:rPr lang="en-US" sz="7765" b="1">
                <a:solidFill>
                  <a:srgbClr val="303030"/>
                </a:solidFill>
                <a:latin typeface="Hagrid Ultra-Bold"/>
                <a:ea typeface="Hagrid Ultra-Bold"/>
                <a:cs typeface="Hagrid Ultra-Bold"/>
                <a:sym typeface="Hagrid Ultra-Bold"/>
              </a:rPr>
              <a:t>BENEFITS</a:t>
            </a:r>
          </a:p>
        </p:txBody>
      </p:sp>
      <p:grpSp>
        <p:nvGrpSpPr>
          <p:cNvPr id="6" name="Group 6"/>
          <p:cNvGrpSpPr/>
          <p:nvPr/>
        </p:nvGrpSpPr>
        <p:grpSpPr>
          <a:xfrm>
            <a:off x="-1984144" y="6186112"/>
            <a:ext cx="9932066" cy="8887749"/>
            <a:chOff x="0" y="0"/>
            <a:chExt cx="13242754" cy="11850333"/>
          </a:xfrm>
        </p:grpSpPr>
        <p:sp>
          <p:nvSpPr>
            <p:cNvPr id="7" name="Freeform 7"/>
            <p:cNvSpPr/>
            <p:nvPr/>
          </p:nvSpPr>
          <p:spPr>
            <a:xfrm rot="2700000">
              <a:off x="1436168" y="2804434"/>
              <a:ext cx="7889447" cy="7330013"/>
            </a:xfrm>
            <a:custGeom>
              <a:avLst/>
              <a:gdLst/>
              <a:ahLst/>
              <a:cxnLst/>
              <a:rect l="l" t="t" r="r" b="b"/>
              <a:pathLst>
                <a:path w="7889447" h="7330013">
                  <a:moveTo>
                    <a:pt x="0" y="0"/>
                  </a:moveTo>
                  <a:lnTo>
                    <a:pt x="7889447" y="0"/>
                  </a:lnTo>
                  <a:lnTo>
                    <a:pt x="7889447" y="7330013"/>
                  </a:lnTo>
                  <a:lnTo>
                    <a:pt x="0" y="7330013"/>
                  </a:lnTo>
                  <a:lnTo>
                    <a:pt x="0" y="0"/>
                  </a:lnTo>
                  <a:close/>
                </a:path>
              </a:pathLst>
            </a:custGeom>
            <a:blipFill>
              <a:blip r:embed="rId8">
                <a:extLst>
                  <a:ext uri="{96DAC541-7B7A-43D3-8B79-37D633B846F1}">
                    <asvg:svgBlip xmlns:asvg="http://schemas.microsoft.com/office/drawing/2016/SVG/main" r:embed="rId9"/>
                  </a:ext>
                </a:extLst>
              </a:blip>
              <a:stretch>
                <a:fillRect/>
              </a:stretch>
            </a:blipFill>
            <a:ln cap="sq">
              <a:noFill/>
              <a:prstDash val="solid"/>
              <a:miter/>
            </a:ln>
          </p:spPr>
        </p:sp>
        <p:grpSp>
          <p:nvGrpSpPr>
            <p:cNvPr id="8" name="Group 8"/>
            <p:cNvGrpSpPr/>
            <p:nvPr/>
          </p:nvGrpSpPr>
          <p:grpSpPr>
            <a:xfrm>
              <a:off x="4137091" y="0"/>
              <a:ext cx="9105663" cy="1592899"/>
              <a:chOff x="0" y="0"/>
              <a:chExt cx="1447804" cy="253271"/>
            </a:xfrm>
          </p:grpSpPr>
          <p:sp>
            <p:nvSpPr>
              <p:cNvPr id="9" name="Freeform 9"/>
              <p:cNvSpPr/>
              <p:nvPr/>
            </p:nvSpPr>
            <p:spPr>
              <a:xfrm>
                <a:off x="0" y="0"/>
                <a:ext cx="1447804" cy="253271"/>
              </a:xfrm>
              <a:custGeom>
                <a:avLst/>
                <a:gdLst/>
                <a:ahLst/>
                <a:cxnLst/>
                <a:rect l="l" t="t" r="r" b="b"/>
                <a:pathLst>
                  <a:path w="1447804" h="253271">
                    <a:moveTo>
                      <a:pt x="37410" y="0"/>
                    </a:moveTo>
                    <a:lnTo>
                      <a:pt x="1410394" y="0"/>
                    </a:lnTo>
                    <a:cubicBezTo>
                      <a:pt x="1420316" y="0"/>
                      <a:pt x="1429831" y="3941"/>
                      <a:pt x="1436847" y="10957"/>
                    </a:cubicBezTo>
                    <a:cubicBezTo>
                      <a:pt x="1443863" y="17973"/>
                      <a:pt x="1447804" y="27488"/>
                      <a:pt x="1447804" y="37410"/>
                    </a:cubicBezTo>
                    <a:lnTo>
                      <a:pt x="1447804" y="215861"/>
                    </a:lnTo>
                    <a:cubicBezTo>
                      <a:pt x="1447804" y="236522"/>
                      <a:pt x="1431055" y="253271"/>
                      <a:pt x="1410394" y="253271"/>
                    </a:cubicBezTo>
                    <a:lnTo>
                      <a:pt x="37410" y="253271"/>
                    </a:lnTo>
                    <a:cubicBezTo>
                      <a:pt x="16749" y="253271"/>
                      <a:pt x="0" y="236522"/>
                      <a:pt x="0" y="215861"/>
                    </a:cubicBezTo>
                    <a:lnTo>
                      <a:pt x="0" y="37410"/>
                    </a:lnTo>
                    <a:cubicBezTo>
                      <a:pt x="0" y="16749"/>
                      <a:pt x="16749" y="0"/>
                      <a:pt x="37410" y="0"/>
                    </a:cubicBezTo>
                    <a:close/>
                  </a:path>
                </a:pathLst>
              </a:custGeom>
              <a:solidFill>
                <a:srgbClr val="E16539"/>
              </a:solidFill>
              <a:ln w="38100" cap="rnd">
                <a:solidFill>
                  <a:srgbClr val="000000"/>
                </a:solidFill>
                <a:prstDash val="solid"/>
                <a:round/>
              </a:ln>
            </p:spPr>
          </p:sp>
          <p:sp>
            <p:nvSpPr>
              <p:cNvPr id="10" name="TextBox 10"/>
              <p:cNvSpPr txBox="1"/>
              <p:nvPr/>
            </p:nvSpPr>
            <p:spPr>
              <a:xfrm>
                <a:off x="0" y="-38100"/>
                <a:ext cx="1447804" cy="291371"/>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p:cNvSpPr txBox="1"/>
            <p:nvPr/>
          </p:nvSpPr>
          <p:spPr>
            <a:xfrm>
              <a:off x="4968734" y="427113"/>
              <a:ext cx="7650955" cy="547158"/>
            </a:xfrm>
            <a:prstGeom prst="rect">
              <a:avLst/>
            </a:prstGeom>
          </p:spPr>
          <p:txBody>
            <a:bodyPr lIns="0" tIns="0" rIns="0" bIns="0" rtlCol="0" anchor="t">
              <a:spAutoFit/>
            </a:bodyPr>
            <a:lstStyle/>
            <a:p>
              <a:pPr marL="0" lvl="1" indent="0" algn="just">
                <a:lnSpc>
                  <a:spcPts val="3499"/>
                </a:lnSpc>
                <a:spcBef>
                  <a:spcPct val="0"/>
                </a:spcBef>
              </a:pPr>
              <a:r>
                <a:rPr lang="en-US" sz="2499" b="1">
                  <a:solidFill>
                    <a:srgbClr val="303030"/>
                  </a:solidFill>
                  <a:latin typeface="Roboto Bold"/>
                  <a:ea typeface="Roboto Bold"/>
                  <a:cs typeface="Roboto Bold"/>
                  <a:sym typeface="Roboto Bold"/>
                </a:rPr>
                <a:t>B</a:t>
              </a:r>
              <a:r>
                <a:rPr lang="en-US" sz="2499" b="1" u="none" strike="noStrike">
                  <a:solidFill>
                    <a:srgbClr val="303030"/>
                  </a:solidFill>
                  <a:latin typeface="Roboto Bold"/>
                  <a:ea typeface="Roboto Bold"/>
                  <a:cs typeface="Roboto Bold"/>
                  <a:sym typeface="Roboto Bold"/>
                </a:rPr>
                <a:t>etter understanding of OS internals.</a:t>
              </a:r>
            </a:p>
          </p:txBody>
        </p:sp>
      </p:grpSp>
      <p:sp>
        <p:nvSpPr>
          <p:cNvPr id="12" name="Freeform 12"/>
          <p:cNvSpPr/>
          <p:nvPr/>
        </p:nvSpPr>
        <p:spPr>
          <a:xfrm rot="-9744696">
            <a:off x="-360437" y="-3262298"/>
            <a:ext cx="6176504" cy="5615004"/>
          </a:xfrm>
          <a:custGeom>
            <a:avLst/>
            <a:gdLst/>
            <a:ahLst/>
            <a:cxnLst/>
            <a:rect l="l" t="t" r="r" b="b"/>
            <a:pathLst>
              <a:path w="6176504" h="5615004">
                <a:moveTo>
                  <a:pt x="0" y="0"/>
                </a:moveTo>
                <a:lnTo>
                  <a:pt x="6176504" y="0"/>
                </a:lnTo>
                <a:lnTo>
                  <a:pt x="6176504" y="5615003"/>
                </a:lnTo>
                <a:lnTo>
                  <a:pt x="0" y="5615003"/>
                </a:lnTo>
                <a:lnTo>
                  <a:pt x="0" y="0"/>
                </a:lnTo>
                <a:close/>
              </a:path>
            </a:pathLst>
          </a:custGeom>
          <a:blipFill>
            <a:blip r:embed="rId10">
              <a:extLst>
                <a:ext uri="{96DAC541-7B7A-43D3-8B79-37D633B846F1}">
                  <asvg:svgBlip xmlns:asvg="http://schemas.microsoft.com/office/drawing/2016/SVG/main" r:embed="rId11"/>
                </a:ext>
              </a:extLst>
            </a:blip>
            <a:stretch>
              <a:fillRect/>
            </a:stretch>
          </a:blipFill>
          <a:ln cap="sq">
            <a:noFill/>
            <a:prstDash val="solid"/>
            <a:miter/>
          </a:ln>
        </p:spPr>
      </p:sp>
      <p:grpSp>
        <p:nvGrpSpPr>
          <p:cNvPr id="13" name="Group 13"/>
          <p:cNvGrpSpPr/>
          <p:nvPr/>
        </p:nvGrpSpPr>
        <p:grpSpPr>
          <a:xfrm>
            <a:off x="1118674" y="2215614"/>
            <a:ext cx="6829247" cy="1632824"/>
            <a:chOff x="0" y="0"/>
            <a:chExt cx="9105663" cy="2177099"/>
          </a:xfrm>
        </p:grpSpPr>
        <p:grpSp>
          <p:nvGrpSpPr>
            <p:cNvPr id="14" name="Group 14"/>
            <p:cNvGrpSpPr/>
            <p:nvPr/>
          </p:nvGrpSpPr>
          <p:grpSpPr>
            <a:xfrm>
              <a:off x="0" y="0"/>
              <a:ext cx="9105663" cy="2177099"/>
              <a:chOff x="0" y="0"/>
              <a:chExt cx="1447804" cy="346160"/>
            </a:xfrm>
          </p:grpSpPr>
          <p:sp>
            <p:nvSpPr>
              <p:cNvPr id="15" name="Freeform 15"/>
              <p:cNvSpPr/>
              <p:nvPr/>
            </p:nvSpPr>
            <p:spPr>
              <a:xfrm>
                <a:off x="0" y="0"/>
                <a:ext cx="1447804" cy="346160"/>
              </a:xfrm>
              <a:custGeom>
                <a:avLst/>
                <a:gdLst/>
                <a:ahLst/>
                <a:cxnLst/>
                <a:rect l="l" t="t" r="r" b="b"/>
                <a:pathLst>
                  <a:path w="1447804" h="346160">
                    <a:moveTo>
                      <a:pt x="37410" y="0"/>
                    </a:moveTo>
                    <a:lnTo>
                      <a:pt x="1410394" y="0"/>
                    </a:lnTo>
                    <a:cubicBezTo>
                      <a:pt x="1420316" y="0"/>
                      <a:pt x="1429831" y="3941"/>
                      <a:pt x="1436847" y="10957"/>
                    </a:cubicBezTo>
                    <a:cubicBezTo>
                      <a:pt x="1443863" y="17973"/>
                      <a:pt x="1447804" y="27488"/>
                      <a:pt x="1447804" y="37410"/>
                    </a:cubicBezTo>
                    <a:lnTo>
                      <a:pt x="1447804" y="308749"/>
                    </a:lnTo>
                    <a:cubicBezTo>
                      <a:pt x="1447804" y="329410"/>
                      <a:pt x="1431055" y="346160"/>
                      <a:pt x="1410394" y="346160"/>
                    </a:cubicBezTo>
                    <a:lnTo>
                      <a:pt x="37410" y="346160"/>
                    </a:lnTo>
                    <a:cubicBezTo>
                      <a:pt x="16749" y="346160"/>
                      <a:pt x="0" y="329410"/>
                      <a:pt x="0" y="308749"/>
                    </a:cubicBezTo>
                    <a:lnTo>
                      <a:pt x="0" y="37410"/>
                    </a:lnTo>
                    <a:cubicBezTo>
                      <a:pt x="0" y="16749"/>
                      <a:pt x="16749" y="0"/>
                      <a:pt x="37410" y="0"/>
                    </a:cubicBezTo>
                    <a:close/>
                  </a:path>
                </a:pathLst>
              </a:custGeom>
              <a:solidFill>
                <a:srgbClr val="6EC6CD"/>
              </a:solidFill>
              <a:ln w="38100" cap="rnd">
                <a:solidFill>
                  <a:srgbClr val="000000"/>
                </a:solidFill>
                <a:prstDash val="solid"/>
                <a:round/>
              </a:ln>
            </p:spPr>
          </p:sp>
          <p:sp>
            <p:nvSpPr>
              <p:cNvPr id="16" name="TextBox 16"/>
              <p:cNvSpPr txBox="1"/>
              <p:nvPr/>
            </p:nvSpPr>
            <p:spPr>
              <a:xfrm>
                <a:off x="0" y="-38100"/>
                <a:ext cx="1447804" cy="384260"/>
              </a:xfrm>
              <a:prstGeom prst="rect">
                <a:avLst/>
              </a:prstGeom>
            </p:spPr>
            <p:txBody>
              <a:bodyPr lIns="50800" tIns="50800" rIns="50800" bIns="50800" rtlCol="0" anchor="ctr"/>
              <a:lstStyle/>
              <a:p>
                <a:pPr algn="ctr">
                  <a:lnSpc>
                    <a:spcPts val="2659"/>
                  </a:lnSpc>
                  <a:spcBef>
                    <a:spcPct val="0"/>
                  </a:spcBef>
                </a:pPr>
                <a:endParaRPr/>
              </a:p>
            </p:txBody>
          </p:sp>
        </p:grpSp>
        <p:sp>
          <p:nvSpPr>
            <p:cNvPr id="17" name="TextBox 17"/>
            <p:cNvSpPr txBox="1"/>
            <p:nvPr/>
          </p:nvSpPr>
          <p:spPr>
            <a:xfrm>
              <a:off x="831644" y="427113"/>
              <a:ext cx="7650955" cy="1131358"/>
            </a:xfrm>
            <a:prstGeom prst="rect">
              <a:avLst/>
            </a:prstGeom>
          </p:spPr>
          <p:txBody>
            <a:bodyPr lIns="0" tIns="0" rIns="0" bIns="0" rtlCol="0" anchor="t">
              <a:spAutoFit/>
            </a:bodyPr>
            <a:lstStyle/>
            <a:p>
              <a:pPr marL="0" lvl="1" indent="0" algn="just">
                <a:lnSpc>
                  <a:spcPts val="3499"/>
                </a:lnSpc>
                <a:spcBef>
                  <a:spcPct val="0"/>
                </a:spcBef>
              </a:pPr>
              <a:r>
                <a:rPr lang="en-US" sz="2499" b="1">
                  <a:solidFill>
                    <a:srgbClr val="303030"/>
                  </a:solidFill>
                  <a:latin typeface="Roboto Bold"/>
                  <a:ea typeface="Roboto Bold"/>
                  <a:cs typeface="Roboto Bold"/>
                  <a:sym typeface="Roboto Bold"/>
                </a:rPr>
                <a:t>Enh</a:t>
              </a:r>
              <a:r>
                <a:rPr lang="en-US" sz="2499" b="1" u="none" strike="noStrike">
                  <a:solidFill>
                    <a:srgbClr val="303030"/>
                  </a:solidFill>
                  <a:latin typeface="Roboto Bold"/>
                  <a:ea typeface="Roboto Bold"/>
                  <a:cs typeface="Roboto Bold"/>
                  <a:sym typeface="Roboto Bold"/>
                </a:rPr>
                <a:t>ances programming and debugging skills.</a:t>
              </a:r>
            </a:p>
          </p:txBody>
        </p:sp>
      </p:grpSp>
      <p:grpSp>
        <p:nvGrpSpPr>
          <p:cNvPr id="18" name="Group 18"/>
          <p:cNvGrpSpPr/>
          <p:nvPr/>
        </p:nvGrpSpPr>
        <p:grpSpPr>
          <a:xfrm>
            <a:off x="1118674" y="4200863"/>
            <a:ext cx="6829247" cy="1632824"/>
            <a:chOff x="0" y="0"/>
            <a:chExt cx="9105663" cy="2177099"/>
          </a:xfrm>
        </p:grpSpPr>
        <p:grpSp>
          <p:nvGrpSpPr>
            <p:cNvPr id="19" name="Group 19"/>
            <p:cNvGrpSpPr/>
            <p:nvPr/>
          </p:nvGrpSpPr>
          <p:grpSpPr>
            <a:xfrm>
              <a:off x="0" y="0"/>
              <a:ext cx="9105663" cy="2177099"/>
              <a:chOff x="0" y="0"/>
              <a:chExt cx="1447804" cy="346160"/>
            </a:xfrm>
          </p:grpSpPr>
          <p:sp>
            <p:nvSpPr>
              <p:cNvPr id="20" name="Freeform 20"/>
              <p:cNvSpPr/>
              <p:nvPr/>
            </p:nvSpPr>
            <p:spPr>
              <a:xfrm>
                <a:off x="0" y="0"/>
                <a:ext cx="1447804" cy="346160"/>
              </a:xfrm>
              <a:custGeom>
                <a:avLst/>
                <a:gdLst/>
                <a:ahLst/>
                <a:cxnLst/>
                <a:rect l="l" t="t" r="r" b="b"/>
                <a:pathLst>
                  <a:path w="1447804" h="346160">
                    <a:moveTo>
                      <a:pt x="37410" y="0"/>
                    </a:moveTo>
                    <a:lnTo>
                      <a:pt x="1410394" y="0"/>
                    </a:lnTo>
                    <a:cubicBezTo>
                      <a:pt x="1420316" y="0"/>
                      <a:pt x="1429831" y="3941"/>
                      <a:pt x="1436847" y="10957"/>
                    </a:cubicBezTo>
                    <a:cubicBezTo>
                      <a:pt x="1443863" y="17973"/>
                      <a:pt x="1447804" y="27488"/>
                      <a:pt x="1447804" y="37410"/>
                    </a:cubicBezTo>
                    <a:lnTo>
                      <a:pt x="1447804" y="308749"/>
                    </a:lnTo>
                    <a:cubicBezTo>
                      <a:pt x="1447804" y="329410"/>
                      <a:pt x="1431055" y="346160"/>
                      <a:pt x="1410394" y="346160"/>
                    </a:cubicBezTo>
                    <a:lnTo>
                      <a:pt x="37410" y="346160"/>
                    </a:lnTo>
                    <a:cubicBezTo>
                      <a:pt x="16749" y="346160"/>
                      <a:pt x="0" y="329410"/>
                      <a:pt x="0" y="308749"/>
                    </a:cubicBezTo>
                    <a:lnTo>
                      <a:pt x="0" y="37410"/>
                    </a:lnTo>
                    <a:cubicBezTo>
                      <a:pt x="0" y="16749"/>
                      <a:pt x="16749" y="0"/>
                      <a:pt x="37410" y="0"/>
                    </a:cubicBezTo>
                    <a:close/>
                  </a:path>
                </a:pathLst>
              </a:custGeom>
              <a:solidFill>
                <a:srgbClr val="FFB1A5"/>
              </a:solidFill>
              <a:ln w="38100" cap="rnd">
                <a:solidFill>
                  <a:srgbClr val="000000"/>
                </a:solidFill>
                <a:prstDash val="solid"/>
                <a:round/>
              </a:ln>
            </p:spPr>
          </p:sp>
          <p:sp>
            <p:nvSpPr>
              <p:cNvPr id="21" name="TextBox 21"/>
              <p:cNvSpPr txBox="1"/>
              <p:nvPr/>
            </p:nvSpPr>
            <p:spPr>
              <a:xfrm>
                <a:off x="0" y="-38100"/>
                <a:ext cx="1447804" cy="384260"/>
              </a:xfrm>
              <a:prstGeom prst="rect">
                <a:avLst/>
              </a:prstGeom>
            </p:spPr>
            <p:txBody>
              <a:bodyPr lIns="50800" tIns="50800" rIns="50800" bIns="50800" rtlCol="0" anchor="ctr"/>
              <a:lstStyle/>
              <a:p>
                <a:pPr algn="ctr">
                  <a:lnSpc>
                    <a:spcPts val="2659"/>
                  </a:lnSpc>
                  <a:spcBef>
                    <a:spcPct val="0"/>
                  </a:spcBef>
                </a:pPr>
                <a:endParaRPr/>
              </a:p>
            </p:txBody>
          </p:sp>
        </p:grpSp>
        <p:sp>
          <p:nvSpPr>
            <p:cNvPr id="22" name="TextBox 22"/>
            <p:cNvSpPr txBox="1"/>
            <p:nvPr/>
          </p:nvSpPr>
          <p:spPr>
            <a:xfrm>
              <a:off x="831644" y="427113"/>
              <a:ext cx="7650955" cy="1131358"/>
            </a:xfrm>
            <a:prstGeom prst="rect">
              <a:avLst/>
            </a:prstGeom>
          </p:spPr>
          <p:txBody>
            <a:bodyPr lIns="0" tIns="0" rIns="0" bIns="0" rtlCol="0" anchor="t">
              <a:spAutoFit/>
            </a:bodyPr>
            <a:lstStyle/>
            <a:p>
              <a:pPr marL="0" lvl="1" indent="0" algn="just">
                <a:lnSpc>
                  <a:spcPts val="3499"/>
                </a:lnSpc>
                <a:spcBef>
                  <a:spcPct val="0"/>
                </a:spcBef>
              </a:pPr>
              <a:r>
                <a:rPr lang="en-US" sz="2499" b="1">
                  <a:solidFill>
                    <a:srgbClr val="303030"/>
                  </a:solidFill>
                  <a:latin typeface="Roboto Bold"/>
                  <a:ea typeface="Roboto Bold"/>
                  <a:cs typeface="Roboto Bold"/>
                  <a:sym typeface="Roboto Bold"/>
                </a:rPr>
                <a:t>Improv</a:t>
              </a:r>
              <a:r>
                <a:rPr lang="en-US" sz="2499" b="1" u="none" strike="noStrike">
                  <a:solidFill>
                    <a:srgbClr val="303030"/>
                  </a:solidFill>
                  <a:latin typeface="Roboto Bold"/>
                  <a:ea typeface="Roboto Bold"/>
                  <a:cs typeface="Roboto Bold"/>
                  <a:sym typeface="Roboto Bold"/>
                </a:rPr>
                <a:t>es knowledge of process management and input/output handling.</a:t>
              </a:r>
            </a:p>
          </p:txBody>
        </p:sp>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0DFC8"/>
        </a:solidFill>
        <a:effectLst/>
      </p:bgPr>
    </p:bg>
    <p:spTree>
      <p:nvGrpSpPr>
        <p:cNvPr id="1" name=""/>
        <p:cNvGrpSpPr/>
        <p:nvPr/>
      </p:nvGrpSpPr>
      <p:grpSpPr>
        <a:xfrm>
          <a:off x="0" y="0"/>
          <a:ext cx="0" cy="0"/>
          <a:chOff x="0" y="0"/>
          <a:chExt cx="0" cy="0"/>
        </a:xfrm>
      </p:grpSpPr>
      <p:sp>
        <p:nvSpPr>
          <p:cNvPr id="2" name="Freeform 2"/>
          <p:cNvSpPr/>
          <p:nvPr/>
        </p:nvSpPr>
        <p:spPr>
          <a:xfrm rot="2700000">
            <a:off x="-907018" y="8727588"/>
            <a:ext cx="5917085" cy="5497510"/>
          </a:xfrm>
          <a:custGeom>
            <a:avLst/>
            <a:gdLst/>
            <a:ahLst/>
            <a:cxnLst/>
            <a:rect l="l" t="t" r="r" b="b"/>
            <a:pathLst>
              <a:path w="5917085" h="5497510">
                <a:moveTo>
                  <a:pt x="0" y="0"/>
                </a:moveTo>
                <a:lnTo>
                  <a:pt x="5917085" y="0"/>
                </a:lnTo>
                <a:lnTo>
                  <a:pt x="5917085" y="5497510"/>
                </a:lnTo>
                <a:lnTo>
                  <a:pt x="0" y="5497510"/>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3" name="Freeform 3"/>
          <p:cNvSpPr/>
          <p:nvPr/>
        </p:nvSpPr>
        <p:spPr>
          <a:xfrm rot="-349749">
            <a:off x="4179912" y="8977373"/>
            <a:ext cx="7536020" cy="4288681"/>
          </a:xfrm>
          <a:custGeom>
            <a:avLst/>
            <a:gdLst/>
            <a:ahLst/>
            <a:cxnLst/>
            <a:rect l="l" t="t" r="r" b="b"/>
            <a:pathLst>
              <a:path w="7536020" h="4288681">
                <a:moveTo>
                  <a:pt x="0" y="0"/>
                </a:moveTo>
                <a:lnTo>
                  <a:pt x="7536020" y="0"/>
                </a:lnTo>
                <a:lnTo>
                  <a:pt x="7536020" y="4288681"/>
                </a:lnTo>
                <a:lnTo>
                  <a:pt x="0" y="428868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10668821" y="7894032"/>
            <a:ext cx="8021099" cy="5235590"/>
          </a:xfrm>
          <a:custGeom>
            <a:avLst/>
            <a:gdLst/>
            <a:ahLst/>
            <a:cxnLst/>
            <a:rect l="l" t="t" r="r" b="b"/>
            <a:pathLst>
              <a:path w="8021099" h="5235590">
                <a:moveTo>
                  <a:pt x="0" y="0"/>
                </a:moveTo>
                <a:lnTo>
                  <a:pt x="8021100" y="0"/>
                </a:lnTo>
                <a:lnTo>
                  <a:pt x="8021100" y="5235590"/>
                </a:lnTo>
                <a:lnTo>
                  <a:pt x="0" y="5235590"/>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sp>
      <p:sp>
        <p:nvSpPr>
          <p:cNvPr id="5" name="Freeform 5"/>
          <p:cNvSpPr/>
          <p:nvPr/>
        </p:nvSpPr>
        <p:spPr>
          <a:xfrm>
            <a:off x="15438635" y="-197603"/>
            <a:ext cx="2849365" cy="2771655"/>
          </a:xfrm>
          <a:custGeom>
            <a:avLst/>
            <a:gdLst/>
            <a:ahLst/>
            <a:cxnLst/>
            <a:rect l="l" t="t" r="r" b="b"/>
            <a:pathLst>
              <a:path w="2849365" h="2771655">
                <a:moveTo>
                  <a:pt x="0" y="0"/>
                </a:moveTo>
                <a:lnTo>
                  <a:pt x="2849365" y="0"/>
                </a:lnTo>
                <a:lnTo>
                  <a:pt x="2849365" y="2771656"/>
                </a:lnTo>
                <a:lnTo>
                  <a:pt x="0" y="2771656"/>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TextBox 6"/>
          <p:cNvSpPr txBox="1"/>
          <p:nvPr/>
        </p:nvSpPr>
        <p:spPr>
          <a:xfrm>
            <a:off x="9529254" y="4506529"/>
            <a:ext cx="6599679" cy="2027053"/>
          </a:xfrm>
          <a:prstGeom prst="rect">
            <a:avLst/>
          </a:prstGeom>
        </p:spPr>
        <p:txBody>
          <a:bodyPr lIns="0" tIns="0" rIns="0" bIns="0" rtlCol="0" anchor="t">
            <a:spAutoFit/>
          </a:bodyPr>
          <a:lstStyle/>
          <a:p>
            <a:pPr marL="0" lvl="0" indent="0" algn="l">
              <a:lnSpc>
                <a:spcPts val="7532"/>
              </a:lnSpc>
              <a:spcBef>
                <a:spcPct val="0"/>
              </a:spcBef>
            </a:pPr>
            <a:r>
              <a:rPr lang="en-US" sz="7765" b="1">
                <a:solidFill>
                  <a:srgbClr val="303030"/>
                </a:solidFill>
                <a:latin typeface="Hagrid Ultra-Bold"/>
                <a:ea typeface="Hagrid Ultra-Bold"/>
                <a:cs typeface="Hagrid Ultra-Bold"/>
                <a:sym typeface="Hagrid Ultra-Bold"/>
              </a:rPr>
              <a:t>FUTURE PLAN</a:t>
            </a:r>
          </a:p>
        </p:txBody>
      </p:sp>
      <p:grpSp>
        <p:nvGrpSpPr>
          <p:cNvPr id="7" name="Group 7"/>
          <p:cNvGrpSpPr/>
          <p:nvPr/>
        </p:nvGrpSpPr>
        <p:grpSpPr>
          <a:xfrm>
            <a:off x="1118674" y="6234373"/>
            <a:ext cx="6829247" cy="2509124"/>
            <a:chOff x="0" y="0"/>
            <a:chExt cx="9105663" cy="3345499"/>
          </a:xfrm>
        </p:grpSpPr>
        <p:grpSp>
          <p:nvGrpSpPr>
            <p:cNvPr id="8" name="Group 8"/>
            <p:cNvGrpSpPr/>
            <p:nvPr/>
          </p:nvGrpSpPr>
          <p:grpSpPr>
            <a:xfrm>
              <a:off x="0" y="0"/>
              <a:ext cx="9105663" cy="3345499"/>
              <a:chOff x="0" y="0"/>
              <a:chExt cx="1447804" cy="531936"/>
            </a:xfrm>
          </p:grpSpPr>
          <p:sp>
            <p:nvSpPr>
              <p:cNvPr id="9" name="Freeform 9"/>
              <p:cNvSpPr/>
              <p:nvPr/>
            </p:nvSpPr>
            <p:spPr>
              <a:xfrm>
                <a:off x="0" y="0"/>
                <a:ext cx="1447804" cy="531936"/>
              </a:xfrm>
              <a:custGeom>
                <a:avLst/>
                <a:gdLst/>
                <a:ahLst/>
                <a:cxnLst/>
                <a:rect l="l" t="t" r="r" b="b"/>
                <a:pathLst>
                  <a:path w="1447804" h="531936">
                    <a:moveTo>
                      <a:pt x="37410" y="0"/>
                    </a:moveTo>
                    <a:lnTo>
                      <a:pt x="1410394" y="0"/>
                    </a:lnTo>
                    <a:cubicBezTo>
                      <a:pt x="1420316" y="0"/>
                      <a:pt x="1429831" y="3941"/>
                      <a:pt x="1436847" y="10957"/>
                    </a:cubicBezTo>
                    <a:cubicBezTo>
                      <a:pt x="1443863" y="17973"/>
                      <a:pt x="1447804" y="27488"/>
                      <a:pt x="1447804" y="37410"/>
                    </a:cubicBezTo>
                    <a:lnTo>
                      <a:pt x="1447804" y="494525"/>
                    </a:lnTo>
                    <a:cubicBezTo>
                      <a:pt x="1447804" y="515186"/>
                      <a:pt x="1431055" y="531936"/>
                      <a:pt x="1410394" y="531936"/>
                    </a:cubicBezTo>
                    <a:lnTo>
                      <a:pt x="37410" y="531936"/>
                    </a:lnTo>
                    <a:cubicBezTo>
                      <a:pt x="16749" y="531936"/>
                      <a:pt x="0" y="515186"/>
                      <a:pt x="0" y="494525"/>
                    </a:cubicBezTo>
                    <a:lnTo>
                      <a:pt x="0" y="37410"/>
                    </a:lnTo>
                    <a:cubicBezTo>
                      <a:pt x="0" y="16749"/>
                      <a:pt x="16749" y="0"/>
                      <a:pt x="37410" y="0"/>
                    </a:cubicBezTo>
                    <a:close/>
                  </a:path>
                </a:pathLst>
              </a:custGeom>
              <a:solidFill>
                <a:srgbClr val="E16539"/>
              </a:solidFill>
              <a:ln w="38100" cap="rnd">
                <a:solidFill>
                  <a:srgbClr val="000000"/>
                </a:solidFill>
                <a:prstDash val="solid"/>
                <a:round/>
              </a:ln>
            </p:spPr>
          </p:sp>
          <p:sp>
            <p:nvSpPr>
              <p:cNvPr id="10" name="TextBox 10"/>
              <p:cNvSpPr txBox="1"/>
              <p:nvPr/>
            </p:nvSpPr>
            <p:spPr>
              <a:xfrm>
                <a:off x="0" y="-38100"/>
                <a:ext cx="1447804" cy="570036"/>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p:cNvSpPr txBox="1"/>
            <p:nvPr/>
          </p:nvSpPr>
          <p:spPr>
            <a:xfrm>
              <a:off x="831644" y="427113"/>
              <a:ext cx="7650955" cy="2299758"/>
            </a:xfrm>
            <a:prstGeom prst="rect">
              <a:avLst/>
            </a:prstGeom>
          </p:spPr>
          <p:txBody>
            <a:bodyPr lIns="0" tIns="0" rIns="0" bIns="0" rtlCol="0" anchor="t">
              <a:spAutoFit/>
            </a:bodyPr>
            <a:lstStyle/>
            <a:p>
              <a:pPr marL="0" lvl="1" indent="0" algn="just">
                <a:lnSpc>
                  <a:spcPts val="3499"/>
                </a:lnSpc>
                <a:spcBef>
                  <a:spcPct val="0"/>
                </a:spcBef>
              </a:pPr>
              <a:r>
                <a:rPr lang="en-US" sz="2499" b="1">
                  <a:solidFill>
                    <a:srgbClr val="303030"/>
                  </a:solidFill>
                  <a:latin typeface="Roboto Bold"/>
                  <a:ea typeface="Roboto Bold"/>
                  <a:cs typeface="Roboto Bold"/>
                  <a:sym typeface="Roboto Bold"/>
                </a:rPr>
                <a:t>Expand compa</a:t>
              </a:r>
              <a:r>
                <a:rPr lang="en-US" sz="2499" b="1" u="none" strike="noStrike">
                  <a:solidFill>
                    <a:srgbClr val="303030"/>
                  </a:solidFill>
                  <a:latin typeface="Roboto Bold"/>
                  <a:ea typeface="Roboto Bold"/>
                  <a:cs typeface="Roboto Bold"/>
                  <a:sym typeface="Roboto Bold"/>
                </a:rPr>
                <a:t>tibility across Linux, macOS, and Windows and Add user-friendly features like auto-completion, history, and theming.</a:t>
              </a:r>
            </a:p>
          </p:txBody>
        </p:sp>
      </p:grpSp>
      <p:sp>
        <p:nvSpPr>
          <p:cNvPr id="12" name="Freeform 12"/>
          <p:cNvSpPr/>
          <p:nvPr/>
        </p:nvSpPr>
        <p:spPr>
          <a:xfrm rot="-9744696">
            <a:off x="-360437" y="-3262298"/>
            <a:ext cx="6176504" cy="5615004"/>
          </a:xfrm>
          <a:custGeom>
            <a:avLst/>
            <a:gdLst/>
            <a:ahLst/>
            <a:cxnLst/>
            <a:rect l="l" t="t" r="r" b="b"/>
            <a:pathLst>
              <a:path w="6176504" h="5615004">
                <a:moveTo>
                  <a:pt x="0" y="0"/>
                </a:moveTo>
                <a:lnTo>
                  <a:pt x="6176504" y="0"/>
                </a:lnTo>
                <a:lnTo>
                  <a:pt x="6176504" y="5615003"/>
                </a:lnTo>
                <a:lnTo>
                  <a:pt x="0" y="5615003"/>
                </a:lnTo>
                <a:lnTo>
                  <a:pt x="0" y="0"/>
                </a:lnTo>
                <a:close/>
              </a:path>
            </a:pathLst>
          </a:custGeom>
          <a:blipFill>
            <a:blip r:embed="rId10">
              <a:extLst>
                <a:ext uri="{96DAC541-7B7A-43D3-8B79-37D633B846F1}">
                  <asvg:svgBlip xmlns:asvg="http://schemas.microsoft.com/office/drawing/2016/SVG/main" r:embed="rId11"/>
                </a:ext>
              </a:extLst>
            </a:blip>
            <a:stretch>
              <a:fillRect/>
            </a:stretch>
          </a:blipFill>
          <a:ln cap="sq">
            <a:noFill/>
            <a:prstDash val="solid"/>
            <a:miter/>
          </a:ln>
        </p:spPr>
      </p:sp>
      <p:grpSp>
        <p:nvGrpSpPr>
          <p:cNvPr id="13" name="Group 13"/>
          <p:cNvGrpSpPr/>
          <p:nvPr/>
        </p:nvGrpSpPr>
        <p:grpSpPr>
          <a:xfrm>
            <a:off x="1118674" y="2020670"/>
            <a:ext cx="6829247" cy="1632824"/>
            <a:chOff x="0" y="0"/>
            <a:chExt cx="9105663" cy="2177099"/>
          </a:xfrm>
        </p:grpSpPr>
        <p:grpSp>
          <p:nvGrpSpPr>
            <p:cNvPr id="14" name="Group 14"/>
            <p:cNvGrpSpPr/>
            <p:nvPr/>
          </p:nvGrpSpPr>
          <p:grpSpPr>
            <a:xfrm>
              <a:off x="0" y="0"/>
              <a:ext cx="9105663" cy="2177099"/>
              <a:chOff x="0" y="0"/>
              <a:chExt cx="1447804" cy="346160"/>
            </a:xfrm>
          </p:grpSpPr>
          <p:sp>
            <p:nvSpPr>
              <p:cNvPr id="15" name="Freeform 15"/>
              <p:cNvSpPr/>
              <p:nvPr/>
            </p:nvSpPr>
            <p:spPr>
              <a:xfrm>
                <a:off x="0" y="0"/>
                <a:ext cx="1447804" cy="346160"/>
              </a:xfrm>
              <a:custGeom>
                <a:avLst/>
                <a:gdLst/>
                <a:ahLst/>
                <a:cxnLst/>
                <a:rect l="l" t="t" r="r" b="b"/>
                <a:pathLst>
                  <a:path w="1447804" h="346160">
                    <a:moveTo>
                      <a:pt x="37410" y="0"/>
                    </a:moveTo>
                    <a:lnTo>
                      <a:pt x="1410394" y="0"/>
                    </a:lnTo>
                    <a:cubicBezTo>
                      <a:pt x="1420316" y="0"/>
                      <a:pt x="1429831" y="3941"/>
                      <a:pt x="1436847" y="10957"/>
                    </a:cubicBezTo>
                    <a:cubicBezTo>
                      <a:pt x="1443863" y="17973"/>
                      <a:pt x="1447804" y="27488"/>
                      <a:pt x="1447804" y="37410"/>
                    </a:cubicBezTo>
                    <a:lnTo>
                      <a:pt x="1447804" y="308749"/>
                    </a:lnTo>
                    <a:cubicBezTo>
                      <a:pt x="1447804" y="329410"/>
                      <a:pt x="1431055" y="346160"/>
                      <a:pt x="1410394" y="346160"/>
                    </a:cubicBezTo>
                    <a:lnTo>
                      <a:pt x="37410" y="346160"/>
                    </a:lnTo>
                    <a:cubicBezTo>
                      <a:pt x="16749" y="346160"/>
                      <a:pt x="0" y="329410"/>
                      <a:pt x="0" y="308749"/>
                    </a:cubicBezTo>
                    <a:lnTo>
                      <a:pt x="0" y="37410"/>
                    </a:lnTo>
                    <a:cubicBezTo>
                      <a:pt x="0" y="16749"/>
                      <a:pt x="16749" y="0"/>
                      <a:pt x="37410" y="0"/>
                    </a:cubicBezTo>
                    <a:close/>
                  </a:path>
                </a:pathLst>
              </a:custGeom>
              <a:solidFill>
                <a:srgbClr val="6EC6CD"/>
              </a:solidFill>
              <a:ln w="38100" cap="rnd">
                <a:solidFill>
                  <a:srgbClr val="000000"/>
                </a:solidFill>
                <a:prstDash val="solid"/>
                <a:round/>
              </a:ln>
            </p:spPr>
          </p:sp>
          <p:sp>
            <p:nvSpPr>
              <p:cNvPr id="16" name="TextBox 16"/>
              <p:cNvSpPr txBox="1"/>
              <p:nvPr/>
            </p:nvSpPr>
            <p:spPr>
              <a:xfrm>
                <a:off x="0" y="-38100"/>
                <a:ext cx="1447804" cy="384260"/>
              </a:xfrm>
              <a:prstGeom prst="rect">
                <a:avLst/>
              </a:prstGeom>
            </p:spPr>
            <p:txBody>
              <a:bodyPr lIns="50800" tIns="50800" rIns="50800" bIns="50800" rtlCol="0" anchor="ctr"/>
              <a:lstStyle/>
              <a:p>
                <a:pPr algn="ctr">
                  <a:lnSpc>
                    <a:spcPts val="2659"/>
                  </a:lnSpc>
                  <a:spcBef>
                    <a:spcPct val="0"/>
                  </a:spcBef>
                </a:pPr>
                <a:endParaRPr/>
              </a:p>
            </p:txBody>
          </p:sp>
        </p:grpSp>
        <p:sp>
          <p:nvSpPr>
            <p:cNvPr id="17" name="TextBox 17"/>
            <p:cNvSpPr txBox="1"/>
            <p:nvPr/>
          </p:nvSpPr>
          <p:spPr>
            <a:xfrm>
              <a:off x="831644" y="427113"/>
              <a:ext cx="7650955" cy="1131358"/>
            </a:xfrm>
            <a:prstGeom prst="rect">
              <a:avLst/>
            </a:prstGeom>
          </p:spPr>
          <p:txBody>
            <a:bodyPr lIns="0" tIns="0" rIns="0" bIns="0" rtlCol="0" anchor="t">
              <a:spAutoFit/>
            </a:bodyPr>
            <a:lstStyle/>
            <a:p>
              <a:pPr marL="0" lvl="1" indent="0" algn="just">
                <a:lnSpc>
                  <a:spcPts val="3499"/>
                </a:lnSpc>
                <a:spcBef>
                  <a:spcPct val="0"/>
                </a:spcBef>
              </a:pPr>
              <a:r>
                <a:rPr lang="en-US" sz="2499" b="1">
                  <a:solidFill>
                    <a:srgbClr val="303030"/>
                  </a:solidFill>
                  <a:latin typeface="Roboto Bold"/>
                  <a:ea typeface="Roboto Bold"/>
                  <a:cs typeface="Roboto Bold"/>
                  <a:sym typeface="Roboto Bold"/>
                </a:rPr>
                <a:t>Improv</a:t>
              </a:r>
              <a:r>
                <a:rPr lang="en-US" sz="2499" b="1" u="none" strike="noStrike">
                  <a:solidFill>
                    <a:srgbClr val="303030"/>
                  </a:solidFill>
                  <a:latin typeface="Roboto Bold"/>
                  <a:ea typeface="Roboto Bold"/>
                  <a:cs typeface="Roboto Bold"/>
                  <a:sym typeface="Roboto Bold"/>
                </a:rPr>
                <a:t>e error handling with detailed messages and debugging tools.</a:t>
              </a:r>
            </a:p>
          </p:txBody>
        </p:sp>
      </p:grpSp>
      <p:grpSp>
        <p:nvGrpSpPr>
          <p:cNvPr id="18" name="Group 18"/>
          <p:cNvGrpSpPr/>
          <p:nvPr/>
        </p:nvGrpSpPr>
        <p:grpSpPr>
          <a:xfrm>
            <a:off x="1118674" y="4224994"/>
            <a:ext cx="6829247" cy="1632824"/>
            <a:chOff x="0" y="0"/>
            <a:chExt cx="9105663" cy="2177099"/>
          </a:xfrm>
        </p:grpSpPr>
        <p:grpSp>
          <p:nvGrpSpPr>
            <p:cNvPr id="19" name="Group 19"/>
            <p:cNvGrpSpPr/>
            <p:nvPr/>
          </p:nvGrpSpPr>
          <p:grpSpPr>
            <a:xfrm>
              <a:off x="0" y="0"/>
              <a:ext cx="9105663" cy="2177099"/>
              <a:chOff x="0" y="0"/>
              <a:chExt cx="1447804" cy="346160"/>
            </a:xfrm>
          </p:grpSpPr>
          <p:sp>
            <p:nvSpPr>
              <p:cNvPr id="20" name="Freeform 20"/>
              <p:cNvSpPr/>
              <p:nvPr/>
            </p:nvSpPr>
            <p:spPr>
              <a:xfrm>
                <a:off x="0" y="0"/>
                <a:ext cx="1447804" cy="346160"/>
              </a:xfrm>
              <a:custGeom>
                <a:avLst/>
                <a:gdLst/>
                <a:ahLst/>
                <a:cxnLst/>
                <a:rect l="l" t="t" r="r" b="b"/>
                <a:pathLst>
                  <a:path w="1447804" h="346160">
                    <a:moveTo>
                      <a:pt x="37410" y="0"/>
                    </a:moveTo>
                    <a:lnTo>
                      <a:pt x="1410394" y="0"/>
                    </a:lnTo>
                    <a:cubicBezTo>
                      <a:pt x="1420316" y="0"/>
                      <a:pt x="1429831" y="3941"/>
                      <a:pt x="1436847" y="10957"/>
                    </a:cubicBezTo>
                    <a:cubicBezTo>
                      <a:pt x="1443863" y="17973"/>
                      <a:pt x="1447804" y="27488"/>
                      <a:pt x="1447804" y="37410"/>
                    </a:cubicBezTo>
                    <a:lnTo>
                      <a:pt x="1447804" y="308749"/>
                    </a:lnTo>
                    <a:cubicBezTo>
                      <a:pt x="1447804" y="329410"/>
                      <a:pt x="1431055" y="346160"/>
                      <a:pt x="1410394" y="346160"/>
                    </a:cubicBezTo>
                    <a:lnTo>
                      <a:pt x="37410" y="346160"/>
                    </a:lnTo>
                    <a:cubicBezTo>
                      <a:pt x="16749" y="346160"/>
                      <a:pt x="0" y="329410"/>
                      <a:pt x="0" y="308749"/>
                    </a:cubicBezTo>
                    <a:lnTo>
                      <a:pt x="0" y="37410"/>
                    </a:lnTo>
                    <a:cubicBezTo>
                      <a:pt x="0" y="16749"/>
                      <a:pt x="16749" y="0"/>
                      <a:pt x="37410" y="0"/>
                    </a:cubicBezTo>
                    <a:close/>
                  </a:path>
                </a:pathLst>
              </a:custGeom>
              <a:solidFill>
                <a:srgbClr val="FFB1A5"/>
              </a:solidFill>
              <a:ln w="38100" cap="rnd">
                <a:solidFill>
                  <a:srgbClr val="000000"/>
                </a:solidFill>
                <a:prstDash val="solid"/>
                <a:round/>
              </a:ln>
            </p:spPr>
          </p:sp>
          <p:sp>
            <p:nvSpPr>
              <p:cNvPr id="21" name="TextBox 21"/>
              <p:cNvSpPr txBox="1"/>
              <p:nvPr/>
            </p:nvSpPr>
            <p:spPr>
              <a:xfrm>
                <a:off x="0" y="-38100"/>
                <a:ext cx="1447804" cy="384260"/>
              </a:xfrm>
              <a:prstGeom prst="rect">
                <a:avLst/>
              </a:prstGeom>
            </p:spPr>
            <p:txBody>
              <a:bodyPr lIns="50800" tIns="50800" rIns="50800" bIns="50800" rtlCol="0" anchor="ctr"/>
              <a:lstStyle/>
              <a:p>
                <a:pPr algn="ctr">
                  <a:lnSpc>
                    <a:spcPts val="2659"/>
                  </a:lnSpc>
                  <a:spcBef>
                    <a:spcPct val="0"/>
                  </a:spcBef>
                </a:pPr>
                <a:endParaRPr/>
              </a:p>
            </p:txBody>
          </p:sp>
        </p:grpSp>
        <p:sp>
          <p:nvSpPr>
            <p:cNvPr id="22" name="TextBox 22"/>
            <p:cNvSpPr txBox="1"/>
            <p:nvPr/>
          </p:nvSpPr>
          <p:spPr>
            <a:xfrm>
              <a:off x="831644" y="427113"/>
              <a:ext cx="7650955" cy="1131358"/>
            </a:xfrm>
            <a:prstGeom prst="rect">
              <a:avLst/>
            </a:prstGeom>
          </p:spPr>
          <p:txBody>
            <a:bodyPr lIns="0" tIns="0" rIns="0" bIns="0" rtlCol="0" anchor="t">
              <a:spAutoFit/>
            </a:bodyPr>
            <a:lstStyle/>
            <a:p>
              <a:pPr marL="0" lvl="1" indent="0" algn="just">
                <a:lnSpc>
                  <a:spcPts val="3499"/>
                </a:lnSpc>
                <a:spcBef>
                  <a:spcPct val="0"/>
                </a:spcBef>
              </a:pPr>
              <a:r>
                <a:rPr lang="en-US" sz="2499" b="1">
                  <a:solidFill>
                    <a:srgbClr val="303030"/>
                  </a:solidFill>
                  <a:latin typeface="Roboto Bold"/>
                  <a:ea typeface="Roboto Bold"/>
                  <a:cs typeface="Roboto Bold"/>
                  <a:sym typeface="Roboto Bold"/>
                </a:rPr>
                <a:t>Optimize performanc</a:t>
              </a:r>
              <a:r>
                <a:rPr lang="en-US" sz="2499" b="1" u="none" strike="noStrike">
                  <a:solidFill>
                    <a:srgbClr val="303030"/>
                  </a:solidFill>
                  <a:latin typeface="Roboto Bold"/>
                  <a:ea typeface="Roboto Bold"/>
                  <a:cs typeface="Roboto Bold"/>
                  <a:sym typeface="Roboto Bold"/>
                </a:rPr>
                <a:t>e for faster command execution and parsing.</a:t>
              </a:r>
            </a:p>
          </p:txBody>
        </p:sp>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0DFC8"/>
        </a:solidFill>
        <a:effectLst/>
      </p:bgPr>
    </p:bg>
    <p:spTree>
      <p:nvGrpSpPr>
        <p:cNvPr id="1" name=""/>
        <p:cNvGrpSpPr/>
        <p:nvPr/>
      </p:nvGrpSpPr>
      <p:grpSpPr>
        <a:xfrm>
          <a:off x="0" y="0"/>
          <a:ext cx="0" cy="0"/>
          <a:chOff x="0" y="0"/>
          <a:chExt cx="0" cy="0"/>
        </a:xfrm>
      </p:grpSpPr>
      <p:sp>
        <p:nvSpPr>
          <p:cNvPr id="2" name="Freeform 2"/>
          <p:cNvSpPr/>
          <p:nvPr/>
        </p:nvSpPr>
        <p:spPr>
          <a:xfrm rot="-349749">
            <a:off x="4179912" y="8977373"/>
            <a:ext cx="7536020" cy="4288681"/>
          </a:xfrm>
          <a:custGeom>
            <a:avLst/>
            <a:gdLst/>
            <a:ahLst/>
            <a:cxnLst/>
            <a:rect l="l" t="t" r="r" b="b"/>
            <a:pathLst>
              <a:path w="7536020" h="4288681">
                <a:moveTo>
                  <a:pt x="0" y="0"/>
                </a:moveTo>
                <a:lnTo>
                  <a:pt x="7536020" y="0"/>
                </a:lnTo>
                <a:lnTo>
                  <a:pt x="7536020" y="4288681"/>
                </a:lnTo>
                <a:lnTo>
                  <a:pt x="0" y="428868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0668821" y="7894032"/>
            <a:ext cx="8021099" cy="5235590"/>
          </a:xfrm>
          <a:custGeom>
            <a:avLst/>
            <a:gdLst/>
            <a:ahLst/>
            <a:cxnLst/>
            <a:rect l="l" t="t" r="r" b="b"/>
            <a:pathLst>
              <a:path w="8021099" h="5235590">
                <a:moveTo>
                  <a:pt x="0" y="0"/>
                </a:moveTo>
                <a:lnTo>
                  <a:pt x="8021100" y="0"/>
                </a:lnTo>
                <a:lnTo>
                  <a:pt x="8021100" y="5235590"/>
                </a:lnTo>
                <a:lnTo>
                  <a:pt x="0" y="5235590"/>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sp>
      <p:sp>
        <p:nvSpPr>
          <p:cNvPr id="4" name="Freeform 4"/>
          <p:cNvSpPr/>
          <p:nvPr/>
        </p:nvSpPr>
        <p:spPr>
          <a:xfrm>
            <a:off x="15438635" y="-197603"/>
            <a:ext cx="2849365" cy="2771655"/>
          </a:xfrm>
          <a:custGeom>
            <a:avLst/>
            <a:gdLst/>
            <a:ahLst/>
            <a:cxnLst/>
            <a:rect l="l" t="t" r="r" b="b"/>
            <a:pathLst>
              <a:path w="2849365" h="2771655">
                <a:moveTo>
                  <a:pt x="0" y="0"/>
                </a:moveTo>
                <a:lnTo>
                  <a:pt x="2849365" y="0"/>
                </a:lnTo>
                <a:lnTo>
                  <a:pt x="2849365" y="2771656"/>
                </a:lnTo>
                <a:lnTo>
                  <a:pt x="0" y="277165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TextBox 5"/>
          <p:cNvSpPr txBox="1"/>
          <p:nvPr/>
        </p:nvSpPr>
        <p:spPr>
          <a:xfrm>
            <a:off x="1206622" y="2901985"/>
            <a:ext cx="6599679" cy="1045978"/>
          </a:xfrm>
          <a:prstGeom prst="rect">
            <a:avLst/>
          </a:prstGeom>
        </p:spPr>
        <p:txBody>
          <a:bodyPr lIns="0" tIns="0" rIns="0" bIns="0" rtlCol="0" anchor="t">
            <a:spAutoFit/>
          </a:bodyPr>
          <a:lstStyle/>
          <a:p>
            <a:pPr marL="0" lvl="0" indent="0" algn="l">
              <a:lnSpc>
                <a:spcPts val="7532"/>
              </a:lnSpc>
              <a:spcBef>
                <a:spcPct val="0"/>
              </a:spcBef>
            </a:pPr>
            <a:r>
              <a:rPr lang="en-US" sz="7765" b="1">
                <a:solidFill>
                  <a:srgbClr val="303030"/>
                </a:solidFill>
                <a:latin typeface="Hagrid Ultra-Bold"/>
                <a:ea typeface="Hagrid Ultra-Bold"/>
                <a:cs typeface="Hagrid Ultra-Bold"/>
                <a:sym typeface="Hagrid Ultra-Bold"/>
              </a:rPr>
              <a:t>REFERENCE</a:t>
            </a:r>
          </a:p>
        </p:txBody>
      </p:sp>
      <p:sp>
        <p:nvSpPr>
          <p:cNvPr id="6" name="Freeform 6"/>
          <p:cNvSpPr/>
          <p:nvPr/>
        </p:nvSpPr>
        <p:spPr>
          <a:xfrm rot="-9744696">
            <a:off x="-360437" y="-3262298"/>
            <a:ext cx="6176504" cy="5615004"/>
          </a:xfrm>
          <a:custGeom>
            <a:avLst/>
            <a:gdLst/>
            <a:ahLst/>
            <a:cxnLst/>
            <a:rect l="l" t="t" r="r" b="b"/>
            <a:pathLst>
              <a:path w="6176504" h="5615004">
                <a:moveTo>
                  <a:pt x="0" y="0"/>
                </a:moveTo>
                <a:lnTo>
                  <a:pt x="6176504" y="0"/>
                </a:lnTo>
                <a:lnTo>
                  <a:pt x="6176504" y="5615003"/>
                </a:lnTo>
                <a:lnTo>
                  <a:pt x="0" y="5615003"/>
                </a:lnTo>
                <a:lnTo>
                  <a:pt x="0" y="0"/>
                </a:lnTo>
                <a:close/>
              </a:path>
            </a:pathLst>
          </a:custGeom>
          <a:blipFill>
            <a:blip r:embed="rId8">
              <a:extLst>
                <a:ext uri="{96DAC541-7B7A-43D3-8B79-37D633B846F1}">
                  <asvg:svgBlip xmlns:asvg="http://schemas.microsoft.com/office/drawing/2016/SVG/main" r:embed="rId9"/>
                </a:ext>
              </a:extLst>
            </a:blip>
            <a:stretch>
              <a:fillRect/>
            </a:stretch>
          </a:blipFill>
          <a:ln cap="sq">
            <a:noFill/>
            <a:prstDash val="solid"/>
            <a:miter/>
          </a:ln>
        </p:spPr>
      </p:sp>
      <p:sp>
        <p:nvSpPr>
          <p:cNvPr id="7" name="Freeform 7"/>
          <p:cNvSpPr/>
          <p:nvPr/>
        </p:nvSpPr>
        <p:spPr>
          <a:xfrm rot="2700000">
            <a:off x="-907018" y="8727588"/>
            <a:ext cx="5917085" cy="5497510"/>
          </a:xfrm>
          <a:custGeom>
            <a:avLst/>
            <a:gdLst/>
            <a:ahLst/>
            <a:cxnLst/>
            <a:rect l="l" t="t" r="r" b="b"/>
            <a:pathLst>
              <a:path w="5917085" h="5497510">
                <a:moveTo>
                  <a:pt x="0" y="0"/>
                </a:moveTo>
                <a:lnTo>
                  <a:pt x="5917085" y="0"/>
                </a:lnTo>
                <a:lnTo>
                  <a:pt x="5917085" y="5497510"/>
                </a:lnTo>
                <a:lnTo>
                  <a:pt x="0" y="5497510"/>
                </a:lnTo>
                <a:lnTo>
                  <a:pt x="0" y="0"/>
                </a:lnTo>
                <a:close/>
              </a:path>
            </a:pathLst>
          </a:custGeom>
          <a:blipFill>
            <a:blip r:embed="rId10">
              <a:extLst>
                <a:ext uri="{96DAC541-7B7A-43D3-8B79-37D633B846F1}">
                  <asvg:svgBlip xmlns:asvg="http://schemas.microsoft.com/office/drawing/2016/SVG/main" r:embed="rId11"/>
                </a:ext>
              </a:extLst>
            </a:blip>
            <a:stretch>
              <a:fillRect/>
            </a:stretch>
          </a:blipFill>
          <a:ln cap="sq">
            <a:noFill/>
            <a:prstDash val="solid"/>
            <a:miter/>
          </a:ln>
        </p:spPr>
      </p:sp>
      <p:sp>
        <p:nvSpPr>
          <p:cNvPr id="8" name="TextBox 8"/>
          <p:cNvSpPr txBox="1"/>
          <p:nvPr/>
        </p:nvSpPr>
        <p:spPr>
          <a:xfrm>
            <a:off x="865163" y="4551236"/>
            <a:ext cx="12194007" cy="422275"/>
          </a:xfrm>
          <a:prstGeom prst="rect">
            <a:avLst/>
          </a:prstGeom>
        </p:spPr>
        <p:txBody>
          <a:bodyPr lIns="0" tIns="0" rIns="0" bIns="0" rtlCol="0" anchor="t">
            <a:spAutoFit/>
          </a:bodyPr>
          <a:lstStyle/>
          <a:p>
            <a:pPr marL="539749" lvl="1" indent="-269875" algn="ctr">
              <a:lnSpc>
                <a:spcPts val="3499"/>
              </a:lnSpc>
              <a:buAutoNum type="arabicPeriod"/>
            </a:pPr>
            <a:r>
              <a:rPr lang="en-US" sz="2499" b="1" u="sng" dirty="0">
                <a:solidFill>
                  <a:srgbClr val="303030"/>
                </a:solidFill>
                <a:latin typeface="Roboto Bold"/>
                <a:ea typeface="Roboto Bold"/>
                <a:cs typeface="Roboto Bold"/>
                <a:sym typeface="Roboto Bold"/>
                <a:hlinkClick r:id="rId12" tooltip="https://www.geeksforgeeks.org/linux-unix/how-to-create-a-shell-script-in-linux/"/>
              </a:rPr>
              <a:t>https://www.geeksforgeeks.org/linux-unix/how-to-create-a-shell-script-in-linux/</a:t>
            </a:r>
          </a:p>
        </p:txBody>
      </p:sp>
      <p:sp>
        <p:nvSpPr>
          <p:cNvPr id="9" name="TextBox 9"/>
          <p:cNvSpPr txBox="1"/>
          <p:nvPr/>
        </p:nvSpPr>
        <p:spPr>
          <a:xfrm>
            <a:off x="865163" y="5621211"/>
            <a:ext cx="11852549" cy="422275"/>
          </a:xfrm>
          <a:prstGeom prst="rect">
            <a:avLst/>
          </a:prstGeom>
        </p:spPr>
        <p:txBody>
          <a:bodyPr lIns="0" tIns="0" rIns="0" bIns="0" rtlCol="0" anchor="t">
            <a:spAutoFit/>
          </a:bodyPr>
          <a:lstStyle/>
          <a:p>
            <a:pPr algn="ctr">
              <a:lnSpc>
                <a:spcPts val="3499"/>
              </a:lnSpc>
            </a:pPr>
            <a:r>
              <a:rPr lang="en-US" sz="2499" b="1" dirty="0">
                <a:solidFill>
                  <a:srgbClr val="303030"/>
                </a:solidFill>
                <a:latin typeface="Roboto"/>
                <a:ea typeface="Roboto"/>
                <a:cs typeface="Roboto"/>
                <a:sym typeface="Roboto"/>
              </a:rPr>
              <a:t>2. </a:t>
            </a:r>
            <a:r>
              <a:rPr lang="en-US" sz="2499" b="1" u="sng" dirty="0">
                <a:solidFill>
                  <a:srgbClr val="303030"/>
                </a:solidFill>
                <a:latin typeface="Roboto Bold"/>
                <a:ea typeface="Roboto Bold"/>
                <a:cs typeface="Roboto Bold"/>
                <a:sym typeface="Roboto Bold"/>
                <a:hlinkClick r:id="rId13" tooltip="https://medium.com/@santiagobedoa/coding-a-shell-using-c-1ea939f10e7e"/>
              </a:rPr>
              <a:t>https://medium.com/@santiagobedoa/coding-a-shell-using-c-1ea939f10e7e</a:t>
            </a:r>
          </a:p>
        </p:txBody>
      </p:sp>
      <p:sp>
        <p:nvSpPr>
          <p:cNvPr id="10" name="TextBox 10"/>
          <p:cNvSpPr txBox="1"/>
          <p:nvPr/>
        </p:nvSpPr>
        <p:spPr>
          <a:xfrm>
            <a:off x="936487" y="6709997"/>
            <a:ext cx="11724075" cy="422275"/>
          </a:xfrm>
          <a:prstGeom prst="rect">
            <a:avLst/>
          </a:prstGeom>
        </p:spPr>
        <p:txBody>
          <a:bodyPr lIns="0" tIns="0" rIns="0" bIns="0" rtlCol="0" anchor="t">
            <a:spAutoFit/>
          </a:bodyPr>
          <a:lstStyle/>
          <a:p>
            <a:pPr algn="ctr">
              <a:lnSpc>
                <a:spcPts val="3499"/>
              </a:lnSpc>
            </a:pPr>
            <a:r>
              <a:rPr lang="en-US" sz="2499" b="1" dirty="0">
                <a:solidFill>
                  <a:srgbClr val="303030"/>
                </a:solidFill>
                <a:latin typeface="Roboto"/>
                <a:ea typeface="Roboto"/>
                <a:cs typeface="Roboto"/>
                <a:sym typeface="Roboto"/>
              </a:rPr>
              <a:t>3. </a:t>
            </a:r>
            <a:r>
              <a:rPr lang="en-US" sz="2499" b="1" u="sng" dirty="0">
                <a:solidFill>
                  <a:srgbClr val="303030"/>
                </a:solidFill>
                <a:latin typeface="Roboto Bold"/>
                <a:ea typeface="Roboto Bold"/>
                <a:cs typeface="Roboto Bold"/>
                <a:sym typeface="Roboto Bold"/>
                <a:hlinkClick r:id="rId14" tooltip="https://stackoverflow.com/questions/4772847/creating-a-cli-shell-in-python"/>
              </a:rPr>
              <a:t>https://stackoverflow.com/questions/4772847/creating-a-cli-shell-in-python</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0DFC8"/>
        </a:solidFill>
        <a:effectLst/>
      </p:bgPr>
    </p:bg>
    <p:spTree>
      <p:nvGrpSpPr>
        <p:cNvPr id="1" name=""/>
        <p:cNvGrpSpPr/>
        <p:nvPr/>
      </p:nvGrpSpPr>
      <p:grpSpPr>
        <a:xfrm>
          <a:off x="0" y="0"/>
          <a:ext cx="0" cy="0"/>
          <a:chOff x="0" y="0"/>
          <a:chExt cx="0" cy="0"/>
        </a:xfrm>
      </p:grpSpPr>
      <p:sp>
        <p:nvSpPr>
          <p:cNvPr id="2" name="Freeform 2"/>
          <p:cNvSpPr/>
          <p:nvPr/>
        </p:nvSpPr>
        <p:spPr>
          <a:xfrm>
            <a:off x="11283148" y="2785636"/>
            <a:ext cx="5976152" cy="4715727"/>
          </a:xfrm>
          <a:custGeom>
            <a:avLst/>
            <a:gdLst/>
            <a:ahLst/>
            <a:cxnLst/>
            <a:rect l="l" t="t" r="r" b="b"/>
            <a:pathLst>
              <a:path w="5976152" h="4715727">
                <a:moveTo>
                  <a:pt x="0" y="0"/>
                </a:moveTo>
                <a:lnTo>
                  <a:pt x="5976152" y="0"/>
                </a:lnTo>
                <a:lnTo>
                  <a:pt x="5976152" y="4715728"/>
                </a:lnTo>
                <a:lnTo>
                  <a:pt x="0" y="4715728"/>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3" name="Freeform 3"/>
          <p:cNvSpPr/>
          <p:nvPr/>
        </p:nvSpPr>
        <p:spPr>
          <a:xfrm>
            <a:off x="4298148" y="8853955"/>
            <a:ext cx="6985000" cy="4114800"/>
          </a:xfrm>
          <a:custGeom>
            <a:avLst/>
            <a:gdLst/>
            <a:ahLst/>
            <a:cxnLst/>
            <a:rect l="l" t="t" r="r" b="b"/>
            <a:pathLst>
              <a:path w="6985000" h="4114800">
                <a:moveTo>
                  <a:pt x="0" y="0"/>
                </a:moveTo>
                <a:lnTo>
                  <a:pt x="6985000" y="0"/>
                </a:lnTo>
                <a:lnTo>
                  <a:pt x="698500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5706435" y="8143630"/>
            <a:ext cx="1796813" cy="1803371"/>
          </a:xfrm>
          <a:custGeom>
            <a:avLst/>
            <a:gdLst/>
            <a:ahLst/>
            <a:cxnLst/>
            <a:rect l="l" t="t" r="r" b="b"/>
            <a:pathLst>
              <a:path w="1796813" h="1803371">
                <a:moveTo>
                  <a:pt x="0" y="0"/>
                </a:moveTo>
                <a:lnTo>
                  <a:pt x="1796813" y="0"/>
                </a:lnTo>
                <a:lnTo>
                  <a:pt x="1796813" y="1803371"/>
                </a:lnTo>
                <a:lnTo>
                  <a:pt x="0" y="180337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TextBox 5"/>
          <p:cNvSpPr txBox="1"/>
          <p:nvPr/>
        </p:nvSpPr>
        <p:spPr>
          <a:xfrm>
            <a:off x="1028700" y="4781329"/>
            <a:ext cx="9865324" cy="2056943"/>
          </a:xfrm>
          <a:prstGeom prst="rect">
            <a:avLst/>
          </a:prstGeom>
        </p:spPr>
        <p:txBody>
          <a:bodyPr lIns="0" tIns="0" rIns="0" bIns="0" rtlCol="0" anchor="t">
            <a:spAutoFit/>
          </a:bodyPr>
          <a:lstStyle/>
          <a:p>
            <a:pPr algn="just">
              <a:lnSpc>
                <a:spcPts val="3225"/>
              </a:lnSpc>
            </a:pPr>
            <a:r>
              <a:rPr lang="en-US" sz="2559" b="1" spc="-127">
                <a:solidFill>
                  <a:srgbClr val="303030"/>
                </a:solidFill>
                <a:latin typeface="Roboto Bold"/>
                <a:ea typeface="Roboto Bold"/>
                <a:cs typeface="Roboto Bold"/>
                <a:sym typeface="Roboto Bold"/>
              </a:rPr>
              <a:t>Developing a shell demonstrates the fundamental principles of operating systems and user interaction. The project strengthens programming, problem-solving, and system-level understanding. A basic shell serves as a stepping stone toward more advanced system software or automation tools.</a:t>
            </a:r>
          </a:p>
        </p:txBody>
      </p:sp>
      <p:sp>
        <p:nvSpPr>
          <p:cNvPr id="6" name="Freeform 6"/>
          <p:cNvSpPr/>
          <p:nvPr/>
        </p:nvSpPr>
        <p:spPr>
          <a:xfrm>
            <a:off x="10260675" y="7501364"/>
            <a:ext cx="8376226" cy="5467391"/>
          </a:xfrm>
          <a:custGeom>
            <a:avLst/>
            <a:gdLst/>
            <a:ahLst/>
            <a:cxnLst/>
            <a:rect l="l" t="t" r="r" b="b"/>
            <a:pathLst>
              <a:path w="8376226" h="5467391">
                <a:moveTo>
                  <a:pt x="0" y="0"/>
                </a:moveTo>
                <a:lnTo>
                  <a:pt x="8376226" y="0"/>
                </a:lnTo>
                <a:lnTo>
                  <a:pt x="8376226" y="5467391"/>
                </a:lnTo>
                <a:lnTo>
                  <a:pt x="0" y="5467391"/>
                </a:lnTo>
                <a:lnTo>
                  <a:pt x="0" y="0"/>
                </a:lnTo>
                <a:close/>
              </a:path>
            </a:pathLst>
          </a:custGeom>
          <a:blipFill>
            <a:blip r:embed="rId8">
              <a:extLst>
                <a:ext uri="{96DAC541-7B7A-43D3-8B79-37D633B846F1}">
                  <asvg:svgBlip xmlns:asvg="http://schemas.microsoft.com/office/drawing/2016/SVG/main" r:embed="rId9"/>
                </a:ext>
              </a:extLst>
            </a:blip>
            <a:stretch>
              <a:fillRect/>
            </a:stretch>
          </a:blipFill>
          <a:ln cap="sq">
            <a:noFill/>
            <a:prstDash val="solid"/>
            <a:miter/>
          </a:ln>
        </p:spPr>
      </p:sp>
      <p:sp>
        <p:nvSpPr>
          <p:cNvPr id="7" name="Freeform 7"/>
          <p:cNvSpPr/>
          <p:nvPr/>
        </p:nvSpPr>
        <p:spPr>
          <a:xfrm>
            <a:off x="10260675" y="542362"/>
            <a:ext cx="2009181" cy="1881324"/>
          </a:xfrm>
          <a:custGeom>
            <a:avLst/>
            <a:gdLst/>
            <a:ahLst/>
            <a:cxnLst/>
            <a:rect l="l" t="t" r="r" b="b"/>
            <a:pathLst>
              <a:path w="2009181" h="1881324">
                <a:moveTo>
                  <a:pt x="0" y="0"/>
                </a:moveTo>
                <a:lnTo>
                  <a:pt x="2009181" y="0"/>
                </a:lnTo>
                <a:lnTo>
                  <a:pt x="2009181" y="1881324"/>
                </a:lnTo>
                <a:lnTo>
                  <a:pt x="0" y="1881324"/>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8" name="TextBox 8"/>
          <p:cNvSpPr txBox="1"/>
          <p:nvPr/>
        </p:nvSpPr>
        <p:spPr>
          <a:xfrm>
            <a:off x="1028700" y="3032881"/>
            <a:ext cx="10632790" cy="1386903"/>
          </a:xfrm>
          <a:prstGeom prst="rect">
            <a:avLst/>
          </a:prstGeom>
        </p:spPr>
        <p:txBody>
          <a:bodyPr lIns="0" tIns="0" rIns="0" bIns="0" rtlCol="0" anchor="t">
            <a:spAutoFit/>
          </a:bodyPr>
          <a:lstStyle/>
          <a:p>
            <a:pPr marL="0" lvl="0" indent="0" algn="l">
              <a:lnSpc>
                <a:spcPts val="9997"/>
              </a:lnSpc>
              <a:spcBef>
                <a:spcPct val="0"/>
              </a:spcBef>
            </a:pPr>
            <a:r>
              <a:rPr lang="en-US" sz="10306" b="1">
                <a:solidFill>
                  <a:srgbClr val="303030"/>
                </a:solidFill>
                <a:latin typeface="Hagrid Ultra-Bold"/>
                <a:ea typeface="Hagrid Ultra-Bold"/>
                <a:cs typeface="Hagrid Ultra-Bold"/>
                <a:sym typeface="Hagrid Ultra-Bold"/>
              </a:rPr>
              <a:t>CONCLUSION</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D1D9ED"/>
        </a:solidFill>
        <a:effectLst/>
      </p:bgPr>
    </p:bg>
    <p:spTree>
      <p:nvGrpSpPr>
        <p:cNvPr id="1" name=""/>
        <p:cNvGrpSpPr/>
        <p:nvPr/>
      </p:nvGrpSpPr>
      <p:grpSpPr>
        <a:xfrm>
          <a:off x="0" y="0"/>
          <a:ext cx="0" cy="0"/>
          <a:chOff x="0" y="0"/>
          <a:chExt cx="0" cy="0"/>
        </a:xfrm>
      </p:grpSpPr>
      <p:sp>
        <p:nvSpPr>
          <p:cNvPr id="2" name="Freeform 2"/>
          <p:cNvSpPr/>
          <p:nvPr/>
        </p:nvSpPr>
        <p:spPr>
          <a:xfrm>
            <a:off x="722383" y="182402"/>
            <a:ext cx="16843234" cy="9922196"/>
          </a:xfrm>
          <a:custGeom>
            <a:avLst/>
            <a:gdLst/>
            <a:ahLst/>
            <a:cxnLst/>
            <a:rect l="l" t="t" r="r" b="b"/>
            <a:pathLst>
              <a:path w="16843234" h="9922196">
                <a:moveTo>
                  <a:pt x="0" y="0"/>
                </a:moveTo>
                <a:lnTo>
                  <a:pt x="16843234" y="0"/>
                </a:lnTo>
                <a:lnTo>
                  <a:pt x="16843234" y="9922196"/>
                </a:lnTo>
                <a:lnTo>
                  <a:pt x="0" y="992219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2350185" y="182402"/>
            <a:ext cx="4230168" cy="4114800"/>
          </a:xfrm>
          <a:custGeom>
            <a:avLst/>
            <a:gdLst/>
            <a:ahLst/>
            <a:cxnLst/>
            <a:rect l="l" t="t" r="r" b="b"/>
            <a:pathLst>
              <a:path w="4230168" h="4114800">
                <a:moveTo>
                  <a:pt x="0" y="0"/>
                </a:moveTo>
                <a:lnTo>
                  <a:pt x="4230168" y="0"/>
                </a:lnTo>
                <a:lnTo>
                  <a:pt x="4230168"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TextBox 4"/>
          <p:cNvSpPr txBox="1"/>
          <p:nvPr/>
        </p:nvSpPr>
        <p:spPr>
          <a:xfrm>
            <a:off x="3072487" y="4560991"/>
            <a:ext cx="12143025" cy="1384094"/>
          </a:xfrm>
          <a:prstGeom prst="rect">
            <a:avLst/>
          </a:prstGeom>
        </p:spPr>
        <p:txBody>
          <a:bodyPr lIns="0" tIns="0" rIns="0" bIns="0" rtlCol="0" anchor="t">
            <a:spAutoFit/>
          </a:bodyPr>
          <a:lstStyle/>
          <a:p>
            <a:pPr marL="0" lvl="0" indent="0" algn="ctr">
              <a:lnSpc>
                <a:spcPts val="9997"/>
              </a:lnSpc>
              <a:spcBef>
                <a:spcPct val="0"/>
              </a:spcBef>
            </a:pPr>
            <a:r>
              <a:rPr lang="en-US" sz="10306" b="1">
                <a:solidFill>
                  <a:srgbClr val="303030"/>
                </a:solidFill>
                <a:latin typeface="Hagrid Ultra-Bold"/>
                <a:ea typeface="Hagrid Ultra-Bold"/>
                <a:cs typeface="Hagrid Ultra-Bold"/>
                <a:sym typeface="Hagrid Ultra-Bold"/>
              </a:rPr>
              <a:t>ANY QUESTION?</a:t>
            </a:r>
          </a:p>
        </p:txBody>
      </p:sp>
      <p:sp>
        <p:nvSpPr>
          <p:cNvPr id="5" name="Freeform 5"/>
          <p:cNvSpPr/>
          <p:nvPr/>
        </p:nvSpPr>
        <p:spPr>
          <a:xfrm>
            <a:off x="1461488" y="5729995"/>
            <a:ext cx="3221999" cy="3016963"/>
          </a:xfrm>
          <a:custGeom>
            <a:avLst/>
            <a:gdLst/>
            <a:ahLst/>
            <a:cxnLst/>
            <a:rect l="l" t="t" r="r" b="b"/>
            <a:pathLst>
              <a:path w="3221999" h="3016963">
                <a:moveTo>
                  <a:pt x="0" y="0"/>
                </a:moveTo>
                <a:lnTo>
                  <a:pt x="3221999" y="0"/>
                </a:lnTo>
                <a:lnTo>
                  <a:pt x="3221999" y="3016963"/>
                </a:lnTo>
                <a:lnTo>
                  <a:pt x="0" y="301696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E16539"/>
        </a:solidFill>
        <a:effectLst/>
      </p:bgPr>
    </p:bg>
    <p:spTree>
      <p:nvGrpSpPr>
        <p:cNvPr id="1" name=""/>
        <p:cNvGrpSpPr/>
        <p:nvPr/>
      </p:nvGrpSpPr>
      <p:grpSpPr>
        <a:xfrm>
          <a:off x="0" y="0"/>
          <a:ext cx="0" cy="0"/>
          <a:chOff x="0" y="0"/>
          <a:chExt cx="0" cy="0"/>
        </a:xfrm>
      </p:grpSpPr>
      <p:sp>
        <p:nvSpPr>
          <p:cNvPr id="2" name="Freeform 2"/>
          <p:cNvSpPr/>
          <p:nvPr/>
        </p:nvSpPr>
        <p:spPr>
          <a:xfrm>
            <a:off x="722383" y="182402"/>
            <a:ext cx="16843234" cy="9922196"/>
          </a:xfrm>
          <a:custGeom>
            <a:avLst/>
            <a:gdLst/>
            <a:ahLst/>
            <a:cxnLst/>
            <a:rect l="l" t="t" r="r" b="b"/>
            <a:pathLst>
              <a:path w="16843234" h="9922196">
                <a:moveTo>
                  <a:pt x="0" y="0"/>
                </a:moveTo>
                <a:lnTo>
                  <a:pt x="16843234" y="0"/>
                </a:lnTo>
                <a:lnTo>
                  <a:pt x="16843234" y="9922196"/>
                </a:lnTo>
                <a:lnTo>
                  <a:pt x="0" y="992219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2350185" y="182402"/>
            <a:ext cx="4230168" cy="4114800"/>
          </a:xfrm>
          <a:custGeom>
            <a:avLst/>
            <a:gdLst/>
            <a:ahLst/>
            <a:cxnLst/>
            <a:rect l="l" t="t" r="r" b="b"/>
            <a:pathLst>
              <a:path w="4230168" h="4114800">
                <a:moveTo>
                  <a:pt x="0" y="0"/>
                </a:moveTo>
                <a:lnTo>
                  <a:pt x="4230168" y="0"/>
                </a:lnTo>
                <a:lnTo>
                  <a:pt x="4230168"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TextBox 4"/>
          <p:cNvSpPr txBox="1"/>
          <p:nvPr/>
        </p:nvSpPr>
        <p:spPr>
          <a:xfrm>
            <a:off x="3072487" y="4560991"/>
            <a:ext cx="12143025" cy="1377773"/>
          </a:xfrm>
          <a:prstGeom prst="rect">
            <a:avLst/>
          </a:prstGeom>
        </p:spPr>
        <p:txBody>
          <a:bodyPr lIns="0" tIns="0" rIns="0" bIns="0" rtlCol="0" anchor="t">
            <a:spAutoFit/>
          </a:bodyPr>
          <a:lstStyle/>
          <a:p>
            <a:pPr marL="0" lvl="0" indent="0" algn="ctr">
              <a:lnSpc>
                <a:spcPts val="9997"/>
              </a:lnSpc>
              <a:spcBef>
                <a:spcPct val="0"/>
              </a:spcBef>
            </a:pPr>
            <a:r>
              <a:rPr lang="en-US" sz="10306" b="1">
                <a:solidFill>
                  <a:srgbClr val="303030"/>
                </a:solidFill>
                <a:latin typeface="Hagrid Ultra-Bold"/>
                <a:ea typeface="Hagrid Ultra-Bold"/>
                <a:cs typeface="Hagrid Ultra-Bold"/>
                <a:sym typeface="Hagrid Ultra-Bold"/>
              </a:rPr>
              <a:t>THANK YOU !</a:t>
            </a:r>
          </a:p>
        </p:txBody>
      </p:sp>
      <p:sp>
        <p:nvSpPr>
          <p:cNvPr id="5" name="Freeform 5"/>
          <p:cNvSpPr/>
          <p:nvPr/>
        </p:nvSpPr>
        <p:spPr>
          <a:xfrm>
            <a:off x="1028700" y="5143500"/>
            <a:ext cx="3221999" cy="3016963"/>
          </a:xfrm>
          <a:custGeom>
            <a:avLst/>
            <a:gdLst/>
            <a:ahLst/>
            <a:cxnLst/>
            <a:rect l="l" t="t" r="r" b="b"/>
            <a:pathLst>
              <a:path w="3221999" h="3016963">
                <a:moveTo>
                  <a:pt x="0" y="0"/>
                </a:moveTo>
                <a:lnTo>
                  <a:pt x="3221999" y="0"/>
                </a:lnTo>
                <a:lnTo>
                  <a:pt x="3221999" y="3016963"/>
                </a:lnTo>
                <a:lnTo>
                  <a:pt x="0" y="301696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560</Words>
  <Application>Microsoft Office PowerPoint</Application>
  <PresentationFormat>Custom</PresentationFormat>
  <Paragraphs>82</Paragraphs>
  <Slides>17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Roboto Bold</vt:lpstr>
      <vt:lpstr>Calibri</vt:lpstr>
      <vt:lpstr>Hagrid Ultra-Bold</vt:lpstr>
      <vt:lpstr>Roboto</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Developing a Shell or Command Line Interface_(Operating Systems)</dc:title>
  <cp:lastModifiedBy>Tamim Islam</cp:lastModifiedBy>
  <cp:revision>2</cp:revision>
  <dcterms:created xsi:type="dcterms:W3CDTF">2006-08-16T00:00:00Z</dcterms:created>
  <dcterms:modified xsi:type="dcterms:W3CDTF">2025-11-23T20:25:12Z</dcterms:modified>
  <dc:identifier>DAG43Q9pdAI</dc:identifier>
</cp:coreProperties>
</file>